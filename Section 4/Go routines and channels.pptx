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50" r:id="rId3"/>
    <p:sldId id="370" r:id="rId4"/>
    <p:sldId id="371" r:id="rId5"/>
    <p:sldId id="373" r:id="rId6"/>
    <p:sldId id="372" r:id="rId7"/>
    <p:sldId id="360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18" autoAdjust="0"/>
  </p:normalViewPr>
  <p:slideViewPr>
    <p:cSldViewPr snapToGrid="0">
      <p:cViewPr varScale="1">
        <p:scale>
          <a:sx n="76" d="100"/>
          <a:sy n="76" d="100"/>
        </p:scale>
        <p:origin x="9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14760-2987-41FC-B6E1-A6F257AE46F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30FE-7AC7-4656-9546-659789057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9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7334-3470-3737-4E2C-B67757B5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FBF3F-CAB2-A944-E972-FA1846064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81AC6-C0FD-EE27-2A42-2B5137215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9764-2522-B73D-8062-4FC1AE7A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53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CBEA-9CFF-E84F-5195-63B781EE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DD965-8EFB-03DB-DC04-EBAE00995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1FAAC-901D-8CC0-D1A8-2496FC665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2D3E2-2046-17B9-2D8D-E0AC14B1B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279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BB8DF-029B-FE71-9D7A-33724E94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C5DCE-72C0-4AE7-1083-44952C893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D4C06-979E-06F8-068B-1BB75BCFE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E089-5953-CDD3-701F-3AC0397F8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56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F7FB-4A7B-E547-A543-87FD6785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28318-0807-0636-3C75-F3A92FA2C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3A67A-4476-1344-971F-89B36027B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CBCD8-34B9-5FE9-6B3F-84F3AB368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862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A812-FB5D-EBEE-8B67-4FE032B8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F5C4A-8914-9A32-CA5F-21DABD929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04452-4390-0F61-4D91-626DA3050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BC3E8-6A33-863A-4426-76E5E1AA2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857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98C6-A7FB-9B4E-A705-EFBF3F33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55954-9E76-1FC8-6F84-7D72C2A09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5ECCC-2CA5-72CE-7185-1077887F5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ACA6-5260-4732-511B-D6D39658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210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6C95-2021-3AB9-F978-26A12378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5D443-660C-28FF-3C16-AE8A08F29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2927F-00A7-ACB7-3E5F-89A5E0364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A2B20-DAF5-599E-2897-26F79CDF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407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706E-6002-908A-EBA1-9F458364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27ECF-53E8-8B35-2C2A-AA5F1D33C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5F3F7-227F-DC0F-3785-457A43178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CA5E-531F-DC7D-9B44-D9344CDB2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74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6F12-7760-24AC-D140-6E0A64AA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BCEB8-AD75-83AB-6C98-FF1B54F5E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527B8-6986-99F2-5B50-B9BAD79BC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9D851-92AF-0E36-30C5-B05C28779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707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D79A-EE7B-9BD7-72F8-E6F5413A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BDD42-D049-17A5-A21A-9BD0F766F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FED30-F972-C3D5-444D-16FC00EA4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9DC40-E564-56B7-D892-E1FE39A13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726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CDF2-5221-8A27-D7AF-FB89EAAA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AF923-8ED1-098B-4920-6F41E2B19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92810-D7EF-4114-826C-D658AFD62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1A558-9A57-AA1B-B70C-2CC8967A2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898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02855-2871-9AD0-654E-09794645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06B4C-F4EB-C282-3F5B-372A900D6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BD820-33DE-0283-A322-EFF6E564F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3C53F-E033-DF24-C95B-0DF8966B4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094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199F-2599-F9EE-FA20-B575570F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851DB-FBD8-52AD-EBEE-0E4499B3F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918A0-7A14-6A63-AABC-5E5C8D962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41D3F-21CA-1D2A-7C17-7367B0CC5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4533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DA3A-83A6-0C3D-44A4-0644BA4D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A1EE5-BCD2-BC73-4584-C428ACF27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88717-A809-5E46-4EB3-C3A235E4A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3A958-5A6D-B079-C1CE-1BF9F781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BDC5-84F1-25F2-F593-6E4A4A7D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9EE1F-6454-29CA-0B14-067414EBD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C79A-D777-1554-0AA8-DF008FE8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A933-3A57-37A6-031F-7B46F14F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70BA-2295-7359-263D-F633F7D6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8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57C8-0C44-9837-8208-8CD3FE8F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D8DF-8202-D871-7A04-8521183D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C8BA0-BDA9-732F-1C91-6D209B82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87171-1CD6-ACCE-049F-D9227DA5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728B8-24DD-40CD-92BF-A4BD7E47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94D2-7D13-02C2-6131-9D3A6642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AA421-D9DE-E032-7DED-3D19987F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0728-EF07-7E6F-C113-A9A82B67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4D14-B4B7-ABA4-219F-72EA4C5A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578C-E9E5-4869-8574-913FA87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310A-B24A-9A97-BC39-9253D14B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8DE60-75DA-A1F4-4943-12F47CD4F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6-19E1-1ED5-2B25-0C601F5A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72EB-24D0-92FD-EFA9-DFCD5D8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C728D-BE2D-27DA-9DAD-37C597A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1C820-7316-83BF-9F73-2416736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3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651D-6EB9-BDDE-A12B-45790AC9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7F6-CE80-AFF9-0EBF-1410BB1FD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76A25-30D1-BC8F-6C4B-5557987AE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19201-F674-C8FC-9CAC-3AA70D8FE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C2F45-AECC-8666-7E96-BADC6000D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CD8C1-02BB-2DAD-0E0E-8AA796BB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21C37-DE25-4D35-4B99-9D8037B2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434E2-2825-BD95-9468-96ECEECF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3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DA2C-1511-40C9-244A-F12CF273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271D3-7750-8998-F10F-DB0F8CAB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9A25A-7384-814E-00D3-37589C2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46E66-0C2A-9CA7-93F5-2B907D3A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9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CE336-2A92-E325-1B68-279EADA7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B82CE-C7E9-227E-D831-9868CD66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3678D-557B-C65C-EA59-995CFCAB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B4F7-6B7A-7ED5-F73D-E14EAE1B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B2279-C497-CE25-F10D-A4DA51F8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AF541-F397-99A9-C53E-F6675836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6E30-BAFF-53F1-0559-A8EEB398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D538-1326-047C-3C20-796B5B08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FB249-EE5C-47A5-8FDA-96CCAF0D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ADAC-3955-2BE2-8717-F919B1B8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AB103-181B-D96D-EF22-056252ABE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44EFC-1537-04FE-25C8-322C96B05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AA516-BDDB-6225-04E4-B6A3A4A4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30C3C-FCDC-DA51-144D-9A16B688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A7FF-9C48-8DD2-DE7C-B96A611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0308-2F3F-24BD-585E-C61288CB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98F12-9E0F-3E92-6348-79D515DAB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F97B-166B-9D18-72B9-32B35309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80055-6534-5781-4AD5-774749F9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6730-4630-46C2-C4D1-50DC5188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4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05A29-F365-6770-11D9-D33373698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253FA-EE87-A347-88C2-8B8089EA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3F83-A161-6C6B-8566-35434820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384C-7055-FD31-D397-1BC28DC9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4ED2-2741-B46D-921C-EDAB1886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3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FCF8D-8049-7DEE-2F5E-30B8C067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9D1B-588D-8CE8-7BA3-9A14C58E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1E081-13C9-DC07-C35E-30B6024B8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925FC-16E2-4760-8BBA-129557D517F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7867-CD4F-61B7-7D30-586CCCBDB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065B-A6B6-89FA-A36F-73BD3CEC3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7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B79750-45C1-455C-65CA-2308A2EFA9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273C3-8B7C-39C1-3689-CE8B4D26A613}"/>
              </a:ext>
            </a:extLst>
          </p:cNvPr>
          <p:cNvSpPr txBox="1"/>
          <p:nvPr/>
        </p:nvSpPr>
        <p:spPr>
          <a:xfrm>
            <a:off x="4050889" y="599011"/>
            <a:ext cx="81411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Goroutines and Channels</a:t>
            </a:r>
          </a:p>
        </p:txBody>
      </p:sp>
    </p:spTree>
    <p:extLst>
      <p:ext uri="{BB962C8B-B14F-4D97-AF65-F5344CB8AC3E}">
        <p14:creationId xmlns:p14="http://schemas.microsoft.com/office/powerpoint/2010/main" val="208035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2924F-18CF-E6D5-8C57-7A05B478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E9B4-46FB-4E16-3FED-BF0B7CAC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5A73F-C5C1-2B55-874A-13ADAD28D056}"/>
              </a:ext>
            </a:extLst>
          </p:cNvPr>
          <p:cNvSpPr/>
          <p:nvPr/>
        </p:nvSpPr>
        <p:spPr>
          <a:xfrm>
            <a:off x="110125" y="208836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68ACB-48F0-AD4B-6AE1-B4EFFC7F7406}"/>
              </a:ext>
            </a:extLst>
          </p:cNvPr>
          <p:cNvSpPr/>
          <p:nvPr/>
        </p:nvSpPr>
        <p:spPr>
          <a:xfrm>
            <a:off x="186324" y="2088368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programs that execute different pieces of code simultaneously, possibly on different processors or computers.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74386-DC6E-1474-0BC4-D554AF2D79E9}"/>
              </a:ext>
            </a:extLst>
          </p:cNvPr>
          <p:cNvSpPr/>
          <p:nvPr/>
        </p:nvSpPr>
        <p:spPr>
          <a:xfrm>
            <a:off x="110125" y="3876904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2F350E-7728-6E9C-876A-2961761C64DD}"/>
              </a:ext>
            </a:extLst>
          </p:cNvPr>
          <p:cNvSpPr/>
          <p:nvPr/>
        </p:nvSpPr>
        <p:spPr>
          <a:xfrm>
            <a:off x="186324" y="3876904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communicate by sharing memory. Instead, share memory by communicating. Communication forces coordination.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4631A-A468-36F2-4CFD-6F9359A44C07}"/>
              </a:ext>
            </a:extLst>
          </p:cNvPr>
          <p:cNvSpPr/>
          <p:nvPr/>
        </p:nvSpPr>
        <p:spPr>
          <a:xfrm>
            <a:off x="110125" y="116315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7AEE5A-9851-7B85-CFE5-06CD0EC8DC13}"/>
              </a:ext>
            </a:extLst>
          </p:cNvPr>
          <p:cNvSpPr/>
          <p:nvPr/>
        </p:nvSpPr>
        <p:spPr>
          <a:xfrm>
            <a:off x="186324" y="116315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comes with built-in support for communication between applications (networking, client-server, distributed computing) and support for concurrent applications.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76979-439E-6DEF-A6E6-374E3D5126CD}"/>
              </a:ext>
            </a:extLst>
          </p:cNvPr>
          <p:cNvSpPr/>
          <p:nvPr/>
        </p:nvSpPr>
        <p:spPr>
          <a:xfrm>
            <a:off x="110125" y="2982636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76928-A874-2765-AE8E-E15B36B908D2}"/>
              </a:ext>
            </a:extLst>
          </p:cNvPr>
          <p:cNvSpPr/>
          <p:nvPr/>
        </p:nvSpPr>
        <p:spPr>
          <a:xfrm>
            <a:off x="186324" y="2982636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basic building blocks Go proposes for structuring concurrent programs are goroutines and channels.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273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717D9-D074-6C7A-8BD3-CD1F4DE5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3756-2070-EB8B-077D-FB3DF100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Concurrency, parallelism and goroutines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17C87A-6C12-D804-63BC-040530D6CE37}"/>
              </a:ext>
            </a:extLst>
          </p:cNvPr>
          <p:cNvSpPr/>
          <p:nvPr/>
        </p:nvSpPr>
        <p:spPr>
          <a:xfrm>
            <a:off x="110125" y="208836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D67FC-4AE5-0720-A977-D835E33AC04A}"/>
              </a:ext>
            </a:extLst>
          </p:cNvPr>
          <p:cNvSpPr/>
          <p:nvPr/>
        </p:nvSpPr>
        <p:spPr>
          <a:xfrm>
            <a:off x="186324" y="2088368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process is composed of one or more operating system threads, which are simultaneously executing entities that share the same address space. Almost all real programs are multithreaded.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11D463-AE11-F857-40EF-97C709AC1973}"/>
              </a:ext>
            </a:extLst>
          </p:cNvPr>
          <p:cNvSpPr/>
          <p:nvPr/>
        </p:nvSpPr>
        <p:spPr>
          <a:xfrm>
            <a:off x="110125" y="116315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16DB07-0EE3-F33A-E18C-4C96BA778690}"/>
              </a:ext>
            </a:extLst>
          </p:cNvPr>
          <p:cNvSpPr/>
          <p:nvPr/>
        </p:nvSpPr>
        <p:spPr>
          <a:xfrm>
            <a:off x="186324" y="116315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application is a process running on a machine; a process is an independently executing entity that runs in its own address space in memory.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56DEA-3DD9-AA39-D42A-4E3B1DE706EE}"/>
              </a:ext>
            </a:extLst>
          </p:cNvPr>
          <p:cNvSpPr/>
          <p:nvPr/>
        </p:nvSpPr>
        <p:spPr>
          <a:xfrm>
            <a:off x="110125" y="2982635"/>
            <a:ext cx="111760" cy="101910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2149B-BAD9-CBD9-082E-30EA17B61FE2}"/>
              </a:ext>
            </a:extLst>
          </p:cNvPr>
          <p:cNvSpPr/>
          <p:nvPr/>
        </p:nvSpPr>
        <p:spPr>
          <a:xfrm>
            <a:off x="186324" y="2982635"/>
            <a:ext cx="11895551" cy="101910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Such a concurrent application can execute on one processor or core using a number of threads, but it is only when the same application process executes at the same point in time on a number of cores or processors that it is truly called parallelized.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5A9E9-FF6E-9CCE-0899-52ADD0F9B1E4}"/>
              </a:ext>
            </a:extLst>
          </p:cNvPr>
          <p:cNvSpPr/>
          <p:nvPr/>
        </p:nvSpPr>
        <p:spPr>
          <a:xfrm>
            <a:off x="110125" y="412811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E583C2-5606-A542-0510-02FA3D31C73D}"/>
              </a:ext>
            </a:extLst>
          </p:cNvPr>
          <p:cNvSpPr/>
          <p:nvPr/>
        </p:nvSpPr>
        <p:spPr>
          <a:xfrm>
            <a:off x="186324" y="412811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Parallelism is the ability to execute tasks efficiently by utilizing multiple processors. So concurrent programs may or may not be parallel.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62DC4D-5110-D07C-A23D-CED6E1CAD1F3}"/>
              </a:ext>
            </a:extLst>
          </p:cNvPr>
          <p:cNvSpPr/>
          <p:nvPr/>
        </p:nvSpPr>
        <p:spPr>
          <a:xfrm>
            <a:off x="110125" y="502237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87FD4-FB7F-DEC6-85EA-2D2BF026AAB5}"/>
              </a:ext>
            </a:extLst>
          </p:cNvPr>
          <p:cNvSpPr/>
          <p:nvPr/>
        </p:nvSpPr>
        <p:spPr>
          <a:xfrm>
            <a:off x="186324" y="5022378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Multithreaded applications are notoriously difficult to get right; the main problem is the shared data in memory, which the different threads can manipulate in a non-predictable manner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3913A7-91D7-0795-FB6F-06A49A7FAE43}"/>
              </a:ext>
            </a:extLst>
          </p:cNvPr>
          <p:cNvSpPr/>
          <p:nvPr/>
        </p:nvSpPr>
        <p:spPr>
          <a:xfrm>
            <a:off x="110125" y="5919066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B9CD60-0EE8-1CCC-D2BA-5B4F433AB728}"/>
              </a:ext>
            </a:extLst>
          </p:cNvPr>
          <p:cNvSpPr/>
          <p:nvPr/>
        </p:nvSpPr>
        <p:spPr>
          <a:xfrm>
            <a:off x="186324" y="5919066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use global variables or shared memory, they make your code unsafe for running concurrently.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352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C51EE-301F-513B-A5E5-778459B6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B065-9159-8067-52C6-C72BD960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Concurrency, parallelism and goroutines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F749BE-0F82-9002-3054-810C45436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27464"/>
            <a:ext cx="5685013" cy="4987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9D8743-787F-CF70-7CDB-340A0324A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0" y="1710732"/>
            <a:ext cx="4451275" cy="343653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01A9B9-166A-6019-2C54-F5A71E00A51D}"/>
              </a:ext>
            </a:extLst>
          </p:cNvPr>
          <p:cNvCxnSpPr/>
          <p:nvPr/>
        </p:nvCxnSpPr>
        <p:spPr>
          <a:xfrm flipH="1" flipV="1">
            <a:off x="4541855" y="1710732"/>
            <a:ext cx="2019719" cy="49990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97F3C8-9489-7C9E-A0B2-46FB71F2FB7F}"/>
              </a:ext>
            </a:extLst>
          </p:cNvPr>
          <p:cNvCxnSpPr/>
          <p:nvPr/>
        </p:nvCxnSpPr>
        <p:spPr>
          <a:xfrm flipH="1">
            <a:off x="4541855" y="2783393"/>
            <a:ext cx="2019719" cy="23638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5368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6C19B-413C-07DF-50D4-750D7FE6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8B6E-70EA-D84C-5119-926AB984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Concurrency, parallelism and goroutines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ACEB9F-5988-E445-C984-92659BA2A64A}"/>
              </a:ext>
            </a:extLst>
          </p:cNvPr>
          <p:cNvGrpSpPr/>
          <p:nvPr/>
        </p:nvGrpSpPr>
        <p:grpSpPr>
          <a:xfrm>
            <a:off x="531567" y="2477293"/>
            <a:ext cx="2341267" cy="1095270"/>
            <a:chOff x="410987" y="1758462"/>
            <a:chExt cx="2341267" cy="10952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31A589-4D4D-1855-2DFC-36CADDFFE66C}"/>
                </a:ext>
              </a:extLst>
            </p:cNvPr>
            <p:cNvSpPr/>
            <p:nvPr/>
          </p:nvSpPr>
          <p:spPr>
            <a:xfrm>
              <a:off x="410987" y="1758462"/>
              <a:ext cx="2341267" cy="10952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DD1CF58-9BA5-1B23-73ED-45BE10D18371}"/>
                </a:ext>
              </a:extLst>
            </p:cNvPr>
            <p:cNvSpPr/>
            <p:nvPr/>
          </p:nvSpPr>
          <p:spPr>
            <a:xfrm>
              <a:off x="585803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9A38AF-F69F-5424-04B8-2E38960A1F19}"/>
                </a:ext>
              </a:extLst>
            </p:cNvPr>
            <p:cNvSpPr/>
            <p:nvPr/>
          </p:nvSpPr>
          <p:spPr>
            <a:xfrm>
              <a:off x="1669028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C53E5A5-8B78-66C1-5646-0E12576ED0EF}"/>
              </a:ext>
            </a:extLst>
          </p:cNvPr>
          <p:cNvGrpSpPr/>
          <p:nvPr/>
        </p:nvGrpSpPr>
        <p:grpSpPr>
          <a:xfrm>
            <a:off x="4355803" y="2477293"/>
            <a:ext cx="2341267" cy="1095270"/>
            <a:chOff x="410987" y="1758462"/>
            <a:chExt cx="2341267" cy="109527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CF6FE1-E4B9-76E1-FB62-FD6FD3D7C94B}"/>
                </a:ext>
              </a:extLst>
            </p:cNvPr>
            <p:cNvSpPr/>
            <p:nvPr/>
          </p:nvSpPr>
          <p:spPr>
            <a:xfrm>
              <a:off x="410987" y="1758462"/>
              <a:ext cx="2341267" cy="10952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A41AA0-51DE-DE34-4518-C68D4330348D}"/>
                </a:ext>
              </a:extLst>
            </p:cNvPr>
            <p:cNvSpPr/>
            <p:nvPr/>
          </p:nvSpPr>
          <p:spPr>
            <a:xfrm>
              <a:off x="585803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429D66-2212-EB46-FB94-4D3F82FA6F68}"/>
                </a:ext>
              </a:extLst>
            </p:cNvPr>
            <p:cNvSpPr/>
            <p:nvPr/>
          </p:nvSpPr>
          <p:spPr>
            <a:xfrm>
              <a:off x="1669028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033E2A-CBC8-6865-1F24-7CFF4FAE0E77}"/>
              </a:ext>
            </a:extLst>
          </p:cNvPr>
          <p:cNvGrpSpPr/>
          <p:nvPr/>
        </p:nvGrpSpPr>
        <p:grpSpPr>
          <a:xfrm>
            <a:off x="8180039" y="2467245"/>
            <a:ext cx="2341267" cy="1095270"/>
            <a:chOff x="410987" y="1758462"/>
            <a:chExt cx="2341267" cy="109527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9F176D-1D02-DAA4-7820-0F84B51F8E79}"/>
                </a:ext>
              </a:extLst>
            </p:cNvPr>
            <p:cNvSpPr/>
            <p:nvPr/>
          </p:nvSpPr>
          <p:spPr>
            <a:xfrm>
              <a:off x="410987" y="1758462"/>
              <a:ext cx="2341267" cy="10952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8CEA6E-1F04-02CC-B6C5-D225CECA9570}"/>
                </a:ext>
              </a:extLst>
            </p:cNvPr>
            <p:cNvSpPr/>
            <p:nvPr/>
          </p:nvSpPr>
          <p:spPr>
            <a:xfrm>
              <a:off x="585803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AE8098-C810-36B9-4AA1-B2C613F19581}"/>
                </a:ext>
              </a:extLst>
            </p:cNvPr>
            <p:cNvSpPr/>
            <p:nvPr/>
          </p:nvSpPr>
          <p:spPr>
            <a:xfrm>
              <a:off x="1669028" y="2020093"/>
              <a:ext cx="813916" cy="572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core2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48973C-C626-F809-685A-43F125C2D70B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2872834" y="3024928"/>
            <a:ext cx="148296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105B12-E756-5F7C-CF7A-9EC9C208C852}"/>
              </a:ext>
            </a:extLst>
          </p:cNvPr>
          <p:cNvCxnSpPr/>
          <p:nvPr/>
        </p:nvCxnSpPr>
        <p:spPr>
          <a:xfrm>
            <a:off x="6697070" y="3024928"/>
            <a:ext cx="1482969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34A60-C295-DA7F-1423-976610B5CF27}"/>
              </a:ext>
            </a:extLst>
          </p:cNvPr>
          <p:cNvSpPr/>
          <p:nvPr/>
        </p:nvSpPr>
        <p:spPr>
          <a:xfrm>
            <a:off x="531567" y="4433835"/>
            <a:ext cx="2341267" cy="33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Interconnect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585386-FBF9-2884-CAD3-7F073FA5F578}"/>
              </a:ext>
            </a:extLst>
          </p:cNvPr>
          <p:cNvSpPr/>
          <p:nvPr/>
        </p:nvSpPr>
        <p:spPr>
          <a:xfrm>
            <a:off x="4355803" y="4433835"/>
            <a:ext cx="2341267" cy="33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Interconnect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13C69-00F4-09EE-BC49-95695E39B603}"/>
              </a:ext>
            </a:extLst>
          </p:cNvPr>
          <p:cNvSpPr/>
          <p:nvPr/>
        </p:nvSpPr>
        <p:spPr>
          <a:xfrm>
            <a:off x="8180038" y="4433835"/>
            <a:ext cx="2341267" cy="33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Interconnect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2E97444-420F-2FB2-452C-8850C7C50896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688645" y="3572563"/>
            <a:ext cx="13556" cy="86127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937DB7-3592-B00C-8E04-091E54BDA113}"/>
              </a:ext>
            </a:extLst>
          </p:cNvPr>
          <p:cNvCxnSpPr>
            <a:cxnSpLocks/>
          </p:cNvCxnSpPr>
          <p:nvPr/>
        </p:nvCxnSpPr>
        <p:spPr>
          <a:xfrm flipH="1">
            <a:off x="5526436" y="3572563"/>
            <a:ext cx="13556" cy="86127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B5525F-3BB0-7907-0C55-607003369674}"/>
              </a:ext>
            </a:extLst>
          </p:cNvPr>
          <p:cNvCxnSpPr>
            <a:cxnSpLocks/>
          </p:cNvCxnSpPr>
          <p:nvPr/>
        </p:nvCxnSpPr>
        <p:spPr>
          <a:xfrm flipH="1">
            <a:off x="9337115" y="3572563"/>
            <a:ext cx="13556" cy="86127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3057DD7-63DE-A43D-11F2-EA4F8EADEE24}"/>
              </a:ext>
            </a:extLst>
          </p:cNvPr>
          <p:cNvSpPr/>
          <p:nvPr/>
        </p:nvSpPr>
        <p:spPr>
          <a:xfrm>
            <a:off x="531567" y="5672294"/>
            <a:ext cx="2341267" cy="1019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F5657B-0941-5708-3980-AB57098F4DEF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1688645" y="4772967"/>
            <a:ext cx="13556" cy="89932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2A068A6-7C85-9EFE-C000-D26AF680F95B}"/>
              </a:ext>
            </a:extLst>
          </p:cNvPr>
          <p:cNvSpPr/>
          <p:nvPr/>
        </p:nvSpPr>
        <p:spPr>
          <a:xfrm>
            <a:off x="4355802" y="5672294"/>
            <a:ext cx="2341267" cy="1019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2B01B5-1E07-5390-8FB1-EB3FD7B6D7F6}"/>
              </a:ext>
            </a:extLst>
          </p:cNvPr>
          <p:cNvCxnSpPr>
            <a:cxnSpLocks/>
          </p:cNvCxnSpPr>
          <p:nvPr/>
        </p:nvCxnSpPr>
        <p:spPr>
          <a:xfrm flipH="1">
            <a:off x="5512880" y="4772967"/>
            <a:ext cx="13556" cy="89932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9F64573-B26A-0184-4C7F-E479E9DB53C7}"/>
              </a:ext>
            </a:extLst>
          </p:cNvPr>
          <p:cNvSpPr/>
          <p:nvPr/>
        </p:nvSpPr>
        <p:spPr>
          <a:xfrm>
            <a:off x="8166481" y="5672294"/>
            <a:ext cx="2341267" cy="1019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015483D-1E9D-3B08-DBC2-626E907DF6AF}"/>
              </a:ext>
            </a:extLst>
          </p:cNvPr>
          <p:cNvCxnSpPr>
            <a:cxnSpLocks/>
          </p:cNvCxnSpPr>
          <p:nvPr/>
        </p:nvCxnSpPr>
        <p:spPr>
          <a:xfrm flipH="1">
            <a:off x="9323559" y="4772967"/>
            <a:ext cx="13556" cy="89932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D961D4D-5E49-8009-8F95-3945DE68CE5C}"/>
              </a:ext>
            </a:extLst>
          </p:cNvPr>
          <p:cNvSpPr/>
          <p:nvPr/>
        </p:nvSpPr>
        <p:spPr>
          <a:xfrm>
            <a:off x="531567" y="5672294"/>
            <a:ext cx="9989738" cy="1019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A4C522-4273-868C-7FB5-289964AEFCA2}"/>
              </a:ext>
            </a:extLst>
          </p:cNvPr>
          <p:cNvSpPr/>
          <p:nvPr/>
        </p:nvSpPr>
        <p:spPr>
          <a:xfrm>
            <a:off x="531567" y="4433835"/>
            <a:ext cx="9989738" cy="33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Interconnect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8395CE-A418-6B71-6154-41A70C3A75B5}"/>
              </a:ext>
            </a:extLst>
          </p:cNvPr>
          <p:cNvCxnSpPr>
            <a:cxnSpLocks/>
          </p:cNvCxnSpPr>
          <p:nvPr/>
        </p:nvCxnSpPr>
        <p:spPr>
          <a:xfrm flipH="1">
            <a:off x="5512880" y="4772967"/>
            <a:ext cx="13556" cy="89932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35564234-8EBC-BF3B-97F7-6F2424501F60}"/>
              </a:ext>
            </a:extLst>
          </p:cNvPr>
          <p:cNvSpPr/>
          <p:nvPr/>
        </p:nvSpPr>
        <p:spPr>
          <a:xfrm>
            <a:off x="524789" y="2477293"/>
            <a:ext cx="9982959" cy="10952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7289B38-2D38-6CF8-F21E-4008E6393AFD}"/>
              </a:ext>
            </a:extLst>
          </p:cNvPr>
          <p:cNvSpPr/>
          <p:nvPr/>
        </p:nvSpPr>
        <p:spPr>
          <a:xfrm>
            <a:off x="934497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509572F-172C-9102-7C2C-4F414813AB2A}"/>
              </a:ext>
            </a:extLst>
          </p:cNvPr>
          <p:cNvSpPr/>
          <p:nvPr/>
        </p:nvSpPr>
        <p:spPr>
          <a:xfrm>
            <a:off x="1789829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07091CA0-A619-D14E-8F76-6EAA329C18AA}"/>
              </a:ext>
            </a:extLst>
          </p:cNvPr>
          <p:cNvSpPr/>
          <p:nvPr/>
        </p:nvSpPr>
        <p:spPr>
          <a:xfrm>
            <a:off x="2232203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76B24D1-7022-65CF-7F0D-E0D565A6781B}"/>
              </a:ext>
            </a:extLst>
          </p:cNvPr>
          <p:cNvSpPr/>
          <p:nvPr/>
        </p:nvSpPr>
        <p:spPr>
          <a:xfrm>
            <a:off x="2643871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2BEDACB-1917-E1F9-6946-B83F863762FA}"/>
              </a:ext>
            </a:extLst>
          </p:cNvPr>
          <p:cNvSpPr/>
          <p:nvPr/>
        </p:nvSpPr>
        <p:spPr>
          <a:xfrm>
            <a:off x="3415720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B9411E6-C8BF-EE33-F654-CFC10938A74C}"/>
              </a:ext>
            </a:extLst>
          </p:cNvPr>
          <p:cNvSpPr/>
          <p:nvPr/>
        </p:nvSpPr>
        <p:spPr>
          <a:xfrm>
            <a:off x="3858094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9482A88-438E-201D-D657-1A1384D74197}"/>
              </a:ext>
            </a:extLst>
          </p:cNvPr>
          <p:cNvSpPr/>
          <p:nvPr/>
        </p:nvSpPr>
        <p:spPr>
          <a:xfrm>
            <a:off x="4713426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11A56E7D-EEF3-6F0E-34D1-03D5BDBE424E}"/>
              </a:ext>
            </a:extLst>
          </p:cNvPr>
          <p:cNvSpPr/>
          <p:nvPr/>
        </p:nvSpPr>
        <p:spPr>
          <a:xfrm>
            <a:off x="5567468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8BB1D8D-B873-0E04-532A-DAAE40FC4BAE}"/>
              </a:ext>
            </a:extLst>
          </p:cNvPr>
          <p:cNvSpPr/>
          <p:nvPr/>
        </p:nvSpPr>
        <p:spPr>
          <a:xfrm>
            <a:off x="5928973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A90DB87D-4534-96C5-48DC-38C0373D0DCF}"/>
              </a:ext>
            </a:extLst>
          </p:cNvPr>
          <p:cNvSpPr/>
          <p:nvPr/>
        </p:nvSpPr>
        <p:spPr>
          <a:xfrm>
            <a:off x="6371347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005C5E96-1DB2-FAAB-4FE0-69FDE762C021}"/>
              </a:ext>
            </a:extLst>
          </p:cNvPr>
          <p:cNvSpPr/>
          <p:nvPr/>
        </p:nvSpPr>
        <p:spPr>
          <a:xfrm>
            <a:off x="6784305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FA8B903-DE00-2454-3276-6A8BCBBDF574}"/>
              </a:ext>
            </a:extLst>
          </p:cNvPr>
          <p:cNvSpPr/>
          <p:nvPr/>
        </p:nvSpPr>
        <p:spPr>
          <a:xfrm>
            <a:off x="7638347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5391BC8D-0FEA-9805-5D8C-89F8CD5F0191}"/>
              </a:ext>
            </a:extLst>
          </p:cNvPr>
          <p:cNvSpPr/>
          <p:nvPr/>
        </p:nvSpPr>
        <p:spPr>
          <a:xfrm>
            <a:off x="8080721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279BFB3-AB57-C306-3A8E-B1188329E055}"/>
              </a:ext>
            </a:extLst>
          </p:cNvPr>
          <p:cNvSpPr/>
          <p:nvPr/>
        </p:nvSpPr>
        <p:spPr>
          <a:xfrm>
            <a:off x="8550536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4411CFA5-FF9B-37E3-8182-B4EA6075EE3A}"/>
              </a:ext>
            </a:extLst>
          </p:cNvPr>
          <p:cNvSpPr/>
          <p:nvPr/>
        </p:nvSpPr>
        <p:spPr>
          <a:xfrm>
            <a:off x="8962204" y="261257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B48AD05-1C2A-9331-4F67-FA83C8848945}"/>
              </a:ext>
            </a:extLst>
          </p:cNvPr>
          <p:cNvCxnSpPr>
            <a:cxnSpLocks/>
          </p:cNvCxnSpPr>
          <p:nvPr/>
        </p:nvCxnSpPr>
        <p:spPr>
          <a:xfrm flipH="1">
            <a:off x="5519658" y="3562515"/>
            <a:ext cx="13556" cy="86127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E9D0AE5-ECDC-A9FE-18F5-DECBA32E1597}"/>
              </a:ext>
            </a:extLst>
          </p:cNvPr>
          <p:cNvSpPr/>
          <p:nvPr/>
        </p:nvSpPr>
        <p:spPr>
          <a:xfrm>
            <a:off x="1377940" y="2634554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93718987-92DA-46D3-F73F-13A2E12738A8}"/>
              </a:ext>
            </a:extLst>
          </p:cNvPr>
          <p:cNvSpPr/>
          <p:nvPr/>
        </p:nvSpPr>
        <p:spPr>
          <a:xfrm>
            <a:off x="2975204" y="2634554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3127850-7195-C05C-493B-160AEE58F99C}"/>
              </a:ext>
            </a:extLst>
          </p:cNvPr>
          <p:cNvSpPr/>
          <p:nvPr/>
        </p:nvSpPr>
        <p:spPr>
          <a:xfrm>
            <a:off x="5187628" y="2634554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7336267B-7A3B-EFED-FFC4-BC8A85C362E8}"/>
              </a:ext>
            </a:extLst>
          </p:cNvPr>
          <p:cNvSpPr/>
          <p:nvPr/>
        </p:nvSpPr>
        <p:spPr>
          <a:xfrm>
            <a:off x="4282552" y="264460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D31F6217-5C06-2B86-728D-DF112363F6EE}"/>
              </a:ext>
            </a:extLst>
          </p:cNvPr>
          <p:cNvSpPr/>
          <p:nvPr/>
        </p:nvSpPr>
        <p:spPr>
          <a:xfrm>
            <a:off x="7242906" y="2644602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E42E473B-CEBD-EAC5-240D-535F48BEC403}"/>
              </a:ext>
            </a:extLst>
          </p:cNvPr>
          <p:cNvSpPr/>
          <p:nvPr/>
        </p:nvSpPr>
        <p:spPr>
          <a:xfrm>
            <a:off x="9487669" y="2627645"/>
            <a:ext cx="271304" cy="760652"/>
          </a:xfrm>
          <a:custGeom>
            <a:avLst/>
            <a:gdLst>
              <a:gd name="csX0" fmla="*/ 50241 w 261382"/>
              <a:gd name="csY0" fmla="*/ 0 h 644347"/>
              <a:gd name="csX1" fmla="*/ 160773 w 261382"/>
              <a:gd name="csY1" fmla="*/ 10049 h 644347"/>
              <a:gd name="csX2" fmla="*/ 200967 w 261382"/>
              <a:gd name="csY2" fmla="*/ 20097 h 644347"/>
              <a:gd name="csX3" fmla="*/ 150725 w 261382"/>
              <a:gd name="csY3" fmla="*/ 60291 h 644347"/>
              <a:gd name="csX4" fmla="*/ 0 w 261382"/>
              <a:gd name="csY4" fmla="*/ 130629 h 644347"/>
              <a:gd name="csX5" fmla="*/ 30145 w 261382"/>
              <a:gd name="csY5" fmla="*/ 221064 h 644347"/>
              <a:gd name="csX6" fmla="*/ 90435 w 261382"/>
              <a:gd name="csY6" fmla="*/ 261258 h 644347"/>
              <a:gd name="csX7" fmla="*/ 170822 w 261382"/>
              <a:gd name="csY7" fmla="*/ 281354 h 644347"/>
              <a:gd name="csX8" fmla="*/ 200967 w 261382"/>
              <a:gd name="csY8" fmla="*/ 311499 h 644347"/>
              <a:gd name="csX9" fmla="*/ 261257 w 261382"/>
              <a:gd name="csY9" fmla="*/ 361741 h 644347"/>
              <a:gd name="csX10" fmla="*/ 211015 w 261382"/>
              <a:gd name="csY10" fmla="*/ 381838 h 644347"/>
              <a:gd name="csX11" fmla="*/ 90435 w 261382"/>
              <a:gd name="csY11" fmla="*/ 452176 h 644347"/>
              <a:gd name="csX12" fmla="*/ 60290 w 261382"/>
              <a:gd name="csY12" fmla="*/ 492370 h 644347"/>
              <a:gd name="csX13" fmla="*/ 100483 w 261382"/>
              <a:gd name="csY13" fmla="*/ 522515 h 644347"/>
              <a:gd name="csX14" fmla="*/ 140677 w 261382"/>
              <a:gd name="csY14" fmla="*/ 542611 h 644347"/>
              <a:gd name="csX15" fmla="*/ 211015 w 261382"/>
              <a:gd name="csY15" fmla="*/ 582805 h 644347"/>
              <a:gd name="csX16" fmla="*/ 200967 w 261382"/>
              <a:gd name="csY16" fmla="*/ 633047 h 644347"/>
              <a:gd name="csX17" fmla="*/ 170822 w 261382"/>
              <a:gd name="csY17" fmla="*/ 643095 h 644347"/>
              <a:gd name="csX18" fmla="*/ 10048 w 261382"/>
              <a:gd name="csY18" fmla="*/ 643095 h 644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382" h="644347">
                <a:moveTo>
                  <a:pt x="50241" y="0"/>
                </a:moveTo>
                <a:cubicBezTo>
                  <a:pt x="87085" y="3350"/>
                  <a:pt x="124102" y="5159"/>
                  <a:pt x="160773" y="10049"/>
                </a:cubicBezTo>
                <a:cubicBezTo>
                  <a:pt x="174462" y="11874"/>
                  <a:pt x="203675" y="6555"/>
                  <a:pt x="200967" y="20097"/>
                </a:cubicBezTo>
                <a:cubicBezTo>
                  <a:pt x="196761" y="41128"/>
                  <a:pt x="168570" y="48394"/>
                  <a:pt x="150725" y="60291"/>
                </a:cubicBezTo>
                <a:cubicBezTo>
                  <a:pt x="86623" y="103025"/>
                  <a:pt x="72730" y="103355"/>
                  <a:pt x="0" y="130629"/>
                </a:cubicBezTo>
                <a:cubicBezTo>
                  <a:pt x="10048" y="160774"/>
                  <a:pt x="15935" y="192643"/>
                  <a:pt x="30145" y="221064"/>
                </a:cubicBezTo>
                <a:cubicBezTo>
                  <a:pt x="43937" y="248647"/>
                  <a:pt x="64580" y="254207"/>
                  <a:pt x="90435" y="261258"/>
                </a:cubicBezTo>
                <a:cubicBezTo>
                  <a:pt x="117082" y="268525"/>
                  <a:pt x="144026" y="274655"/>
                  <a:pt x="170822" y="281354"/>
                </a:cubicBezTo>
                <a:cubicBezTo>
                  <a:pt x="180870" y="291402"/>
                  <a:pt x="190346" y="302058"/>
                  <a:pt x="200967" y="311499"/>
                </a:cubicBezTo>
                <a:cubicBezTo>
                  <a:pt x="220519" y="328879"/>
                  <a:pt x="257558" y="335844"/>
                  <a:pt x="261257" y="361741"/>
                </a:cubicBezTo>
                <a:cubicBezTo>
                  <a:pt x="263808" y="379597"/>
                  <a:pt x="226956" y="373399"/>
                  <a:pt x="211015" y="381838"/>
                </a:cubicBezTo>
                <a:cubicBezTo>
                  <a:pt x="169891" y="403610"/>
                  <a:pt x="90435" y="452176"/>
                  <a:pt x="90435" y="452176"/>
                </a:cubicBezTo>
                <a:cubicBezTo>
                  <a:pt x="80387" y="465574"/>
                  <a:pt x="57922" y="475791"/>
                  <a:pt x="60290" y="492370"/>
                </a:cubicBezTo>
                <a:cubicBezTo>
                  <a:pt x="62658" y="508949"/>
                  <a:pt x="86281" y="513639"/>
                  <a:pt x="100483" y="522515"/>
                </a:cubicBezTo>
                <a:cubicBezTo>
                  <a:pt x="113185" y="530454"/>
                  <a:pt x="127671" y="535179"/>
                  <a:pt x="140677" y="542611"/>
                </a:cubicBezTo>
                <a:cubicBezTo>
                  <a:pt x="240127" y="599439"/>
                  <a:pt x="89517" y="522055"/>
                  <a:pt x="211015" y="582805"/>
                </a:cubicBezTo>
                <a:cubicBezTo>
                  <a:pt x="207666" y="599552"/>
                  <a:pt x="210441" y="618836"/>
                  <a:pt x="200967" y="633047"/>
                </a:cubicBezTo>
                <a:cubicBezTo>
                  <a:pt x="195092" y="641860"/>
                  <a:pt x="181399" y="642538"/>
                  <a:pt x="170822" y="643095"/>
                </a:cubicBezTo>
                <a:cubicBezTo>
                  <a:pt x="117305" y="645912"/>
                  <a:pt x="63639" y="643095"/>
                  <a:pt x="10048" y="64309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9831143-6981-84D1-FBCC-11BBD4697A38}"/>
              </a:ext>
            </a:extLst>
          </p:cNvPr>
          <p:cNvCxnSpPr>
            <a:cxnSpLocks/>
          </p:cNvCxnSpPr>
          <p:nvPr/>
        </p:nvCxnSpPr>
        <p:spPr>
          <a:xfrm flipV="1">
            <a:off x="1544816" y="1811844"/>
            <a:ext cx="1328018" cy="7774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Cloud 107">
            <a:extLst>
              <a:ext uri="{FF2B5EF4-FFF2-40B4-BE49-F238E27FC236}">
                <a16:creationId xmlns:a16="http://schemas.microsoft.com/office/drawing/2014/main" id="{81E43C4A-773F-7E5D-C420-CD5422343A75}"/>
              </a:ext>
            </a:extLst>
          </p:cNvPr>
          <p:cNvSpPr/>
          <p:nvPr/>
        </p:nvSpPr>
        <p:spPr>
          <a:xfrm>
            <a:off x="2872834" y="993092"/>
            <a:ext cx="2414252" cy="101739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Threads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8F757D9-3CA7-4933-1B9E-22FEC484C93A}"/>
              </a:ext>
            </a:extLst>
          </p:cNvPr>
          <p:cNvCxnSpPr/>
          <p:nvPr/>
        </p:nvCxnSpPr>
        <p:spPr>
          <a:xfrm flipV="1">
            <a:off x="3125037" y="1919235"/>
            <a:ext cx="211016" cy="670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9116C1C-A1A7-0332-9293-7286B309DFD0}"/>
              </a:ext>
            </a:extLst>
          </p:cNvPr>
          <p:cNvCxnSpPr>
            <a:endCxn id="108" idx="1"/>
          </p:cNvCxnSpPr>
          <p:nvPr/>
        </p:nvCxnSpPr>
        <p:spPr>
          <a:xfrm flipH="1" flipV="1">
            <a:off x="4079960" y="2009405"/>
            <a:ext cx="361411" cy="5798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AF3F89-046D-FE2B-CEA7-6614057B5644}"/>
              </a:ext>
            </a:extLst>
          </p:cNvPr>
          <p:cNvCxnSpPr/>
          <p:nvPr/>
        </p:nvCxnSpPr>
        <p:spPr>
          <a:xfrm flipH="1" flipV="1">
            <a:off x="4553856" y="1919235"/>
            <a:ext cx="790679" cy="670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EEBAE2B-5518-B161-C84B-E6A9E6050112}"/>
              </a:ext>
            </a:extLst>
          </p:cNvPr>
          <p:cNvCxnSpPr/>
          <p:nvPr/>
        </p:nvCxnSpPr>
        <p:spPr>
          <a:xfrm flipH="1" flipV="1">
            <a:off x="4883499" y="1811844"/>
            <a:ext cx="2359407" cy="8007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6906F42-4007-154D-4F71-08354AC58876}"/>
              </a:ext>
            </a:extLst>
          </p:cNvPr>
          <p:cNvCxnSpPr>
            <a:endCxn id="108" idx="0"/>
          </p:cNvCxnSpPr>
          <p:nvPr/>
        </p:nvCxnSpPr>
        <p:spPr>
          <a:xfrm flipH="1" flipV="1">
            <a:off x="5285074" y="1501790"/>
            <a:ext cx="4351295" cy="10874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734D4BB-0D21-D42C-2D80-83489D8D63E3}"/>
              </a:ext>
            </a:extLst>
          </p:cNvPr>
          <p:cNvSpPr/>
          <p:nvPr/>
        </p:nvSpPr>
        <p:spPr>
          <a:xfrm>
            <a:off x="5793814" y="953579"/>
            <a:ext cx="5784747" cy="5973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 number is specified by the OS, and they give the program the parallelism property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85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34" grpId="0" animBg="1"/>
      <p:bldP spid="37" grpId="0" animBg="1"/>
      <p:bldP spid="39" grpId="0" animBg="1"/>
      <p:bldP spid="41" grpId="0" animBg="1"/>
      <p:bldP spid="43" grpId="0" animBg="1"/>
      <p:bldP spid="50" grpId="0" animBg="1"/>
      <p:bldP spid="53" grpId="0" animBg="1"/>
      <p:bldP spid="59" grpId="0" animBg="1"/>
      <p:bldP spid="60" grpId="0" animBg="1"/>
      <p:bldP spid="61" grpId="0" animBg="1"/>
      <p:bldP spid="74" grpId="0" animBg="1"/>
      <p:bldP spid="75" grpId="0" animBg="1"/>
      <p:bldP spid="77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5" grpId="0" animBg="1"/>
      <p:bldP spid="86" grpId="0" animBg="1"/>
      <p:bldP spid="87" grpId="0" animBg="1"/>
      <p:bldP spid="90" grpId="0" animBg="1"/>
      <p:bldP spid="93" grpId="0" animBg="1"/>
      <p:bldP spid="102" grpId="0" animBg="1"/>
      <p:bldP spid="103" grpId="0" animBg="1"/>
      <p:bldP spid="104" grpId="0" animBg="1"/>
      <p:bldP spid="105" grpId="0" animBg="1"/>
      <p:bldP spid="108" grpId="0" animBg="1"/>
      <p:bldP spid="1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2E85B-1653-BC40-8BD4-E5140792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A8D5-2331-2E29-6B65-228F0E50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Concurrency, parallelism and goroutines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2E5C6-908E-918A-9FB8-8EAD9A42E5AC}"/>
              </a:ext>
            </a:extLst>
          </p:cNvPr>
          <p:cNvSpPr/>
          <p:nvPr/>
        </p:nvSpPr>
        <p:spPr>
          <a:xfrm>
            <a:off x="110125" y="1163151"/>
            <a:ext cx="111760" cy="91685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41DB4E-7B07-09EB-7719-348E65C5EE7F}"/>
              </a:ext>
            </a:extLst>
          </p:cNvPr>
          <p:cNvSpPr/>
          <p:nvPr/>
        </p:nvSpPr>
        <p:spPr>
          <a:xfrm>
            <a:off x="186324" y="1163151"/>
            <a:ext cx="11895551" cy="91685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parts of an application that run concurrently are called goroutines in Go; they are, in effect, concurrently executing computations. There is no one-to-one correspondence between a goroutine and an operating system thread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0BC2A-DFE0-677B-E3A2-9F9A5E932D0B}"/>
              </a:ext>
            </a:extLst>
          </p:cNvPr>
          <p:cNvSpPr/>
          <p:nvPr/>
        </p:nvSpPr>
        <p:spPr>
          <a:xfrm>
            <a:off x="110125" y="221474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15B46-ACED-FFE0-C908-758F414D1144}"/>
              </a:ext>
            </a:extLst>
          </p:cNvPr>
          <p:cNvSpPr/>
          <p:nvPr/>
        </p:nvSpPr>
        <p:spPr>
          <a:xfrm>
            <a:off x="186324" y="2214741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goroutine is mapped onto (multiplexed, executed by) one or more threads, according to their availability; this is accomplished by the goroutine-scheduler in the Go runtime.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1D0E9-6DA7-2FB5-E011-51BE04D526DE}"/>
              </a:ext>
            </a:extLst>
          </p:cNvPr>
          <p:cNvSpPr/>
          <p:nvPr/>
        </p:nvSpPr>
        <p:spPr>
          <a:xfrm>
            <a:off x="110125" y="3117367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803B7-7E36-8912-8655-65B5134A6DBC}"/>
              </a:ext>
            </a:extLst>
          </p:cNvPr>
          <p:cNvSpPr/>
          <p:nvPr/>
        </p:nvSpPr>
        <p:spPr>
          <a:xfrm>
            <a:off x="186324" y="3117367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Goroutines run in the same address space, so access to shared memory must be synchronized; this could be done via the sync package, but this is highly discouraged: Go uses channels to synchronize goroutines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C3C93-F25C-4292-3F31-4F40DECF4D91}"/>
              </a:ext>
            </a:extLst>
          </p:cNvPr>
          <p:cNvSpPr/>
          <p:nvPr/>
        </p:nvSpPr>
        <p:spPr>
          <a:xfrm>
            <a:off x="110125" y="4019993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5EA0F1-F757-9B0C-D875-B431FDA0C940}"/>
              </a:ext>
            </a:extLst>
          </p:cNvPr>
          <p:cNvSpPr/>
          <p:nvPr/>
        </p:nvSpPr>
        <p:spPr>
          <a:xfrm>
            <a:off x="186324" y="4019993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goroutine is blocked by a system call (e.g., waiting for I/O), other goroutines continue to run on other threads. The design of goroutines hides many of the complexities of thread creation and management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B9BE87-5D01-B174-5794-CC54660D46F3}"/>
              </a:ext>
            </a:extLst>
          </p:cNvPr>
          <p:cNvSpPr/>
          <p:nvPr/>
        </p:nvSpPr>
        <p:spPr>
          <a:xfrm>
            <a:off x="110125" y="4922618"/>
            <a:ext cx="111760" cy="190016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0CB366-F551-941D-B8B1-200A69DF589D}"/>
              </a:ext>
            </a:extLst>
          </p:cNvPr>
          <p:cNvSpPr/>
          <p:nvPr/>
        </p:nvSpPr>
        <p:spPr>
          <a:xfrm>
            <a:off x="186324" y="4922618"/>
            <a:ext cx="11895551" cy="190016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Goroutines are lightweight, much lighter than a thread. They have a very small footprint (use little memory and resources): they are created with a 4K memory stack-space on the heap. Because they are cheap to create, a great number of them can be started on the fly if necessary (in the order of 100 thousand in the same address space). Furthermore, they use a segmented stack for dynamically growing (or shrinking) their memory-usage; stack management is automatic. The stacks are not managed by the garbage collector; instead, they are freed directly when the goroutine exits.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08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A83AF-9090-9295-7706-82C8F9AC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CC10-CE48-006D-602F-1F63E7FE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Goroutines: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85BFB3-5822-4BAE-69E8-C385D0892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4" y="978091"/>
            <a:ext cx="5901032" cy="4277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629320-4E0E-CAD3-3AB8-C17C352B6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298" y="1049444"/>
            <a:ext cx="4758868" cy="30000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48395B-5347-9332-640C-71B30A4A8968}"/>
              </a:ext>
            </a:extLst>
          </p:cNvPr>
          <p:cNvSpPr/>
          <p:nvPr/>
        </p:nvSpPr>
        <p:spPr>
          <a:xfrm>
            <a:off x="6129496" y="4269534"/>
            <a:ext cx="5964669" cy="71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let main() pause for 10s, so we are sure that it will terminate after the two goroutines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C4006B-EF14-341E-9922-2E22C1D18997}"/>
              </a:ext>
            </a:extLst>
          </p:cNvPr>
          <p:cNvSpPr/>
          <p:nvPr/>
        </p:nvSpPr>
        <p:spPr>
          <a:xfrm>
            <a:off x="97834" y="5311677"/>
            <a:ext cx="6755142" cy="71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function main() returns, the program exits: it does not wait for other (non-main) goroutines to complete.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64147-8FAF-0F32-2020-FF1FFEF319BA}"/>
              </a:ext>
            </a:extLst>
          </p:cNvPr>
          <p:cNvSpPr/>
          <p:nvPr/>
        </p:nvSpPr>
        <p:spPr>
          <a:xfrm>
            <a:off x="97834" y="6103361"/>
            <a:ext cx="6755142" cy="71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logic of your code must be independent of the order in which goroutines are invoked.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BEBF9E59-A026-13D5-860F-6D9A27EBA017}"/>
              </a:ext>
            </a:extLst>
          </p:cNvPr>
          <p:cNvSpPr/>
          <p:nvPr/>
        </p:nvSpPr>
        <p:spPr>
          <a:xfrm>
            <a:off x="7412335" y="5160202"/>
            <a:ext cx="4444719" cy="1657606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most important question is what is the best way to synchronize the goroutines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623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B787C-C03C-ECAF-C3C8-578447D7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7D8D-9943-48AA-C567-9A182361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-18583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Channels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ABCBD-0FC5-CD71-324C-AF61FC2A3DA8}"/>
              </a:ext>
            </a:extLst>
          </p:cNvPr>
          <p:cNvSpPr/>
          <p:nvPr/>
        </p:nvSpPr>
        <p:spPr>
          <a:xfrm>
            <a:off x="110125" y="942095"/>
            <a:ext cx="111760" cy="91685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A7F00-E2AB-29F6-8F4B-25E5EAAD4315}"/>
              </a:ext>
            </a:extLst>
          </p:cNvPr>
          <p:cNvSpPr/>
          <p:nvPr/>
        </p:nvSpPr>
        <p:spPr>
          <a:xfrm>
            <a:off x="186324" y="942095"/>
            <a:ext cx="11895551" cy="91685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our example, the goroutines executed independently; they did not communicate. Of course, to be more useful, they have to communicate: sending and receiving information between them and coordinating/synchronizing their efforts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5E1ACE-A3C8-E1C7-14B5-C66F7FB8701C}"/>
              </a:ext>
            </a:extLst>
          </p:cNvPr>
          <p:cNvSpPr/>
          <p:nvPr/>
        </p:nvSpPr>
        <p:spPr>
          <a:xfrm>
            <a:off x="110125" y="1993685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A28819-C88F-DEA9-4EB7-6B45FE36871D}"/>
              </a:ext>
            </a:extLst>
          </p:cNvPr>
          <p:cNvSpPr/>
          <p:nvPr/>
        </p:nvSpPr>
        <p:spPr>
          <a:xfrm>
            <a:off x="186324" y="1993685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Goroutines could communicate by using shared variables, but this is highly discouraged because this way of working introduces all the difficulties with shared memory in multi-threading.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6B33F-7308-02AF-9E48-FCB0BABCE433}"/>
              </a:ext>
            </a:extLst>
          </p:cNvPr>
          <p:cNvSpPr/>
          <p:nvPr/>
        </p:nvSpPr>
        <p:spPr>
          <a:xfrm>
            <a:off x="110125" y="2896311"/>
            <a:ext cx="111760" cy="106274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ED413-9ECD-0D74-F8F4-C09658710496}"/>
              </a:ext>
            </a:extLst>
          </p:cNvPr>
          <p:cNvSpPr/>
          <p:nvPr/>
        </p:nvSpPr>
        <p:spPr>
          <a:xfrm>
            <a:off x="186324" y="2896311"/>
            <a:ext cx="11895551" cy="106274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Instead, Go has a special type, the channel, which is like a conduit (pipe) through which you can send typed values, and which takes care of communication between goroutines, avoiding all the pitfalls of shared memory; the very act of communication through a channel guarantees synchronization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C1562-166F-6C16-118E-C6C2CACA24E3}"/>
              </a:ext>
            </a:extLst>
          </p:cNvPr>
          <p:cNvSpPr/>
          <p:nvPr/>
        </p:nvSpPr>
        <p:spPr>
          <a:xfrm>
            <a:off x="110125" y="4093790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F948D-F9F9-47D9-DDF0-2014E32FFF14}"/>
              </a:ext>
            </a:extLst>
          </p:cNvPr>
          <p:cNvSpPr/>
          <p:nvPr/>
        </p:nvSpPr>
        <p:spPr>
          <a:xfrm>
            <a:off x="186324" y="4093790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is passed around on channels: only one goroutine has access to a data item at any given time: so data races cannot occur, by design.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F76B0-269A-59E4-197A-D71996480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595" y="4891828"/>
            <a:ext cx="7675007" cy="19209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816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91F3E-D318-18E3-D55E-AA208027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77DB-3F68-1759-A823-ADA1AA4C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-18583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Channels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421BBB-ECA3-0083-2C1D-21BCC794558B}"/>
              </a:ext>
            </a:extLst>
          </p:cNvPr>
          <p:cNvSpPr/>
          <p:nvPr/>
        </p:nvSpPr>
        <p:spPr>
          <a:xfrm>
            <a:off x="42841" y="1139728"/>
            <a:ext cx="10960439" cy="7144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variable_name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data-type [then allocate];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variable_name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make(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data-type)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instead, you can directly do: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variable_name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:= make(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data-type)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0D1C99-5C0E-E4D6-D7D6-1654C2DAB4BB}"/>
              </a:ext>
            </a:extLst>
          </p:cNvPr>
          <p:cNvSpPr/>
          <p:nvPr/>
        </p:nvSpPr>
        <p:spPr>
          <a:xfrm>
            <a:off x="42841" y="2003886"/>
            <a:ext cx="6317766" cy="7144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 int1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int1 is sent through the channel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142F71-AF78-7E75-AB62-787B3A6181CE}"/>
              </a:ext>
            </a:extLst>
          </p:cNvPr>
          <p:cNvSpPr/>
          <p:nvPr/>
        </p:nvSpPr>
        <p:spPr>
          <a:xfrm>
            <a:off x="42840" y="2822514"/>
            <a:ext cx="8999560" cy="7144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Int2 = &lt;-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int2 receives data (gets a new value) from the channel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70CB8-3D13-81F2-F0D3-AC7F9626B649}"/>
              </a:ext>
            </a:extLst>
          </p:cNvPr>
          <p:cNvSpPr/>
          <p:nvPr/>
        </p:nvSpPr>
        <p:spPr>
          <a:xfrm>
            <a:off x="42840" y="3686672"/>
            <a:ext cx="11722440" cy="7144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on itself be used to take the (next) value from the channel, this value is effectively discarded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A1DCC8-6DB5-8CE0-0CA7-0B494341F62D}"/>
              </a:ext>
            </a:extLst>
          </p:cNvPr>
          <p:cNvSpPr/>
          <p:nvPr/>
        </p:nvSpPr>
        <p:spPr>
          <a:xfrm>
            <a:off x="42840" y="4550830"/>
            <a:ext cx="11722440" cy="7144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operator &lt;- is used for sending and receiving, but Go figures out, depending on the operands, what to do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4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C292D-2AE9-57BD-4D00-558FBCC4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DAFC-E2B2-119B-D845-2518C5114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-18583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Channels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6711D-218D-6160-8AAF-9C69886EF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5" y="722532"/>
            <a:ext cx="4222871" cy="3077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F2E82-0360-3680-8D53-A71B79F03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207" y="2623979"/>
            <a:ext cx="5431951" cy="307730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4F76B9-8B0E-9754-8349-F91BC4B05ABA}"/>
              </a:ext>
            </a:extLst>
          </p:cNvPr>
          <p:cNvCxnSpPr/>
          <p:nvPr/>
        </p:nvCxnSpPr>
        <p:spPr>
          <a:xfrm flipV="1">
            <a:off x="2854960" y="1666240"/>
            <a:ext cx="1666240" cy="6908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2DFB9-1AAE-7CB0-DBE2-F0E13F9DE4CF}"/>
              </a:ext>
            </a:extLst>
          </p:cNvPr>
          <p:cNvCxnSpPr/>
          <p:nvPr/>
        </p:nvCxnSpPr>
        <p:spPr>
          <a:xfrm flipV="1">
            <a:off x="2692400" y="1696720"/>
            <a:ext cx="1801968" cy="965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loud 11">
            <a:extLst>
              <a:ext uri="{FF2B5EF4-FFF2-40B4-BE49-F238E27FC236}">
                <a16:creationId xmlns:a16="http://schemas.microsoft.com/office/drawing/2014/main" id="{5221D5BB-41E2-738A-BFD5-57C7436AC05C}"/>
              </a:ext>
            </a:extLst>
          </p:cNvPr>
          <p:cNvSpPr/>
          <p:nvPr/>
        </p:nvSpPr>
        <p:spPr>
          <a:xfrm>
            <a:off x="4400096" y="140714"/>
            <a:ext cx="5871664" cy="2297686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Even if they run independently but function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Get_Data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will never go on until it receives messages from function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Send_Data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hence we control the order of processing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99F900-8963-4057-7CD1-C32BD3604CEA}"/>
              </a:ext>
            </a:extLst>
          </p:cNvPr>
          <p:cNvSpPr/>
          <p:nvPr/>
        </p:nvSpPr>
        <p:spPr>
          <a:xfrm>
            <a:off x="8793454" y="2911426"/>
            <a:ext cx="2997949" cy="20816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By default, communication is synchronous and unbuffered: sends do not complete until there is</a:t>
            </a:r>
          </a:p>
          <a:p>
            <a:pPr algn="ctr"/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receiver to accept the value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67DE16-3853-FEC1-3EA1-3A4EC5BFE008}"/>
              </a:ext>
            </a:extLst>
          </p:cNvPr>
          <p:cNvSpPr/>
          <p:nvPr/>
        </p:nvSpPr>
        <p:spPr>
          <a:xfrm>
            <a:off x="68963" y="5782567"/>
            <a:ext cx="11722440" cy="904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send operation on a channel (and the goroutine or function that contains it) blocks until a receiver is available for the same channel and vice versa. A receive operation for a channel blocks until a sender is available for the same channel</a:t>
            </a:r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B263FC9F-41EB-403E-91DC-1AA8BE654DBF}"/>
              </a:ext>
            </a:extLst>
          </p:cNvPr>
          <p:cNvSpPr/>
          <p:nvPr/>
        </p:nvSpPr>
        <p:spPr>
          <a:xfrm>
            <a:off x="9346" y="4044219"/>
            <a:ext cx="3057565" cy="149396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But we still have the main function waiting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126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A7F68-47F9-FB81-4032-8E58E6FBB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E005-0B38-5AFD-8F98-46551C61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-18583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Channels (Bad Design)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250FB-81C4-51DC-76EB-512954221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03" y="929423"/>
            <a:ext cx="4818519" cy="3754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1A3D9-2CAE-58EA-4784-434F97656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437" y="929423"/>
            <a:ext cx="4818519" cy="3754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478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79845-447E-2444-1396-182B24417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EE4C-B978-53FA-A7B5-744E8C6E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720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Asynchronous channels: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6A838-CAF7-3988-88D0-D04B933B3C99}"/>
              </a:ext>
            </a:extLst>
          </p:cNvPr>
          <p:cNvSpPr/>
          <p:nvPr/>
        </p:nvSpPr>
        <p:spPr>
          <a:xfrm>
            <a:off x="33926" y="113972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77867-DC85-0337-48EE-9ACE0BD2882D}"/>
              </a:ext>
            </a:extLst>
          </p:cNvPr>
          <p:cNvSpPr/>
          <p:nvPr/>
        </p:nvSpPr>
        <p:spPr>
          <a:xfrm>
            <a:off x="110125" y="1139728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 unbuffered channel can only contain 1 item and is, for that reason, sometimes too restrictive. We can provide for a buffer in the channel, whose capacity gets set in an extended make command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3BDC5-06CD-ADCF-9361-4042B2E1A52A}"/>
              </a:ext>
            </a:extLst>
          </p:cNvPr>
          <p:cNvSpPr/>
          <p:nvPr/>
        </p:nvSpPr>
        <p:spPr>
          <a:xfrm>
            <a:off x="33926" y="2081344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FFA32F-F5BC-8393-C7DB-67A3C3E45D80}"/>
              </a:ext>
            </a:extLst>
          </p:cNvPr>
          <p:cNvSpPr/>
          <p:nvPr/>
        </p:nvSpPr>
        <p:spPr>
          <a:xfrm>
            <a:off x="110125" y="2081344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 := make(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string,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100); </a:t>
            </a: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 to a buffered channel will not block unless the buffer is full (the capacity is completely used), and reading from a buffered channel will not block unless the buffer is empty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7FF3AD-5E06-769C-FFC9-EF1705FAC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3" y="3022960"/>
            <a:ext cx="11697714" cy="18670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29D42F-D918-5628-5A95-AC803A3E054D}"/>
              </a:ext>
            </a:extLst>
          </p:cNvPr>
          <p:cNvSpPr/>
          <p:nvPr/>
        </p:nvSpPr>
        <p:spPr>
          <a:xfrm>
            <a:off x="69487" y="5080123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4F8EDF-F346-5E02-E0EF-F0C880A61C4E}"/>
              </a:ext>
            </a:extLst>
          </p:cNvPr>
          <p:cNvSpPr/>
          <p:nvPr/>
        </p:nvSpPr>
        <p:spPr>
          <a:xfrm>
            <a:off x="145686" y="5080123"/>
            <a:ext cx="11895551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use buffers in the channels, your program will react better to sudden increases in the number of ‘requests’: it will react more elastically, or with the official term, it will be more scalable.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20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B2713-3B7F-C0E5-3B2B-0C16EC13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64BB-124A-E547-FA61-C29841E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4" y="-11471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Asynchronous channels: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C1257-E438-F668-665F-88114F97A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24" y="973900"/>
            <a:ext cx="5594716" cy="4381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B25A46-CF60-048C-6CE5-B52AD2F63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73900"/>
            <a:ext cx="5909676" cy="4868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F0208B-899E-29CC-96FD-94FC1C8C4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54" y="973900"/>
            <a:ext cx="5959356" cy="512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A753A4-5B1D-FA83-7EBB-C1A1210C4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54" y="973900"/>
            <a:ext cx="5959356" cy="52033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132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D980B-6D03-BAF8-D050-94EE611E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0BC0-0901-F7AF-796A-18DC471D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4" y="-114715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/>
              <a:t>Asynchronous channels (Like Semaphores):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89AF4-8BC2-FC1F-2A26-EC304F320F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05" b="3947"/>
          <a:stretch>
            <a:fillRect/>
          </a:stretch>
        </p:blipFill>
        <p:spPr>
          <a:xfrm>
            <a:off x="220874" y="865980"/>
            <a:ext cx="11476715" cy="2199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85880-5DB2-D240-1F6B-324A05F079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69" b="3744"/>
          <a:stretch>
            <a:fillRect/>
          </a:stretch>
        </p:blipFill>
        <p:spPr>
          <a:xfrm>
            <a:off x="220873" y="3167221"/>
            <a:ext cx="11476715" cy="35966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72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114BC-18D7-E6D3-AF3D-AAA02BB0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820628-0157-2F44-E273-A827CCF8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1818323"/>
            <a:ext cx="11018520" cy="32213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content is from chapter 14, Goroutines and channels from THE WAY TO GO book.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711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</TotalTime>
  <Words>1201</Words>
  <Application>Microsoft Office PowerPoint</Application>
  <PresentationFormat>Widescreen</PresentationFormat>
  <Paragraphs>81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Intro:</vt:lpstr>
      <vt:lpstr>Concurrency, parallelism and goroutines:</vt:lpstr>
      <vt:lpstr>Concurrency, parallelism and goroutines:</vt:lpstr>
      <vt:lpstr>Concurrency, parallelism and goroutines:</vt:lpstr>
      <vt:lpstr>Concurrency, parallelism and goroutines:</vt:lpstr>
      <vt:lpstr>The Goroutines:</vt:lpstr>
      <vt:lpstr>Channels:</vt:lpstr>
      <vt:lpstr>Channels:</vt:lpstr>
      <vt:lpstr>Channels:</vt:lpstr>
      <vt:lpstr>Channels (Bad Design):</vt:lpstr>
      <vt:lpstr>Asynchronous channels:</vt:lpstr>
      <vt:lpstr>Asynchronous channels:</vt:lpstr>
      <vt:lpstr>Asynchronous channels (Like Semaphores):</vt:lpstr>
      <vt:lpstr>All the content is from chapter 14, Goroutines and channels from THE WAY TO GO book.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Al-Hassan Abdelhalim</dc:creator>
  <cp:lastModifiedBy>alHasan 20367648</cp:lastModifiedBy>
  <cp:revision>452</cp:revision>
  <dcterms:created xsi:type="dcterms:W3CDTF">2026-02-14T08:24:36Z</dcterms:created>
  <dcterms:modified xsi:type="dcterms:W3CDTF">2026-03-09T04:51:42Z</dcterms:modified>
</cp:coreProperties>
</file>