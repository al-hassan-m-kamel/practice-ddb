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350" r:id="rId3"/>
    <p:sldId id="351" r:id="rId4"/>
    <p:sldId id="352" r:id="rId5"/>
    <p:sldId id="353" r:id="rId6"/>
    <p:sldId id="354" r:id="rId7"/>
    <p:sldId id="355" r:id="rId8"/>
    <p:sldId id="356" r:id="rId9"/>
    <p:sldId id="357" r:id="rId10"/>
    <p:sldId id="358" r:id="rId11"/>
    <p:sldId id="349" r:id="rId12"/>
    <p:sldId id="35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2418" autoAdjust="0"/>
  </p:normalViewPr>
  <p:slideViewPr>
    <p:cSldViewPr snapToGrid="0">
      <p:cViewPr varScale="1">
        <p:scale>
          <a:sx n="76" d="100"/>
          <a:sy n="76" d="100"/>
        </p:scale>
        <p:origin x="917"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E14760-2987-41FC-B6E1-A6F257AE46F6}" type="datetimeFigureOut">
              <a:rPr lang="en-US" smtClean="0"/>
              <a:t>2/19/2026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FC30FE-7AC7-4656-9546-659789057A08}" type="slidenum">
              <a:rPr lang="en-US" smtClean="0"/>
              <a:t>‹#›</a:t>
            </a:fld>
            <a:endParaRPr lang="en-US"/>
          </a:p>
        </p:txBody>
      </p:sp>
    </p:spTree>
    <p:extLst>
      <p:ext uri="{BB962C8B-B14F-4D97-AF65-F5344CB8AC3E}">
        <p14:creationId xmlns:p14="http://schemas.microsoft.com/office/powerpoint/2010/main" val="33451919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677334-3470-3737-4E2C-B67757B520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0FBF3F-CAB2-A944-E972-FA1846064A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A81AC6-C0FD-EE27-2A42-2B513721581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D3F9764-2522-B73D-8062-4FC1AE7AF20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2CD1D2-9E42-4E1F-B86C-5AF6F74F604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545371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20ACC-6CD7-C713-6581-0015126BD3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1FF622-14AF-BF73-DA5F-3118B58339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09E17F-5C7F-2251-648F-1171CEF5453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00A95CD-174E-3228-88D5-2097548313B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2CD1D2-9E42-4E1F-B86C-5AF6F74F604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997740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146E8-1606-6F90-8E42-C57F4ABC32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103D22-6949-45BA-C9F7-1E1FBB7773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3F43B6-3762-C7F8-0E2D-56D552E1182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432CC8-3071-8B2F-B9EB-8F67C2B6BF0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2CD1D2-9E42-4E1F-B86C-5AF6F74F604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797293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E15BE-B3E9-3B29-1C46-B002BEE698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F5979C-47D1-403E-8A7F-521F58CC0E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D76F07-1C99-B859-8EB2-9422A6AAB4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997C04-DD4F-9EDA-CC26-EEA10695C76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2CD1D2-9E42-4E1F-B86C-5AF6F74F604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001073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D5D74-59DF-1B50-8618-1774E16E2A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8E2892-535C-5779-363C-5384E273C3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D38561-3BBE-C909-AF61-C123244684A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0C63D6-76AA-E3EE-016A-3037925BBB2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2CD1D2-9E42-4E1F-B86C-5AF6F74F604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934637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EB7BF-7DB2-79C6-5608-91E4930103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87CC21-0435-4F7A-1D7B-229ED98BD7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BF5F88-BE3A-FE81-ED6F-3212A86115C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D5833ED-62DA-B554-35EB-AD9E0FB5F0B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2CD1D2-9E42-4E1F-B86C-5AF6F74F604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992566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52BCD-BF24-B20F-D76C-BCC305451A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1528D6-155A-2376-C2D8-9F7A8C08CF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B8113A-8688-8B2C-5E1A-950F994C053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FB006A-1DCF-EDEC-3BB1-D5A91081415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2CD1D2-9E42-4E1F-B86C-5AF6F74F604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713446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776A5-1579-A7A3-2441-FEDF8349F9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DFBB1D-102F-2B47-750C-AE962A642A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390D17-2D34-1A05-DA0A-64E511B5F4C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F02B45-31D6-A98A-EC36-D437D64F594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2CD1D2-9E42-4E1F-B86C-5AF6F74F604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031101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CE98A7-7B85-4420-EBDA-AD2CFC70A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3320CB-0107-3BC6-52B6-EC86EA9EA5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AE66C9-37CE-D7A5-608F-60CAAA77F66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CDEF720-AD82-31DA-7BCF-8CB4F846846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2CD1D2-9E42-4E1F-B86C-5AF6F74F604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724045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22EC8-58DE-3493-92C9-56EB252008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986BAE-DABC-27DA-6DB9-B55F2BC40E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096BB0-F7E8-76A4-7323-09F49E382D8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6DDCA37-A2C6-58CF-D18D-11F59B48154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2CD1D2-9E42-4E1F-B86C-5AF6F74F604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44788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88FD6-63B5-03BB-222A-03F0F38BC1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133433-6BC0-C425-843A-D796C62F97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A42A00-DD09-1A03-75C6-0BED0A86042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EB53936-2A95-D22D-9D03-0B6995F4F98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2CD1D2-9E42-4E1F-B86C-5AF6F74F604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766120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6BDC5-84F1-25F2-F593-6E4A4A7DA0C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859EE1F-6454-29CA-0B14-067414EBD1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67DC79A-D777-1554-0AA8-DF008FE8D531}"/>
              </a:ext>
            </a:extLst>
          </p:cNvPr>
          <p:cNvSpPr>
            <a:spLocks noGrp="1"/>
          </p:cNvSpPr>
          <p:nvPr>
            <p:ph type="dt" sz="half" idx="10"/>
          </p:nvPr>
        </p:nvSpPr>
        <p:spPr/>
        <p:txBody>
          <a:bodyPr/>
          <a:lstStyle/>
          <a:p>
            <a:fld id="{B0D925FC-16E2-4760-8BBA-129557D517F1}" type="datetimeFigureOut">
              <a:rPr lang="en-US" smtClean="0"/>
              <a:t>2/19/2026</a:t>
            </a:fld>
            <a:endParaRPr lang="en-US"/>
          </a:p>
        </p:txBody>
      </p:sp>
      <p:sp>
        <p:nvSpPr>
          <p:cNvPr id="5" name="Footer Placeholder 4">
            <a:extLst>
              <a:ext uri="{FF2B5EF4-FFF2-40B4-BE49-F238E27FC236}">
                <a16:creationId xmlns:a16="http://schemas.microsoft.com/office/drawing/2014/main" id="{E272A933-3A57-37A6-031F-7B46F14F61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0C70BA-2295-7359-263D-F633F7D6D737}"/>
              </a:ext>
            </a:extLst>
          </p:cNvPr>
          <p:cNvSpPr>
            <a:spLocks noGrp="1"/>
          </p:cNvSpPr>
          <p:nvPr>
            <p:ph type="sldNum" sz="quarter" idx="12"/>
          </p:nvPr>
        </p:nvSpPr>
        <p:spPr/>
        <p:txBody>
          <a:bodyPr/>
          <a:lstStyle/>
          <a:p>
            <a:fld id="{A7B4FECC-3378-4A83-851D-3B59D55BD416}" type="slidenum">
              <a:rPr lang="en-US" smtClean="0"/>
              <a:t>‹#›</a:t>
            </a:fld>
            <a:endParaRPr lang="en-US"/>
          </a:p>
        </p:txBody>
      </p:sp>
    </p:spTree>
    <p:extLst>
      <p:ext uri="{BB962C8B-B14F-4D97-AF65-F5344CB8AC3E}">
        <p14:creationId xmlns:p14="http://schemas.microsoft.com/office/powerpoint/2010/main" val="29395823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157C8-0C44-9837-8208-8CD3FE8FA34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90D8DF-8202-D871-7A04-8521183D51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EC8BA0-BDA9-732F-1C91-6D209B82066B}"/>
              </a:ext>
            </a:extLst>
          </p:cNvPr>
          <p:cNvSpPr>
            <a:spLocks noGrp="1"/>
          </p:cNvSpPr>
          <p:nvPr>
            <p:ph type="dt" sz="half" idx="10"/>
          </p:nvPr>
        </p:nvSpPr>
        <p:spPr/>
        <p:txBody>
          <a:bodyPr/>
          <a:lstStyle/>
          <a:p>
            <a:fld id="{B0D925FC-16E2-4760-8BBA-129557D517F1}" type="datetimeFigureOut">
              <a:rPr lang="en-US" smtClean="0"/>
              <a:t>2/19/2026</a:t>
            </a:fld>
            <a:endParaRPr lang="en-US"/>
          </a:p>
        </p:txBody>
      </p:sp>
      <p:sp>
        <p:nvSpPr>
          <p:cNvPr id="5" name="Footer Placeholder 4">
            <a:extLst>
              <a:ext uri="{FF2B5EF4-FFF2-40B4-BE49-F238E27FC236}">
                <a16:creationId xmlns:a16="http://schemas.microsoft.com/office/drawing/2014/main" id="{0FA87171-1CD6-ACCE-049F-D9227DA509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E728B8-24DD-40CD-92BF-A4BD7E477517}"/>
              </a:ext>
            </a:extLst>
          </p:cNvPr>
          <p:cNvSpPr>
            <a:spLocks noGrp="1"/>
          </p:cNvSpPr>
          <p:nvPr>
            <p:ph type="sldNum" sz="quarter" idx="12"/>
          </p:nvPr>
        </p:nvSpPr>
        <p:spPr/>
        <p:txBody>
          <a:bodyPr/>
          <a:lstStyle/>
          <a:p>
            <a:fld id="{A7B4FECC-3378-4A83-851D-3B59D55BD416}" type="slidenum">
              <a:rPr lang="en-US" smtClean="0"/>
              <a:t>‹#›</a:t>
            </a:fld>
            <a:endParaRPr lang="en-US"/>
          </a:p>
        </p:txBody>
      </p:sp>
    </p:spTree>
    <p:extLst>
      <p:ext uri="{BB962C8B-B14F-4D97-AF65-F5344CB8AC3E}">
        <p14:creationId xmlns:p14="http://schemas.microsoft.com/office/powerpoint/2010/main" val="29589874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A94D2-7D13-02C2-6131-9D3A6642B6E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11AA421-D9DE-E032-7DED-3D19987F06C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1FF0728-EF07-7E6F-C113-A9A82B671991}"/>
              </a:ext>
            </a:extLst>
          </p:cNvPr>
          <p:cNvSpPr>
            <a:spLocks noGrp="1"/>
          </p:cNvSpPr>
          <p:nvPr>
            <p:ph type="dt" sz="half" idx="10"/>
          </p:nvPr>
        </p:nvSpPr>
        <p:spPr/>
        <p:txBody>
          <a:bodyPr/>
          <a:lstStyle/>
          <a:p>
            <a:fld id="{B0D925FC-16E2-4760-8BBA-129557D517F1}" type="datetimeFigureOut">
              <a:rPr lang="en-US" smtClean="0"/>
              <a:t>2/19/2026</a:t>
            </a:fld>
            <a:endParaRPr lang="en-US"/>
          </a:p>
        </p:txBody>
      </p:sp>
      <p:sp>
        <p:nvSpPr>
          <p:cNvPr id="5" name="Footer Placeholder 4">
            <a:extLst>
              <a:ext uri="{FF2B5EF4-FFF2-40B4-BE49-F238E27FC236}">
                <a16:creationId xmlns:a16="http://schemas.microsoft.com/office/drawing/2014/main" id="{AEE34D14-B4B7-ABA4-219F-72EA4C5AAE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58578C-E9E5-4869-8574-913FA878BE1A}"/>
              </a:ext>
            </a:extLst>
          </p:cNvPr>
          <p:cNvSpPr>
            <a:spLocks noGrp="1"/>
          </p:cNvSpPr>
          <p:nvPr>
            <p:ph type="sldNum" sz="quarter" idx="12"/>
          </p:nvPr>
        </p:nvSpPr>
        <p:spPr/>
        <p:txBody>
          <a:bodyPr/>
          <a:lstStyle/>
          <a:p>
            <a:fld id="{A7B4FECC-3378-4A83-851D-3B59D55BD416}" type="slidenum">
              <a:rPr lang="en-US" smtClean="0"/>
              <a:t>‹#›</a:t>
            </a:fld>
            <a:endParaRPr lang="en-US"/>
          </a:p>
        </p:txBody>
      </p:sp>
    </p:spTree>
    <p:extLst>
      <p:ext uri="{BB962C8B-B14F-4D97-AF65-F5344CB8AC3E}">
        <p14:creationId xmlns:p14="http://schemas.microsoft.com/office/powerpoint/2010/main" val="14079208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6310A-B24A-9A97-BC39-9253D14B86E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3C8DE60-75DA-A1F4-4943-12F47CD4F6C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518E996-19E1-1ED5-2B25-0C601F5AB46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27372EB-24D0-92FD-EFA9-DFCD5D856A91}"/>
              </a:ext>
            </a:extLst>
          </p:cNvPr>
          <p:cNvSpPr>
            <a:spLocks noGrp="1"/>
          </p:cNvSpPr>
          <p:nvPr>
            <p:ph type="dt" sz="half" idx="10"/>
          </p:nvPr>
        </p:nvSpPr>
        <p:spPr/>
        <p:txBody>
          <a:bodyPr/>
          <a:lstStyle/>
          <a:p>
            <a:fld id="{B0D925FC-16E2-4760-8BBA-129557D517F1}" type="datetimeFigureOut">
              <a:rPr lang="en-US" smtClean="0"/>
              <a:t>2/19/2026</a:t>
            </a:fld>
            <a:endParaRPr lang="en-US"/>
          </a:p>
        </p:txBody>
      </p:sp>
      <p:sp>
        <p:nvSpPr>
          <p:cNvPr id="6" name="Footer Placeholder 5">
            <a:extLst>
              <a:ext uri="{FF2B5EF4-FFF2-40B4-BE49-F238E27FC236}">
                <a16:creationId xmlns:a16="http://schemas.microsoft.com/office/drawing/2014/main" id="{508C728D-BE2D-27DA-9DAD-37C597AFCB8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591C820-7316-83BF-9F73-24167360F8B1}"/>
              </a:ext>
            </a:extLst>
          </p:cNvPr>
          <p:cNvSpPr>
            <a:spLocks noGrp="1"/>
          </p:cNvSpPr>
          <p:nvPr>
            <p:ph type="sldNum" sz="quarter" idx="12"/>
          </p:nvPr>
        </p:nvSpPr>
        <p:spPr/>
        <p:txBody>
          <a:bodyPr/>
          <a:lstStyle/>
          <a:p>
            <a:fld id="{A7B4FECC-3378-4A83-851D-3B59D55BD416}" type="slidenum">
              <a:rPr lang="en-US" smtClean="0"/>
              <a:t>‹#›</a:t>
            </a:fld>
            <a:endParaRPr lang="en-US"/>
          </a:p>
        </p:txBody>
      </p:sp>
    </p:spTree>
    <p:extLst>
      <p:ext uri="{BB962C8B-B14F-4D97-AF65-F5344CB8AC3E}">
        <p14:creationId xmlns:p14="http://schemas.microsoft.com/office/powerpoint/2010/main" val="42700309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0651D-6EB9-BDDE-A12B-45790AC92D6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321C7F6-CE80-AFF9-0EBF-1410BB1FD6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6376A25-30D1-BC8F-6C4B-5557987AEB6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1C19201-F674-C8FC-9CAC-3AA70D8FE4F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2DC2F45-AECC-8666-7E96-BADC6000DB0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01CD8C1-02BB-2DAD-0E0E-8AA796BB62BE}"/>
              </a:ext>
            </a:extLst>
          </p:cNvPr>
          <p:cNvSpPr>
            <a:spLocks noGrp="1"/>
          </p:cNvSpPr>
          <p:nvPr>
            <p:ph type="dt" sz="half" idx="10"/>
          </p:nvPr>
        </p:nvSpPr>
        <p:spPr/>
        <p:txBody>
          <a:bodyPr/>
          <a:lstStyle/>
          <a:p>
            <a:fld id="{B0D925FC-16E2-4760-8BBA-129557D517F1}" type="datetimeFigureOut">
              <a:rPr lang="en-US" smtClean="0"/>
              <a:t>2/19/2026</a:t>
            </a:fld>
            <a:endParaRPr lang="en-US"/>
          </a:p>
        </p:txBody>
      </p:sp>
      <p:sp>
        <p:nvSpPr>
          <p:cNvPr id="8" name="Footer Placeholder 7">
            <a:extLst>
              <a:ext uri="{FF2B5EF4-FFF2-40B4-BE49-F238E27FC236}">
                <a16:creationId xmlns:a16="http://schemas.microsoft.com/office/drawing/2014/main" id="{17C21C37-DE25-4D35-4B99-9D8037B2C1F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F9434E2-2825-BD95-9468-96ECEECF41D8}"/>
              </a:ext>
            </a:extLst>
          </p:cNvPr>
          <p:cNvSpPr>
            <a:spLocks noGrp="1"/>
          </p:cNvSpPr>
          <p:nvPr>
            <p:ph type="sldNum" sz="quarter" idx="12"/>
          </p:nvPr>
        </p:nvSpPr>
        <p:spPr/>
        <p:txBody>
          <a:bodyPr/>
          <a:lstStyle/>
          <a:p>
            <a:fld id="{A7B4FECC-3378-4A83-851D-3B59D55BD416}" type="slidenum">
              <a:rPr lang="en-US" smtClean="0"/>
              <a:t>‹#›</a:t>
            </a:fld>
            <a:endParaRPr lang="en-US"/>
          </a:p>
        </p:txBody>
      </p:sp>
    </p:spTree>
    <p:extLst>
      <p:ext uri="{BB962C8B-B14F-4D97-AF65-F5344CB8AC3E}">
        <p14:creationId xmlns:p14="http://schemas.microsoft.com/office/powerpoint/2010/main" val="30226311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5DA2C-1511-40C9-244A-F12CF273158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18271D3-7750-8998-F10F-DB0F8CABEEDE}"/>
              </a:ext>
            </a:extLst>
          </p:cNvPr>
          <p:cNvSpPr>
            <a:spLocks noGrp="1"/>
          </p:cNvSpPr>
          <p:nvPr>
            <p:ph type="dt" sz="half" idx="10"/>
          </p:nvPr>
        </p:nvSpPr>
        <p:spPr/>
        <p:txBody>
          <a:bodyPr/>
          <a:lstStyle/>
          <a:p>
            <a:fld id="{B0D925FC-16E2-4760-8BBA-129557D517F1}" type="datetimeFigureOut">
              <a:rPr lang="en-US" smtClean="0"/>
              <a:t>2/19/2026</a:t>
            </a:fld>
            <a:endParaRPr lang="en-US"/>
          </a:p>
        </p:txBody>
      </p:sp>
      <p:sp>
        <p:nvSpPr>
          <p:cNvPr id="4" name="Footer Placeholder 3">
            <a:extLst>
              <a:ext uri="{FF2B5EF4-FFF2-40B4-BE49-F238E27FC236}">
                <a16:creationId xmlns:a16="http://schemas.microsoft.com/office/drawing/2014/main" id="{5809A25A-7384-814E-00D3-37589C2E89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4146E66-0C2A-9CA7-93F5-2B907D3A02C9}"/>
              </a:ext>
            </a:extLst>
          </p:cNvPr>
          <p:cNvSpPr>
            <a:spLocks noGrp="1"/>
          </p:cNvSpPr>
          <p:nvPr>
            <p:ph type="sldNum" sz="quarter" idx="12"/>
          </p:nvPr>
        </p:nvSpPr>
        <p:spPr/>
        <p:txBody>
          <a:bodyPr/>
          <a:lstStyle/>
          <a:p>
            <a:fld id="{A7B4FECC-3378-4A83-851D-3B59D55BD416}" type="slidenum">
              <a:rPr lang="en-US" smtClean="0"/>
              <a:t>‹#›</a:t>
            </a:fld>
            <a:endParaRPr lang="en-US"/>
          </a:p>
        </p:txBody>
      </p:sp>
    </p:spTree>
    <p:extLst>
      <p:ext uri="{BB962C8B-B14F-4D97-AF65-F5344CB8AC3E}">
        <p14:creationId xmlns:p14="http://schemas.microsoft.com/office/powerpoint/2010/main" val="30705908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F9CE336-2A92-E325-1B68-279EADA7560E}"/>
              </a:ext>
            </a:extLst>
          </p:cNvPr>
          <p:cNvSpPr>
            <a:spLocks noGrp="1"/>
          </p:cNvSpPr>
          <p:nvPr>
            <p:ph type="dt" sz="half" idx="10"/>
          </p:nvPr>
        </p:nvSpPr>
        <p:spPr/>
        <p:txBody>
          <a:bodyPr/>
          <a:lstStyle/>
          <a:p>
            <a:fld id="{B0D925FC-16E2-4760-8BBA-129557D517F1}" type="datetimeFigureOut">
              <a:rPr lang="en-US" smtClean="0"/>
              <a:t>2/19/2026</a:t>
            </a:fld>
            <a:endParaRPr lang="en-US"/>
          </a:p>
        </p:txBody>
      </p:sp>
      <p:sp>
        <p:nvSpPr>
          <p:cNvPr id="3" name="Footer Placeholder 2">
            <a:extLst>
              <a:ext uri="{FF2B5EF4-FFF2-40B4-BE49-F238E27FC236}">
                <a16:creationId xmlns:a16="http://schemas.microsoft.com/office/drawing/2014/main" id="{027B82CE-C7E9-227E-D831-9868CD66BEE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0A3678D-557B-C65C-EA59-995CFCABEB88}"/>
              </a:ext>
            </a:extLst>
          </p:cNvPr>
          <p:cNvSpPr>
            <a:spLocks noGrp="1"/>
          </p:cNvSpPr>
          <p:nvPr>
            <p:ph type="sldNum" sz="quarter" idx="12"/>
          </p:nvPr>
        </p:nvSpPr>
        <p:spPr/>
        <p:txBody>
          <a:bodyPr/>
          <a:lstStyle/>
          <a:p>
            <a:fld id="{A7B4FECC-3378-4A83-851D-3B59D55BD416}" type="slidenum">
              <a:rPr lang="en-US" smtClean="0"/>
              <a:t>‹#›</a:t>
            </a:fld>
            <a:endParaRPr lang="en-US"/>
          </a:p>
        </p:txBody>
      </p:sp>
    </p:spTree>
    <p:extLst>
      <p:ext uri="{BB962C8B-B14F-4D97-AF65-F5344CB8AC3E}">
        <p14:creationId xmlns:p14="http://schemas.microsoft.com/office/powerpoint/2010/main" val="10704371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4B4F7-6B7A-7ED5-F73D-E14EAE1B87E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7BB2279-C497-CE25-F10D-A4DA51F81D8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55AF541-F397-99A9-C53E-F66758361A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F86E30-BAFF-53F1-0559-A8EEB398E629}"/>
              </a:ext>
            </a:extLst>
          </p:cNvPr>
          <p:cNvSpPr>
            <a:spLocks noGrp="1"/>
          </p:cNvSpPr>
          <p:nvPr>
            <p:ph type="dt" sz="half" idx="10"/>
          </p:nvPr>
        </p:nvSpPr>
        <p:spPr/>
        <p:txBody>
          <a:bodyPr/>
          <a:lstStyle/>
          <a:p>
            <a:fld id="{B0D925FC-16E2-4760-8BBA-129557D517F1}" type="datetimeFigureOut">
              <a:rPr lang="en-US" smtClean="0"/>
              <a:t>2/19/2026</a:t>
            </a:fld>
            <a:endParaRPr lang="en-US"/>
          </a:p>
        </p:txBody>
      </p:sp>
      <p:sp>
        <p:nvSpPr>
          <p:cNvPr id="6" name="Footer Placeholder 5">
            <a:extLst>
              <a:ext uri="{FF2B5EF4-FFF2-40B4-BE49-F238E27FC236}">
                <a16:creationId xmlns:a16="http://schemas.microsoft.com/office/drawing/2014/main" id="{E073D538-1326-047C-3C20-796B5B08A6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0FB249-EE5C-47A5-8FDA-96CCAF0D81C5}"/>
              </a:ext>
            </a:extLst>
          </p:cNvPr>
          <p:cNvSpPr>
            <a:spLocks noGrp="1"/>
          </p:cNvSpPr>
          <p:nvPr>
            <p:ph type="sldNum" sz="quarter" idx="12"/>
          </p:nvPr>
        </p:nvSpPr>
        <p:spPr/>
        <p:txBody>
          <a:bodyPr/>
          <a:lstStyle/>
          <a:p>
            <a:fld id="{A7B4FECC-3378-4A83-851D-3B59D55BD416}" type="slidenum">
              <a:rPr lang="en-US" smtClean="0"/>
              <a:t>‹#›</a:t>
            </a:fld>
            <a:endParaRPr lang="en-US"/>
          </a:p>
        </p:txBody>
      </p:sp>
    </p:spTree>
    <p:extLst>
      <p:ext uri="{BB962C8B-B14F-4D97-AF65-F5344CB8AC3E}">
        <p14:creationId xmlns:p14="http://schemas.microsoft.com/office/powerpoint/2010/main" val="14240711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5ADAC-3955-2BE2-8717-F919B1B8A1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5AAB103-181B-D96D-EF22-056252ABE3E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4144EFC-1537-04FE-25C8-322C96B054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3AA516-BDDB-6225-04E4-B6A3A4A4042E}"/>
              </a:ext>
            </a:extLst>
          </p:cNvPr>
          <p:cNvSpPr>
            <a:spLocks noGrp="1"/>
          </p:cNvSpPr>
          <p:nvPr>
            <p:ph type="dt" sz="half" idx="10"/>
          </p:nvPr>
        </p:nvSpPr>
        <p:spPr/>
        <p:txBody>
          <a:bodyPr/>
          <a:lstStyle/>
          <a:p>
            <a:fld id="{B0D925FC-16E2-4760-8BBA-129557D517F1}" type="datetimeFigureOut">
              <a:rPr lang="en-US" smtClean="0"/>
              <a:t>2/19/2026</a:t>
            </a:fld>
            <a:endParaRPr lang="en-US"/>
          </a:p>
        </p:txBody>
      </p:sp>
      <p:sp>
        <p:nvSpPr>
          <p:cNvPr id="6" name="Footer Placeholder 5">
            <a:extLst>
              <a:ext uri="{FF2B5EF4-FFF2-40B4-BE49-F238E27FC236}">
                <a16:creationId xmlns:a16="http://schemas.microsoft.com/office/drawing/2014/main" id="{66830C3C-FCDC-DA51-144D-9A16B688241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1FFA7FF-9C48-8DD2-DE7C-B96A61198FAA}"/>
              </a:ext>
            </a:extLst>
          </p:cNvPr>
          <p:cNvSpPr>
            <a:spLocks noGrp="1"/>
          </p:cNvSpPr>
          <p:nvPr>
            <p:ph type="sldNum" sz="quarter" idx="12"/>
          </p:nvPr>
        </p:nvSpPr>
        <p:spPr/>
        <p:txBody>
          <a:bodyPr/>
          <a:lstStyle/>
          <a:p>
            <a:fld id="{A7B4FECC-3378-4A83-851D-3B59D55BD416}" type="slidenum">
              <a:rPr lang="en-US" smtClean="0"/>
              <a:t>‹#›</a:t>
            </a:fld>
            <a:endParaRPr lang="en-US"/>
          </a:p>
        </p:txBody>
      </p:sp>
    </p:spTree>
    <p:extLst>
      <p:ext uri="{BB962C8B-B14F-4D97-AF65-F5344CB8AC3E}">
        <p14:creationId xmlns:p14="http://schemas.microsoft.com/office/powerpoint/2010/main" val="39594472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C0308-2F3F-24BD-585E-C61288CB2E4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FC98F12-9E0F-3E92-6348-79D515DAB48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0EF97B-166B-9D18-72B9-32B353094774}"/>
              </a:ext>
            </a:extLst>
          </p:cNvPr>
          <p:cNvSpPr>
            <a:spLocks noGrp="1"/>
          </p:cNvSpPr>
          <p:nvPr>
            <p:ph type="dt" sz="half" idx="10"/>
          </p:nvPr>
        </p:nvSpPr>
        <p:spPr/>
        <p:txBody>
          <a:bodyPr/>
          <a:lstStyle/>
          <a:p>
            <a:fld id="{B0D925FC-16E2-4760-8BBA-129557D517F1}" type="datetimeFigureOut">
              <a:rPr lang="en-US" smtClean="0"/>
              <a:t>2/19/2026</a:t>
            </a:fld>
            <a:endParaRPr lang="en-US"/>
          </a:p>
        </p:txBody>
      </p:sp>
      <p:sp>
        <p:nvSpPr>
          <p:cNvPr id="5" name="Footer Placeholder 4">
            <a:extLst>
              <a:ext uri="{FF2B5EF4-FFF2-40B4-BE49-F238E27FC236}">
                <a16:creationId xmlns:a16="http://schemas.microsoft.com/office/drawing/2014/main" id="{BA680055-6534-5781-4AD5-774749F9F1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006730-4630-46C2-C4D1-50DC51888E66}"/>
              </a:ext>
            </a:extLst>
          </p:cNvPr>
          <p:cNvSpPr>
            <a:spLocks noGrp="1"/>
          </p:cNvSpPr>
          <p:nvPr>
            <p:ph type="sldNum" sz="quarter" idx="12"/>
          </p:nvPr>
        </p:nvSpPr>
        <p:spPr/>
        <p:txBody>
          <a:bodyPr/>
          <a:lstStyle/>
          <a:p>
            <a:fld id="{A7B4FECC-3378-4A83-851D-3B59D55BD416}" type="slidenum">
              <a:rPr lang="en-US" smtClean="0"/>
              <a:t>‹#›</a:t>
            </a:fld>
            <a:endParaRPr lang="en-US"/>
          </a:p>
        </p:txBody>
      </p:sp>
    </p:spTree>
    <p:extLst>
      <p:ext uri="{BB962C8B-B14F-4D97-AF65-F5344CB8AC3E}">
        <p14:creationId xmlns:p14="http://schemas.microsoft.com/office/powerpoint/2010/main" val="19369461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8C05A29-F365-6770-11D9-D333736982C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DC253FA-EE87-A347-88C2-8B8089EAE87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323F83-A161-6C6B-8566-35434820A580}"/>
              </a:ext>
            </a:extLst>
          </p:cNvPr>
          <p:cNvSpPr>
            <a:spLocks noGrp="1"/>
          </p:cNvSpPr>
          <p:nvPr>
            <p:ph type="dt" sz="half" idx="10"/>
          </p:nvPr>
        </p:nvSpPr>
        <p:spPr/>
        <p:txBody>
          <a:bodyPr/>
          <a:lstStyle/>
          <a:p>
            <a:fld id="{B0D925FC-16E2-4760-8BBA-129557D517F1}" type="datetimeFigureOut">
              <a:rPr lang="en-US" smtClean="0"/>
              <a:t>2/19/2026</a:t>
            </a:fld>
            <a:endParaRPr lang="en-US"/>
          </a:p>
        </p:txBody>
      </p:sp>
      <p:sp>
        <p:nvSpPr>
          <p:cNvPr id="5" name="Footer Placeholder 4">
            <a:extLst>
              <a:ext uri="{FF2B5EF4-FFF2-40B4-BE49-F238E27FC236}">
                <a16:creationId xmlns:a16="http://schemas.microsoft.com/office/drawing/2014/main" id="{E668384C-7055-FD31-D397-1BC28DC958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4ED2-2741-B46D-921C-EDAB18865B04}"/>
              </a:ext>
            </a:extLst>
          </p:cNvPr>
          <p:cNvSpPr>
            <a:spLocks noGrp="1"/>
          </p:cNvSpPr>
          <p:nvPr>
            <p:ph type="sldNum" sz="quarter" idx="12"/>
          </p:nvPr>
        </p:nvSpPr>
        <p:spPr/>
        <p:txBody>
          <a:bodyPr/>
          <a:lstStyle/>
          <a:p>
            <a:fld id="{A7B4FECC-3378-4A83-851D-3B59D55BD416}" type="slidenum">
              <a:rPr lang="en-US" smtClean="0"/>
              <a:t>‹#›</a:t>
            </a:fld>
            <a:endParaRPr lang="en-US"/>
          </a:p>
        </p:txBody>
      </p:sp>
    </p:spTree>
    <p:extLst>
      <p:ext uri="{BB962C8B-B14F-4D97-AF65-F5344CB8AC3E}">
        <p14:creationId xmlns:p14="http://schemas.microsoft.com/office/powerpoint/2010/main" val="10223310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AEFCF8D-8049-7DEE-2F5E-30B8C0677E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C999D1B-588D-8CE8-7BA3-9A14C58EE4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C1E081-13C9-DC07-C35E-30B6024B859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0D925FC-16E2-4760-8BBA-129557D517F1}" type="datetimeFigureOut">
              <a:rPr lang="en-US" smtClean="0"/>
              <a:t>2/19/2026</a:t>
            </a:fld>
            <a:endParaRPr lang="en-US"/>
          </a:p>
        </p:txBody>
      </p:sp>
      <p:sp>
        <p:nvSpPr>
          <p:cNvPr id="5" name="Footer Placeholder 4">
            <a:extLst>
              <a:ext uri="{FF2B5EF4-FFF2-40B4-BE49-F238E27FC236}">
                <a16:creationId xmlns:a16="http://schemas.microsoft.com/office/drawing/2014/main" id="{91B07867-CD4F-61B7-7D30-586CCCBDB4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2EF065B-A6B6-89FA-A36F-73BD3CEC3E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7B4FECC-3378-4A83-851D-3B59D55BD416}" type="slidenum">
              <a:rPr lang="en-US" smtClean="0"/>
              <a:t>‹#›</a:t>
            </a:fld>
            <a:endParaRPr lang="en-US"/>
          </a:p>
        </p:txBody>
      </p:sp>
    </p:spTree>
    <p:extLst>
      <p:ext uri="{BB962C8B-B14F-4D97-AF65-F5344CB8AC3E}">
        <p14:creationId xmlns:p14="http://schemas.microsoft.com/office/powerpoint/2010/main" val="16720766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6.xml"/><Relationship Id="rId1" Type="http://schemas.openxmlformats.org/officeDocument/2006/relationships/tags" Target="../tags/tag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6.xml"/><Relationship Id="rId1" Type="http://schemas.openxmlformats.org/officeDocument/2006/relationships/tags" Target="../tags/tag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6.xml"/><Relationship Id="rId1" Type="http://schemas.openxmlformats.org/officeDocument/2006/relationships/tags" Target="../tags/tag4.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6.xml"/><Relationship Id="rId1" Type="http://schemas.openxmlformats.org/officeDocument/2006/relationships/tags" Target="../tags/tag5.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6.xml"/><Relationship Id="rId1" Type="http://schemas.openxmlformats.org/officeDocument/2006/relationships/tags" Target="../tags/tag6.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6.xml"/><Relationship Id="rId1" Type="http://schemas.openxmlformats.org/officeDocument/2006/relationships/tags" Target="../tags/tag7.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6.xml"/><Relationship Id="rId1" Type="http://schemas.openxmlformats.org/officeDocument/2006/relationships/tags" Target="../tags/tag8.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6.xml"/><Relationship Id="rId1" Type="http://schemas.openxmlformats.org/officeDocument/2006/relationships/tags" Target="../tags/tag9.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6.xml"/><Relationship Id="rId1" Type="http://schemas.openxmlformats.org/officeDocument/2006/relationships/tags" Target="../tags/tag10.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6.xml"/><Relationship Id="rId1" Type="http://schemas.openxmlformats.org/officeDocument/2006/relationships/tags" Target="../tags/tag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FB79750-45C1-455C-65CA-2308A2EFA9C2}"/>
              </a:ext>
            </a:extLst>
          </p:cNvPr>
          <p:cNvSpPr/>
          <p:nvPr/>
        </p:nvSpPr>
        <p:spPr>
          <a:xfrm>
            <a:off x="0" y="0"/>
            <a:ext cx="12192000" cy="6858000"/>
          </a:xfrm>
          <a:prstGeom prst="rect">
            <a:avLst/>
          </a:prstGeom>
          <a:blipFill dpi="0" rotWithShape="1">
            <a:blip r:embed="rId2"/>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BA273C3-8B7C-39C1-3689-CE8B4D26A613}"/>
              </a:ext>
            </a:extLst>
          </p:cNvPr>
          <p:cNvSpPr txBox="1"/>
          <p:nvPr/>
        </p:nvSpPr>
        <p:spPr>
          <a:xfrm>
            <a:off x="3814915" y="176981"/>
            <a:ext cx="8141111" cy="2123658"/>
          </a:xfrm>
          <a:prstGeom prst="rect">
            <a:avLst/>
          </a:prstGeom>
          <a:noFill/>
        </p:spPr>
        <p:txBody>
          <a:bodyPr wrap="square" rtlCol="0">
            <a:spAutoFit/>
          </a:bodyPr>
          <a:lstStyle/>
          <a:p>
            <a:pPr algn="ctr"/>
            <a:r>
              <a:rPr lang="en-US" sz="6600" b="1" dirty="0">
                <a:latin typeface="Times New Roman" panose="02020603050405020304" pitchFamily="18" charset="0"/>
                <a:cs typeface="Times New Roman" panose="02020603050405020304" pitchFamily="18" charset="0"/>
              </a:rPr>
              <a:t>Go </a:t>
            </a:r>
            <a:br>
              <a:rPr lang="en-US" sz="6600" b="1" dirty="0">
                <a:latin typeface="Times New Roman" panose="02020603050405020304" pitchFamily="18" charset="0"/>
                <a:cs typeface="Times New Roman" panose="02020603050405020304" pitchFamily="18" charset="0"/>
              </a:rPr>
            </a:br>
            <a:r>
              <a:rPr lang="en-US" sz="6600" b="1" dirty="0">
                <a:latin typeface="Times New Roman" panose="02020603050405020304" pitchFamily="18" charset="0"/>
                <a:cs typeface="Times New Roman" panose="02020603050405020304" pitchFamily="18" charset="0"/>
              </a:rPr>
              <a:t>Fundamentals Part II</a:t>
            </a:r>
          </a:p>
        </p:txBody>
      </p:sp>
    </p:spTree>
    <p:extLst>
      <p:ext uri="{BB962C8B-B14F-4D97-AF65-F5344CB8AC3E}">
        <p14:creationId xmlns:p14="http://schemas.microsoft.com/office/powerpoint/2010/main" val="20803555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bg1">
                <a:lumMod val="95000"/>
              </a:schemeClr>
            </a:gs>
            <a:gs pos="74000">
              <a:schemeClr val="bg1">
                <a:lumMod val="85000"/>
              </a:schemeClr>
            </a:gs>
            <a:gs pos="83000">
              <a:schemeClr val="bg1">
                <a:lumMod val="75000"/>
              </a:schemeClr>
            </a:gs>
            <a:gs pos="100000">
              <a:schemeClr val="bg1">
                <a:lumMod val="50000"/>
              </a:schemeClr>
            </a:gs>
          </a:gsLst>
          <a:lin ang="5400000" scaled="1"/>
        </a:gradFill>
        <a:effectLst/>
      </p:bgPr>
    </p:bg>
    <p:spTree>
      <p:nvGrpSpPr>
        <p:cNvPr id="1" name="">
          <a:extLst>
            <a:ext uri="{FF2B5EF4-FFF2-40B4-BE49-F238E27FC236}">
              <a16:creationId xmlns:a16="http://schemas.microsoft.com/office/drawing/2014/main" id="{0E02924F-18CF-E6D5-8C57-7A05B47897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E0E9B4-46FB-4E16-3FED-BF0B7CAC4275}"/>
              </a:ext>
            </a:extLst>
          </p:cNvPr>
          <p:cNvSpPr>
            <a:spLocks noGrp="1"/>
          </p:cNvSpPr>
          <p:nvPr>
            <p:ph type="title"/>
          </p:nvPr>
        </p:nvSpPr>
        <p:spPr>
          <a:xfrm>
            <a:off x="9345" y="35221"/>
            <a:ext cx="11996331" cy="1325563"/>
          </a:xfrm>
        </p:spPr>
        <p:txBody>
          <a:bodyPr>
            <a:normAutofit/>
          </a:bodyPr>
          <a:lstStyle/>
          <a:p>
            <a:r>
              <a:rPr lang="en-US" b="1" dirty="0">
                <a:latin typeface="Times New Roman" panose="02020603050405020304" pitchFamily="18" charset="0"/>
                <a:cs typeface="Times New Roman" panose="02020603050405020304" pitchFamily="18" charset="0"/>
              </a:rPr>
              <a:t>What Are Data Structures?</a:t>
            </a:r>
            <a:endParaRPr lang="en-US" sz="4200" b="1"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03B5A73F-C5C1-2B55-874A-13ADAD28D056}"/>
              </a:ext>
            </a:extLst>
          </p:cNvPr>
          <p:cNvSpPr/>
          <p:nvPr/>
        </p:nvSpPr>
        <p:spPr>
          <a:xfrm>
            <a:off x="110125" y="2286001"/>
            <a:ext cx="111760" cy="767894"/>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Rectangle 5">
            <a:extLst>
              <a:ext uri="{FF2B5EF4-FFF2-40B4-BE49-F238E27FC236}">
                <a16:creationId xmlns:a16="http://schemas.microsoft.com/office/drawing/2014/main" id="{70668ACB-48F0-AD4B-6AE1-B4EFFC7F7406}"/>
              </a:ext>
            </a:extLst>
          </p:cNvPr>
          <p:cNvSpPr/>
          <p:nvPr/>
        </p:nvSpPr>
        <p:spPr>
          <a:xfrm>
            <a:off x="186324" y="2286001"/>
            <a:ext cx="11895551" cy="767894"/>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Any variable is defined with a type, which could be a simple one like integers (holds one value), or could be a data structure (a collection of elements), both of which are called Abstract Data Type (ADT).</a:t>
            </a:r>
          </a:p>
        </p:txBody>
      </p:sp>
      <p:sp>
        <p:nvSpPr>
          <p:cNvPr id="7" name="Rectangle 6">
            <a:extLst>
              <a:ext uri="{FF2B5EF4-FFF2-40B4-BE49-F238E27FC236}">
                <a16:creationId xmlns:a16="http://schemas.microsoft.com/office/drawing/2014/main" id="{A4F74386-DC6E-1474-0BC4-D554AF2D79E9}"/>
              </a:ext>
            </a:extLst>
          </p:cNvPr>
          <p:cNvSpPr/>
          <p:nvPr/>
        </p:nvSpPr>
        <p:spPr>
          <a:xfrm>
            <a:off x="110125" y="3211218"/>
            <a:ext cx="111760" cy="767894"/>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502F350E-7728-6E9C-876A-2961761C64DD}"/>
              </a:ext>
            </a:extLst>
          </p:cNvPr>
          <p:cNvSpPr/>
          <p:nvPr/>
        </p:nvSpPr>
        <p:spPr>
          <a:xfrm>
            <a:off x="186324" y="3211218"/>
            <a:ext cx="11895551" cy="767894"/>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Type is a set of values and a set of operations on those values [Mathematical Definition].</a:t>
            </a:r>
            <a:br>
              <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br>
            <a:r>
              <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ADT is a data type that is accessed only through an interface (Accessing mechanisms).</a:t>
            </a:r>
          </a:p>
        </p:txBody>
      </p:sp>
      <p:sp>
        <p:nvSpPr>
          <p:cNvPr id="3" name="Rectangle 2">
            <a:extLst>
              <a:ext uri="{FF2B5EF4-FFF2-40B4-BE49-F238E27FC236}">
                <a16:creationId xmlns:a16="http://schemas.microsoft.com/office/drawing/2014/main" id="{1FF4631A-A468-36F2-4CFD-6F9359A44C07}"/>
              </a:ext>
            </a:extLst>
          </p:cNvPr>
          <p:cNvSpPr/>
          <p:nvPr/>
        </p:nvSpPr>
        <p:spPr>
          <a:xfrm>
            <a:off x="110125" y="1360784"/>
            <a:ext cx="111760" cy="767894"/>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Rectangle 4">
            <a:extLst>
              <a:ext uri="{FF2B5EF4-FFF2-40B4-BE49-F238E27FC236}">
                <a16:creationId xmlns:a16="http://schemas.microsoft.com/office/drawing/2014/main" id="{467AEE5A-9851-7B85-CFE5-06CD0EC8DC13}"/>
              </a:ext>
            </a:extLst>
          </p:cNvPr>
          <p:cNvSpPr/>
          <p:nvPr/>
        </p:nvSpPr>
        <p:spPr>
          <a:xfrm>
            <a:off x="186324" y="1360784"/>
            <a:ext cx="11895551" cy="767894"/>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The greatest room for variability in algorithm design is generally in the way in which the data of the program is stored.</a:t>
            </a:r>
          </a:p>
        </p:txBody>
      </p:sp>
      <p:sp>
        <p:nvSpPr>
          <p:cNvPr id="8" name="Rectangle 7">
            <a:extLst>
              <a:ext uri="{FF2B5EF4-FFF2-40B4-BE49-F238E27FC236}">
                <a16:creationId xmlns:a16="http://schemas.microsoft.com/office/drawing/2014/main" id="{C757C130-1CD6-26F8-8BAF-D376315F25A5}"/>
              </a:ext>
            </a:extLst>
          </p:cNvPr>
          <p:cNvSpPr/>
          <p:nvPr/>
        </p:nvSpPr>
        <p:spPr>
          <a:xfrm>
            <a:off x="110125" y="4136434"/>
            <a:ext cx="111760" cy="2254317"/>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Rectangle 8">
            <a:extLst>
              <a:ext uri="{FF2B5EF4-FFF2-40B4-BE49-F238E27FC236}">
                <a16:creationId xmlns:a16="http://schemas.microsoft.com/office/drawing/2014/main" id="{C5D105C7-C2DF-5BB6-D167-C9D223F72586}"/>
              </a:ext>
            </a:extLst>
          </p:cNvPr>
          <p:cNvSpPr/>
          <p:nvPr/>
        </p:nvSpPr>
        <p:spPr>
          <a:xfrm>
            <a:off x="186324" y="4136434"/>
            <a:ext cx="11895551" cy="2254317"/>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The ADT has two views:</a:t>
            </a:r>
            <a:endParaRPr lang="en-US" b="1" dirty="0">
              <a:solidFill>
                <a:prstClr val="white"/>
              </a:solidFill>
              <a:latin typeface="Arial" panose="020B0604020202020204" pitchFamily="34" charset="0"/>
              <a:cs typeface="Arial" panose="020B0604020202020204" pitchFamily="34" charset="0"/>
            </a:endParaRPr>
          </a:p>
          <a:p>
            <a:pPr marL="342900" marR="0" lvl="0" indent="-342900" algn="l" defTabSz="914400" eaLnBrk="1" fontAlgn="auto" latinLnBrk="0" hangingPunct="1">
              <a:lnSpc>
                <a:spcPct val="100000"/>
              </a:lnSpc>
              <a:spcBef>
                <a:spcPts val="0"/>
              </a:spcBef>
              <a:spcAft>
                <a:spcPts val="0"/>
              </a:spcAft>
              <a:buClrTx/>
              <a:buSzTx/>
              <a:buFont typeface="+mj-lt"/>
              <a:buAutoNum type="arabicPeriod"/>
              <a:tabLst/>
              <a:defRPr/>
            </a:pPr>
            <a:r>
              <a:rPr lang="en-US" b="1" dirty="0">
                <a:solidFill>
                  <a:prstClr val="white"/>
                </a:solidFill>
                <a:latin typeface="Arial" panose="020B0604020202020204" pitchFamily="34" charset="0"/>
                <a:cs typeface="Arial" panose="020B0604020202020204" pitchFamily="34" charset="0"/>
              </a:rPr>
              <a:t>User/Client View: the one who uses the implemented interface</a:t>
            </a:r>
          </a:p>
          <a:p>
            <a:pPr marL="342900" marR="0" lvl="0" indent="-342900" algn="l" defTabSz="914400" eaLnBrk="1" fontAlgn="auto" latinLnBrk="0" hangingPunct="1">
              <a:lnSpc>
                <a:spcPct val="100000"/>
              </a:lnSpc>
              <a:spcBef>
                <a:spcPts val="0"/>
              </a:spcBef>
              <a:spcAft>
                <a:spcPts val="0"/>
              </a:spcAft>
              <a:buClrTx/>
              <a:buSzTx/>
              <a:buFont typeface="+mj-lt"/>
              <a:buAutoNum type="arabicPeriod"/>
              <a:tabLst/>
              <a:defRPr/>
            </a:pPr>
            <a:r>
              <a:rPr lang="en-US" b="1" dirty="0">
                <a:solidFill>
                  <a:prstClr val="white"/>
                </a:solidFill>
                <a:latin typeface="Arial" panose="020B0604020202020204" pitchFamily="34" charset="0"/>
                <a:cs typeface="Arial" panose="020B0604020202020204" pitchFamily="34" charset="0"/>
              </a:rPr>
              <a:t>Implementation View: the one who creates the ADT and implements the interface that the user uses.</a:t>
            </a:r>
          </a:p>
          <a:p>
            <a:pPr marL="742950" lvl="1" indent="-285750">
              <a:buFont typeface="Symbol" panose="05050102010706020507" pitchFamily="18" charset="2"/>
              <a:buChar char="Þ"/>
            </a:pPr>
            <a:r>
              <a:rPr lang="en-US" b="1" dirty="0">
                <a:solidFill>
                  <a:prstClr val="white"/>
                </a:solidFill>
                <a:latin typeface="Arial" panose="020B0604020202020204" pitchFamily="34" charset="0"/>
                <a:cs typeface="Arial" panose="020B0604020202020204" pitchFamily="34" charset="0"/>
              </a:rPr>
              <a:t>Implementation is composed of two major steps:</a:t>
            </a:r>
          </a:p>
          <a:p>
            <a:pPr lvl="1"/>
            <a:r>
              <a:rPr lang="en-US" b="1" dirty="0">
                <a:solidFill>
                  <a:prstClr val="white"/>
                </a:solidFill>
                <a:latin typeface="Arial" panose="020B0604020202020204" pitchFamily="34" charset="0"/>
                <a:cs typeface="Arial" panose="020B0604020202020204" pitchFamily="34" charset="0"/>
              </a:rPr>
              <a:t>	a) Type Definition (where  you create a new shape and properties of the memory)</a:t>
            </a:r>
          </a:p>
          <a:p>
            <a:pPr lvl="1"/>
            <a:r>
              <a:rPr lang="en-US" b="1" dirty="0">
                <a:solidFill>
                  <a:prstClr val="white"/>
                </a:solidFill>
                <a:latin typeface="Arial" panose="020B0604020202020204" pitchFamily="34" charset="0"/>
                <a:cs typeface="Arial" panose="020B0604020202020204" pitchFamily="34" charset="0"/>
              </a:rPr>
              <a:t>	b) Interface (Accessing mechanism) implementation (make sure that it meets the user preferences).</a:t>
            </a:r>
          </a:p>
          <a:p>
            <a:pPr lvl="1"/>
            <a:r>
              <a:rPr lang="en-US" b="1" dirty="0">
                <a:solidFill>
                  <a:prstClr val="white"/>
                </a:solidFill>
                <a:latin typeface="Arial" panose="020B0604020202020204" pitchFamily="34" charset="0"/>
                <a:cs typeface="Arial" panose="020B0604020202020204" pitchFamily="34" charset="0"/>
              </a:rPr>
              <a:t>=&gt; Usually, the interface is a set of methods [Initialize, Insert, retrieve/delete, </a:t>
            </a:r>
            <a:r>
              <a:rPr lang="en-US" b="1" dirty="0" err="1">
                <a:solidFill>
                  <a:prstClr val="white"/>
                </a:solidFill>
                <a:latin typeface="Arial" panose="020B0604020202020204" pitchFamily="34" charset="0"/>
                <a:cs typeface="Arial" panose="020B0604020202020204" pitchFamily="34" charset="0"/>
              </a:rPr>
              <a:t>GetSize</a:t>
            </a:r>
            <a:r>
              <a:rPr lang="en-US" b="1" dirty="0">
                <a:solidFill>
                  <a:prstClr val="white"/>
                </a:solidFill>
                <a:latin typeface="Arial" panose="020B0604020202020204" pitchFamily="34" charset="0"/>
                <a:cs typeface="Arial" panose="020B0604020202020204" pitchFamily="34" charset="0"/>
              </a:rPr>
              <a:t>, </a:t>
            </a:r>
            <a:r>
              <a:rPr lang="en-US" b="1" dirty="0" err="1">
                <a:solidFill>
                  <a:prstClr val="white"/>
                </a:solidFill>
                <a:latin typeface="Arial" panose="020B0604020202020204" pitchFamily="34" charset="0"/>
                <a:cs typeface="Arial" panose="020B0604020202020204" pitchFamily="34" charset="0"/>
              </a:rPr>
              <a:t>isEmpty</a:t>
            </a:r>
            <a:r>
              <a:rPr lang="en-US" b="1" dirty="0">
                <a:solidFill>
                  <a:prstClr val="white"/>
                </a:solidFill>
                <a:latin typeface="Arial" panose="020B0604020202020204" pitchFamily="34" charset="0"/>
                <a:cs typeface="Arial" panose="020B0604020202020204" pitchFamily="34" charset="0"/>
              </a:rPr>
              <a:t>, </a:t>
            </a:r>
            <a:r>
              <a:rPr lang="en-US" b="1" dirty="0" err="1">
                <a:solidFill>
                  <a:prstClr val="white"/>
                </a:solidFill>
                <a:latin typeface="Arial" panose="020B0604020202020204" pitchFamily="34" charset="0"/>
                <a:cs typeface="Arial" panose="020B0604020202020204" pitchFamily="34" charset="0"/>
              </a:rPr>
              <a:t>isFull</a:t>
            </a:r>
            <a:r>
              <a:rPr lang="en-US" b="1" dirty="0">
                <a:solidFill>
                  <a:prstClr val="white"/>
                </a:solidFill>
                <a:latin typeface="Arial" panose="020B0604020202020204" pitchFamily="34" charset="0"/>
                <a:cs typeface="Arial" panose="020B0604020202020204" pitchFamily="34" charset="0"/>
              </a:rPr>
              <a:t>, clear ]</a:t>
            </a:r>
          </a:p>
        </p:txBody>
      </p:sp>
    </p:spTree>
    <p:custDataLst>
      <p:tags r:id="rId1"/>
    </p:custDataLst>
    <p:extLst>
      <p:ext uri="{BB962C8B-B14F-4D97-AF65-F5344CB8AC3E}">
        <p14:creationId xmlns:p14="http://schemas.microsoft.com/office/powerpoint/2010/main" val="2332734367"/>
      </p:ext>
    </p:extLst>
  </p:cSld>
  <p:clrMapOvr>
    <a:masterClrMapping/>
  </p:clrMapOvr>
  <mc:AlternateContent xmlns:mc="http://schemas.openxmlformats.org/markup-compatibility/2006" xmlns:p14="http://schemas.microsoft.com/office/powerpoint/2010/main">
    <mc:Choice Requires="p14">
      <p:transition spd="slow" p14:dur="2000" advTm="207460"/>
    </mc:Choice>
    <mc:Fallback xmlns="">
      <p:transition spd="slow" advTm="20746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bg1">
                <a:lumMod val="95000"/>
              </a:schemeClr>
            </a:gs>
            <a:gs pos="74000">
              <a:schemeClr val="bg1">
                <a:lumMod val="85000"/>
              </a:schemeClr>
            </a:gs>
            <a:gs pos="83000">
              <a:schemeClr val="bg1">
                <a:lumMod val="75000"/>
              </a:schemeClr>
            </a:gs>
            <a:gs pos="100000">
              <a:schemeClr val="bg1">
                <a:lumMod val="50000"/>
              </a:schemeClr>
            </a:gs>
          </a:gsLst>
          <a:lin ang="5400000" scaled="1"/>
        </a:gradFill>
        <a:effectLst/>
      </p:bgPr>
    </p:bg>
    <p:spTree>
      <p:nvGrpSpPr>
        <p:cNvPr id="1" name="">
          <a:extLst>
            <a:ext uri="{FF2B5EF4-FFF2-40B4-BE49-F238E27FC236}">
              <a16:creationId xmlns:a16="http://schemas.microsoft.com/office/drawing/2014/main" id="{E5FE2D75-B0B9-18EC-2285-A704432D84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1B4EAA-F446-F048-09C9-A1CD8461EC68}"/>
              </a:ext>
            </a:extLst>
          </p:cNvPr>
          <p:cNvSpPr>
            <a:spLocks noGrp="1"/>
          </p:cNvSpPr>
          <p:nvPr>
            <p:ph type="title"/>
          </p:nvPr>
        </p:nvSpPr>
        <p:spPr>
          <a:xfrm>
            <a:off x="9345" y="35221"/>
            <a:ext cx="11996331" cy="1325563"/>
          </a:xfrm>
        </p:spPr>
        <p:txBody>
          <a:bodyPr>
            <a:normAutofit/>
          </a:bodyPr>
          <a:lstStyle/>
          <a:p>
            <a:r>
              <a:rPr lang="en-US" b="1" dirty="0">
                <a:latin typeface="Times New Roman" panose="02020603050405020304" pitchFamily="18" charset="0"/>
                <a:cs typeface="Times New Roman" panose="02020603050405020304" pitchFamily="18" charset="0"/>
              </a:rPr>
              <a:t>What Are Data Structures? (Pointers)</a:t>
            </a:r>
            <a:endParaRPr lang="en-US" sz="4200" b="1"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32B1CC34-BE85-82FE-46B2-269556B9CBC5}"/>
              </a:ext>
            </a:extLst>
          </p:cNvPr>
          <p:cNvSpPr/>
          <p:nvPr/>
        </p:nvSpPr>
        <p:spPr>
          <a:xfrm>
            <a:off x="110125" y="2286001"/>
            <a:ext cx="111760" cy="767894"/>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Rectangle 5">
            <a:extLst>
              <a:ext uri="{FF2B5EF4-FFF2-40B4-BE49-F238E27FC236}">
                <a16:creationId xmlns:a16="http://schemas.microsoft.com/office/drawing/2014/main" id="{801F3C9F-5337-07BB-5432-10C83BE48EF8}"/>
              </a:ext>
            </a:extLst>
          </p:cNvPr>
          <p:cNvSpPr/>
          <p:nvPr/>
        </p:nvSpPr>
        <p:spPr>
          <a:xfrm>
            <a:off x="186324" y="2286001"/>
            <a:ext cx="11895551" cy="767894"/>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b="1" dirty="0">
                <a:solidFill>
                  <a:prstClr val="white"/>
                </a:solidFill>
                <a:latin typeface="Arial" panose="020B0604020202020204" pitchFamily="34" charset="0"/>
                <a:cs typeface="Arial" panose="020B0604020202020204" pitchFamily="34" charset="0"/>
              </a:rPr>
              <a:t>A pointer value is the address of a variable. A pointer is thus the location at which a value is stored. Not every value has an address, but every variable does</a:t>
            </a:r>
            <a:endPar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 name="Rectangle 2">
            <a:extLst>
              <a:ext uri="{FF2B5EF4-FFF2-40B4-BE49-F238E27FC236}">
                <a16:creationId xmlns:a16="http://schemas.microsoft.com/office/drawing/2014/main" id="{AD544D29-2E41-BCD2-D099-6A985FD6FE00}"/>
              </a:ext>
            </a:extLst>
          </p:cNvPr>
          <p:cNvSpPr/>
          <p:nvPr/>
        </p:nvSpPr>
        <p:spPr>
          <a:xfrm>
            <a:off x="110125" y="1360784"/>
            <a:ext cx="111760" cy="767894"/>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Rectangle 4">
            <a:extLst>
              <a:ext uri="{FF2B5EF4-FFF2-40B4-BE49-F238E27FC236}">
                <a16:creationId xmlns:a16="http://schemas.microsoft.com/office/drawing/2014/main" id="{D2964FA5-B48C-51EE-1903-9E84509364DA}"/>
              </a:ext>
            </a:extLst>
          </p:cNvPr>
          <p:cNvSpPr/>
          <p:nvPr/>
        </p:nvSpPr>
        <p:spPr>
          <a:xfrm>
            <a:off x="186324" y="1360784"/>
            <a:ext cx="11895551" cy="767894"/>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Since type is a memory location, we can further decompose it into two more pieces based on the value it holds: value types or reference types. Pointers are reference type.</a:t>
            </a:r>
          </a:p>
        </p:txBody>
      </p:sp>
      <p:pic>
        <p:nvPicPr>
          <p:cNvPr id="14" name="Picture 13">
            <a:extLst>
              <a:ext uri="{FF2B5EF4-FFF2-40B4-BE49-F238E27FC236}">
                <a16:creationId xmlns:a16="http://schemas.microsoft.com/office/drawing/2014/main" id="{61929D2D-7C74-7D60-7AE6-50DA55093763}"/>
              </a:ext>
            </a:extLst>
          </p:cNvPr>
          <p:cNvPicPr>
            <a:picLocks noChangeAspect="1"/>
          </p:cNvPicPr>
          <p:nvPr/>
        </p:nvPicPr>
        <p:blipFill>
          <a:blip r:embed="rId4"/>
          <a:stretch>
            <a:fillRect/>
          </a:stretch>
        </p:blipFill>
        <p:spPr>
          <a:xfrm>
            <a:off x="110124" y="3160977"/>
            <a:ext cx="6923721" cy="3661801"/>
          </a:xfrm>
          <a:prstGeom prst="rect">
            <a:avLst/>
          </a:prstGeom>
        </p:spPr>
      </p:pic>
      <p:sp>
        <p:nvSpPr>
          <p:cNvPr id="15" name="Rectangle: Rounded Corners 14">
            <a:extLst>
              <a:ext uri="{FF2B5EF4-FFF2-40B4-BE49-F238E27FC236}">
                <a16:creationId xmlns:a16="http://schemas.microsoft.com/office/drawing/2014/main" id="{C3B4280C-09BD-3C03-728A-61A567CC8E5F}"/>
              </a:ext>
            </a:extLst>
          </p:cNvPr>
          <p:cNvSpPr/>
          <p:nvPr/>
        </p:nvSpPr>
        <p:spPr>
          <a:xfrm>
            <a:off x="7135608" y="3166805"/>
            <a:ext cx="4870067" cy="341486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Arial" panose="020B0604020202020204" pitchFamily="34" charset="0"/>
                <a:cs typeface="Arial" panose="020B0604020202020204" pitchFamily="34" charset="0"/>
              </a:rPr>
              <a:t>Go provides you the type *int, but do you know how it’s implemented? No, this is called Information Hiding (Encapsulation), the main property of ADTs. Thus, you infer that this piece of code is just you using the interface of the pointer type (you are the user level here) </a:t>
            </a:r>
            <a:br>
              <a:rPr lang="en-US" b="1" dirty="0">
                <a:latin typeface="Arial" panose="020B0604020202020204" pitchFamily="34" charset="0"/>
                <a:cs typeface="Arial" panose="020B0604020202020204" pitchFamily="34" charset="0"/>
              </a:rPr>
            </a:br>
            <a:r>
              <a:rPr lang="en-US" b="1" dirty="0">
                <a:latin typeface="Arial" panose="020B0604020202020204" pitchFamily="34" charset="0"/>
                <a:cs typeface="Arial" panose="020B0604020202020204" pitchFamily="34" charset="0"/>
              </a:rPr>
              <a:t>*** If you create a new ADT, make sure you hide something ***</a:t>
            </a:r>
          </a:p>
        </p:txBody>
      </p:sp>
    </p:spTree>
    <p:custDataLst>
      <p:tags r:id="rId1"/>
    </p:custDataLst>
    <p:extLst>
      <p:ext uri="{BB962C8B-B14F-4D97-AF65-F5344CB8AC3E}">
        <p14:creationId xmlns:p14="http://schemas.microsoft.com/office/powerpoint/2010/main" val="3576321823"/>
      </p:ext>
    </p:extLst>
  </p:cSld>
  <p:clrMapOvr>
    <a:masterClrMapping/>
  </p:clrMapOvr>
  <mc:AlternateContent xmlns:mc="http://schemas.openxmlformats.org/markup-compatibility/2006" xmlns:p14="http://schemas.microsoft.com/office/powerpoint/2010/main">
    <mc:Choice Requires="p14">
      <p:transition spd="slow" p14:dur="2000" advTm="207460"/>
    </mc:Choice>
    <mc:Fallback xmlns="">
      <p:transition spd="slow" advTm="20746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bg1">
                <a:lumMod val="95000"/>
              </a:schemeClr>
            </a:gs>
            <a:gs pos="74000">
              <a:schemeClr val="bg1">
                <a:lumMod val="85000"/>
              </a:schemeClr>
            </a:gs>
            <a:gs pos="83000">
              <a:schemeClr val="bg1">
                <a:lumMod val="75000"/>
              </a:schemeClr>
            </a:gs>
            <a:gs pos="100000">
              <a:schemeClr val="bg1">
                <a:lumMod val="50000"/>
              </a:schemeClr>
            </a:gs>
          </a:gsLst>
          <a:lin ang="5400000" scaled="1"/>
        </a:gradFill>
        <a:effectLst/>
      </p:bgPr>
    </p:bg>
    <p:spTree>
      <p:nvGrpSpPr>
        <p:cNvPr id="1" name="">
          <a:extLst>
            <a:ext uri="{FF2B5EF4-FFF2-40B4-BE49-F238E27FC236}">
              <a16:creationId xmlns:a16="http://schemas.microsoft.com/office/drawing/2014/main" id="{7A999E2F-CD05-75CB-DAEB-A55AD3D7D1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4B2132-1661-FFA0-B0AF-E007B8A887D8}"/>
              </a:ext>
            </a:extLst>
          </p:cNvPr>
          <p:cNvSpPr>
            <a:spLocks noGrp="1"/>
          </p:cNvSpPr>
          <p:nvPr>
            <p:ph type="title"/>
          </p:nvPr>
        </p:nvSpPr>
        <p:spPr>
          <a:xfrm>
            <a:off x="97834" y="0"/>
            <a:ext cx="11996331" cy="1325563"/>
          </a:xfrm>
        </p:spPr>
        <p:txBody>
          <a:bodyPr>
            <a:normAutofit/>
          </a:bodyPr>
          <a:lstStyle/>
          <a:p>
            <a:r>
              <a:rPr lang="en-US" b="1" dirty="0">
                <a:latin typeface="Times New Roman" panose="02020603050405020304" pitchFamily="18" charset="0"/>
                <a:cs typeface="Times New Roman" panose="02020603050405020304" pitchFamily="18" charset="0"/>
              </a:rPr>
              <a:t>The Go Slices:</a:t>
            </a:r>
            <a:endParaRPr lang="en-US" sz="4200" b="1"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A51CD7B1-C20C-CE7D-DD38-C9E729EDBEAF}"/>
              </a:ext>
            </a:extLst>
          </p:cNvPr>
          <p:cNvSpPr/>
          <p:nvPr/>
        </p:nvSpPr>
        <p:spPr>
          <a:xfrm>
            <a:off x="274811" y="1193642"/>
            <a:ext cx="111760" cy="823323"/>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Rectangle 3">
            <a:extLst>
              <a:ext uri="{FF2B5EF4-FFF2-40B4-BE49-F238E27FC236}">
                <a16:creationId xmlns:a16="http://schemas.microsoft.com/office/drawing/2014/main" id="{2078BFF3-01E6-9D80-9DBB-C4E62AE580EF}"/>
              </a:ext>
            </a:extLst>
          </p:cNvPr>
          <p:cNvSpPr/>
          <p:nvPr/>
        </p:nvSpPr>
        <p:spPr>
          <a:xfrm>
            <a:off x="351010" y="1193642"/>
            <a:ext cx="11743155" cy="823323"/>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A slice is a segment of an array. Like arrays, slices are indexable and have a length. Unlike arrays, this length is allowed to change</a:t>
            </a:r>
          </a:p>
        </p:txBody>
      </p:sp>
      <p:pic>
        <p:nvPicPr>
          <p:cNvPr id="6" name="Picture 5">
            <a:extLst>
              <a:ext uri="{FF2B5EF4-FFF2-40B4-BE49-F238E27FC236}">
                <a16:creationId xmlns:a16="http://schemas.microsoft.com/office/drawing/2014/main" id="{9431734B-3DF4-26E2-3E85-91A843544D57}"/>
              </a:ext>
            </a:extLst>
          </p:cNvPr>
          <p:cNvPicPr>
            <a:picLocks noChangeAspect="1"/>
          </p:cNvPicPr>
          <p:nvPr/>
        </p:nvPicPr>
        <p:blipFill>
          <a:blip r:embed="rId4"/>
          <a:stretch>
            <a:fillRect/>
          </a:stretch>
        </p:blipFill>
        <p:spPr>
          <a:xfrm>
            <a:off x="954594" y="2106815"/>
            <a:ext cx="10178980" cy="4665774"/>
          </a:xfrm>
          <a:prstGeom prst="rect">
            <a:avLst/>
          </a:prstGeom>
        </p:spPr>
      </p:pic>
    </p:spTree>
    <p:custDataLst>
      <p:tags r:id="rId1"/>
    </p:custDataLst>
    <p:extLst>
      <p:ext uri="{BB962C8B-B14F-4D97-AF65-F5344CB8AC3E}">
        <p14:creationId xmlns:p14="http://schemas.microsoft.com/office/powerpoint/2010/main" val="3562683112"/>
      </p:ext>
    </p:extLst>
  </p:cSld>
  <p:clrMapOvr>
    <a:masterClrMapping/>
  </p:clrMapOvr>
  <mc:AlternateContent xmlns:mc="http://schemas.openxmlformats.org/markup-compatibility/2006" xmlns:p14="http://schemas.microsoft.com/office/powerpoint/2010/main">
    <mc:Choice Requires="p14">
      <p:transition spd="slow" p14:dur="2000" advTm="207460"/>
    </mc:Choice>
    <mc:Fallback xmlns="">
      <p:transition spd="slow" advTm="20746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bg1">
                <a:lumMod val="95000"/>
              </a:schemeClr>
            </a:gs>
            <a:gs pos="74000">
              <a:schemeClr val="bg1">
                <a:lumMod val="85000"/>
              </a:schemeClr>
            </a:gs>
            <a:gs pos="83000">
              <a:schemeClr val="bg1">
                <a:lumMod val="75000"/>
              </a:schemeClr>
            </a:gs>
            <a:gs pos="100000">
              <a:schemeClr val="bg1">
                <a:lumMod val="50000"/>
              </a:schemeClr>
            </a:gs>
          </a:gsLst>
          <a:lin ang="5400000" scaled="1"/>
        </a:gradFill>
        <a:effectLst/>
      </p:bgPr>
    </p:bg>
    <p:spTree>
      <p:nvGrpSpPr>
        <p:cNvPr id="1" name="">
          <a:extLst>
            <a:ext uri="{FF2B5EF4-FFF2-40B4-BE49-F238E27FC236}">
              <a16:creationId xmlns:a16="http://schemas.microsoft.com/office/drawing/2014/main" id="{0978BA31-4599-1B19-1D48-69649C3129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29C0C7-93AE-EA58-1045-D8AC023A6BDF}"/>
              </a:ext>
            </a:extLst>
          </p:cNvPr>
          <p:cNvSpPr>
            <a:spLocks noGrp="1"/>
          </p:cNvSpPr>
          <p:nvPr>
            <p:ph type="title"/>
          </p:nvPr>
        </p:nvSpPr>
        <p:spPr>
          <a:xfrm>
            <a:off x="97834" y="0"/>
            <a:ext cx="11996331" cy="1325563"/>
          </a:xfrm>
        </p:spPr>
        <p:txBody>
          <a:bodyPr>
            <a:normAutofit/>
          </a:bodyPr>
          <a:lstStyle/>
          <a:p>
            <a:r>
              <a:rPr lang="en-US" b="1" dirty="0">
                <a:latin typeface="Times New Roman" panose="02020603050405020304" pitchFamily="18" charset="0"/>
                <a:cs typeface="Times New Roman" panose="02020603050405020304" pitchFamily="18" charset="0"/>
              </a:rPr>
              <a:t>The Go Slices:</a:t>
            </a:r>
            <a:endParaRPr lang="en-US" sz="4200" b="1"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37F49556-FB5B-B956-9ABC-58781C7ED53D}"/>
              </a:ext>
            </a:extLst>
          </p:cNvPr>
          <p:cNvPicPr>
            <a:picLocks noChangeAspect="1"/>
          </p:cNvPicPr>
          <p:nvPr/>
        </p:nvPicPr>
        <p:blipFill>
          <a:blip r:embed="rId4"/>
          <a:stretch>
            <a:fillRect/>
          </a:stretch>
        </p:blipFill>
        <p:spPr>
          <a:xfrm>
            <a:off x="567210" y="1153026"/>
            <a:ext cx="11057578" cy="5438693"/>
          </a:xfrm>
          <a:prstGeom prst="rect">
            <a:avLst/>
          </a:prstGeom>
        </p:spPr>
      </p:pic>
    </p:spTree>
    <p:custDataLst>
      <p:tags r:id="rId1"/>
    </p:custDataLst>
    <p:extLst>
      <p:ext uri="{BB962C8B-B14F-4D97-AF65-F5344CB8AC3E}">
        <p14:creationId xmlns:p14="http://schemas.microsoft.com/office/powerpoint/2010/main" val="3414699975"/>
      </p:ext>
    </p:extLst>
  </p:cSld>
  <p:clrMapOvr>
    <a:masterClrMapping/>
  </p:clrMapOvr>
  <mc:AlternateContent xmlns:mc="http://schemas.openxmlformats.org/markup-compatibility/2006" xmlns:p14="http://schemas.microsoft.com/office/powerpoint/2010/main">
    <mc:Choice Requires="p14">
      <p:transition spd="slow" p14:dur="2000" advTm="207460"/>
    </mc:Choice>
    <mc:Fallback xmlns="">
      <p:transition spd="slow" advTm="20746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bg1">
                <a:lumMod val="95000"/>
              </a:schemeClr>
            </a:gs>
            <a:gs pos="74000">
              <a:schemeClr val="bg1">
                <a:lumMod val="85000"/>
              </a:schemeClr>
            </a:gs>
            <a:gs pos="83000">
              <a:schemeClr val="bg1">
                <a:lumMod val="75000"/>
              </a:schemeClr>
            </a:gs>
            <a:gs pos="100000">
              <a:schemeClr val="bg1">
                <a:lumMod val="50000"/>
              </a:schemeClr>
            </a:gs>
          </a:gsLst>
          <a:lin ang="5400000" scaled="1"/>
        </a:gradFill>
        <a:effectLst/>
      </p:bgPr>
    </p:bg>
    <p:spTree>
      <p:nvGrpSpPr>
        <p:cNvPr id="1" name="">
          <a:extLst>
            <a:ext uri="{FF2B5EF4-FFF2-40B4-BE49-F238E27FC236}">
              <a16:creationId xmlns:a16="http://schemas.microsoft.com/office/drawing/2014/main" id="{B1BE706B-7A54-401E-A547-96D0768EDC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B56381-11A3-6B63-1113-305F74A19449}"/>
              </a:ext>
            </a:extLst>
          </p:cNvPr>
          <p:cNvSpPr>
            <a:spLocks noGrp="1"/>
          </p:cNvSpPr>
          <p:nvPr>
            <p:ph type="title"/>
          </p:nvPr>
        </p:nvSpPr>
        <p:spPr>
          <a:xfrm>
            <a:off x="97834" y="0"/>
            <a:ext cx="11996331" cy="1325563"/>
          </a:xfrm>
        </p:spPr>
        <p:txBody>
          <a:bodyPr>
            <a:normAutofit/>
          </a:bodyPr>
          <a:lstStyle/>
          <a:p>
            <a:r>
              <a:rPr lang="en-US" b="1" dirty="0">
                <a:latin typeface="Times New Roman" panose="02020603050405020304" pitchFamily="18" charset="0"/>
                <a:cs typeface="Times New Roman" panose="02020603050405020304" pitchFamily="18" charset="0"/>
              </a:rPr>
              <a:t>The Go Maps:</a:t>
            </a:r>
            <a:endParaRPr lang="en-US" sz="4200" b="1"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7E2A9621-CA0E-FB63-AB81-7D17C00046F8}"/>
              </a:ext>
            </a:extLst>
          </p:cNvPr>
          <p:cNvSpPr/>
          <p:nvPr/>
        </p:nvSpPr>
        <p:spPr>
          <a:xfrm>
            <a:off x="274811" y="1193642"/>
            <a:ext cx="111760" cy="823323"/>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Rectangle 3">
            <a:extLst>
              <a:ext uri="{FF2B5EF4-FFF2-40B4-BE49-F238E27FC236}">
                <a16:creationId xmlns:a16="http://schemas.microsoft.com/office/drawing/2014/main" id="{85C0ED84-0F13-08A6-CB62-36F9C1D8CBC3}"/>
              </a:ext>
            </a:extLst>
          </p:cNvPr>
          <p:cNvSpPr/>
          <p:nvPr/>
        </p:nvSpPr>
        <p:spPr>
          <a:xfrm>
            <a:off x="351010" y="1193642"/>
            <a:ext cx="11743155" cy="823323"/>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A map is an unordered collection of key-value pairs (also called associative arrays, hash tables, or dictionaries).</a:t>
            </a:r>
          </a:p>
        </p:txBody>
      </p:sp>
      <p:pic>
        <p:nvPicPr>
          <p:cNvPr id="7" name="Picture 6">
            <a:extLst>
              <a:ext uri="{FF2B5EF4-FFF2-40B4-BE49-F238E27FC236}">
                <a16:creationId xmlns:a16="http://schemas.microsoft.com/office/drawing/2014/main" id="{112ACB55-D6A0-35B9-5AB5-F4BF5B8BEE89}"/>
              </a:ext>
            </a:extLst>
          </p:cNvPr>
          <p:cNvPicPr>
            <a:picLocks noChangeAspect="1"/>
          </p:cNvPicPr>
          <p:nvPr/>
        </p:nvPicPr>
        <p:blipFill>
          <a:blip r:embed="rId4"/>
          <a:stretch>
            <a:fillRect/>
          </a:stretch>
        </p:blipFill>
        <p:spPr>
          <a:xfrm>
            <a:off x="1075175" y="2137363"/>
            <a:ext cx="10259366" cy="4595034"/>
          </a:xfrm>
          <a:prstGeom prst="rect">
            <a:avLst/>
          </a:prstGeom>
        </p:spPr>
      </p:pic>
    </p:spTree>
    <p:custDataLst>
      <p:tags r:id="rId1"/>
    </p:custDataLst>
    <p:extLst>
      <p:ext uri="{BB962C8B-B14F-4D97-AF65-F5344CB8AC3E}">
        <p14:creationId xmlns:p14="http://schemas.microsoft.com/office/powerpoint/2010/main" val="3080670692"/>
      </p:ext>
    </p:extLst>
  </p:cSld>
  <p:clrMapOvr>
    <a:masterClrMapping/>
  </p:clrMapOvr>
  <mc:AlternateContent xmlns:mc="http://schemas.openxmlformats.org/markup-compatibility/2006" xmlns:p14="http://schemas.microsoft.com/office/powerpoint/2010/main">
    <mc:Choice Requires="p14">
      <p:transition spd="slow" p14:dur="2000" advTm="207460"/>
    </mc:Choice>
    <mc:Fallback xmlns="">
      <p:transition spd="slow" advTm="20746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bg1">
                <a:lumMod val="95000"/>
              </a:schemeClr>
            </a:gs>
            <a:gs pos="74000">
              <a:schemeClr val="bg1">
                <a:lumMod val="85000"/>
              </a:schemeClr>
            </a:gs>
            <a:gs pos="83000">
              <a:schemeClr val="bg1">
                <a:lumMod val="75000"/>
              </a:schemeClr>
            </a:gs>
            <a:gs pos="100000">
              <a:schemeClr val="bg1">
                <a:lumMod val="50000"/>
              </a:schemeClr>
            </a:gs>
          </a:gsLst>
          <a:lin ang="5400000" scaled="1"/>
        </a:gradFill>
        <a:effectLst/>
      </p:bgPr>
    </p:bg>
    <p:spTree>
      <p:nvGrpSpPr>
        <p:cNvPr id="1" name="">
          <a:extLst>
            <a:ext uri="{FF2B5EF4-FFF2-40B4-BE49-F238E27FC236}">
              <a16:creationId xmlns:a16="http://schemas.microsoft.com/office/drawing/2014/main" id="{80E3B30A-B100-C927-2877-B83BA9307C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DCBB5A-38B0-23EF-5CC3-75CB8A4D9D9C}"/>
              </a:ext>
            </a:extLst>
          </p:cNvPr>
          <p:cNvSpPr>
            <a:spLocks noGrp="1"/>
          </p:cNvSpPr>
          <p:nvPr>
            <p:ph type="title"/>
          </p:nvPr>
        </p:nvSpPr>
        <p:spPr>
          <a:xfrm>
            <a:off x="97834" y="0"/>
            <a:ext cx="11996331" cy="1325563"/>
          </a:xfrm>
        </p:spPr>
        <p:txBody>
          <a:bodyPr>
            <a:normAutofit/>
          </a:bodyPr>
          <a:lstStyle/>
          <a:p>
            <a:r>
              <a:rPr lang="en-US" b="1" dirty="0">
                <a:latin typeface="Times New Roman" panose="02020603050405020304" pitchFamily="18" charset="0"/>
                <a:cs typeface="Times New Roman" panose="02020603050405020304" pitchFamily="18" charset="0"/>
              </a:rPr>
              <a:t>The Go Maps:</a:t>
            </a:r>
            <a:endParaRPr lang="en-US" sz="4200"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1E668B82-F0FC-D8C9-8FA3-54736C729021}"/>
              </a:ext>
            </a:extLst>
          </p:cNvPr>
          <p:cNvPicPr>
            <a:picLocks noChangeAspect="1"/>
          </p:cNvPicPr>
          <p:nvPr/>
        </p:nvPicPr>
        <p:blipFill>
          <a:blip r:embed="rId4"/>
          <a:stretch>
            <a:fillRect/>
          </a:stretch>
        </p:blipFill>
        <p:spPr>
          <a:xfrm>
            <a:off x="653143" y="1116129"/>
            <a:ext cx="10862268" cy="5606218"/>
          </a:xfrm>
          <a:prstGeom prst="rect">
            <a:avLst/>
          </a:prstGeom>
        </p:spPr>
      </p:pic>
    </p:spTree>
    <p:custDataLst>
      <p:tags r:id="rId1"/>
    </p:custDataLst>
    <p:extLst>
      <p:ext uri="{BB962C8B-B14F-4D97-AF65-F5344CB8AC3E}">
        <p14:creationId xmlns:p14="http://schemas.microsoft.com/office/powerpoint/2010/main" val="1310358140"/>
      </p:ext>
    </p:extLst>
  </p:cSld>
  <p:clrMapOvr>
    <a:masterClrMapping/>
  </p:clrMapOvr>
  <mc:AlternateContent xmlns:mc="http://schemas.openxmlformats.org/markup-compatibility/2006" xmlns:p14="http://schemas.microsoft.com/office/powerpoint/2010/main">
    <mc:Choice Requires="p14">
      <p:transition spd="slow" p14:dur="2000" advTm="207460"/>
    </mc:Choice>
    <mc:Fallback xmlns="">
      <p:transition spd="slow" advTm="20746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bg1">
                <a:lumMod val="95000"/>
              </a:schemeClr>
            </a:gs>
            <a:gs pos="74000">
              <a:schemeClr val="bg1">
                <a:lumMod val="85000"/>
              </a:schemeClr>
            </a:gs>
            <a:gs pos="83000">
              <a:schemeClr val="bg1">
                <a:lumMod val="75000"/>
              </a:schemeClr>
            </a:gs>
            <a:gs pos="100000">
              <a:schemeClr val="bg1">
                <a:lumMod val="50000"/>
              </a:schemeClr>
            </a:gs>
          </a:gsLst>
          <a:lin ang="5400000" scaled="1"/>
        </a:gradFill>
        <a:effectLst/>
      </p:bgPr>
    </p:bg>
    <p:spTree>
      <p:nvGrpSpPr>
        <p:cNvPr id="1" name="">
          <a:extLst>
            <a:ext uri="{FF2B5EF4-FFF2-40B4-BE49-F238E27FC236}">
              <a16:creationId xmlns:a16="http://schemas.microsoft.com/office/drawing/2014/main" id="{600E4DDA-9973-AC36-D126-6F5BD42902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32D7F6-D855-ED20-33DE-8716DFE36F36}"/>
              </a:ext>
            </a:extLst>
          </p:cNvPr>
          <p:cNvSpPr>
            <a:spLocks noGrp="1"/>
          </p:cNvSpPr>
          <p:nvPr>
            <p:ph type="title"/>
          </p:nvPr>
        </p:nvSpPr>
        <p:spPr>
          <a:xfrm>
            <a:off x="97834" y="0"/>
            <a:ext cx="11996331" cy="1325563"/>
          </a:xfrm>
        </p:spPr>
        <p:txBody>
          <a:bodyPr>
            <a:normAutofit/>
          </a:bodyPr>
          <a:lstStyle/>
          <a:p>
            <a:r>
              <a:rPr lang="en-US" b="1" dirty="0">
                <a:latin typeface="Times New Roman" panose="02020603050405020304" pitchFamily="18" charset="0"/>
                <a:cs typeface="Times New Roman" panose="02020603050405020304" pitchFamily="18" charset="0"/>
              </a:rPr>
              <a:t>The Go Functions:</a:t>
            </a:r>
            <a:endParaRPr lang="en-US" sz="4200" b="1"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4ABC8D36-8386-C3E6-DF30-0644989E9180}"/>
              </a:ext>
            </a:extLst>
          </p:cNvPr>
          <p:cNvSpPr/>
          <p:nvPr/>
        </p:nvSpPr>
        <p:spPr>
          <a:xfrm>
            <a:off x="274811" y="1193642"/>
            <a:ext cx="111760" cy="823323"/>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Rectangle 3">
            <a:extLst>
              <a:ext uri="{FF2B5EF4-FFF2-40B4-BE49-F238E27FC236}">
                <a16:creationId xmlns:a16="http://schemas.microsoft.com/office/drawing/2014/main" id="{67EB49DD-EF5D-1357-2DCD-3E712DCC512E}"/>
              </a:ext>
            </a:extLst>
          </p:cNvPr>
          <p:cNvSpPr/>
          <p:nvPr/>
        </p:nvSpPr>
        <p:spPr>
          <a:xfrm>
            <a:off x="351010" y="1193642"/>
            <a:ext cx="11743155" cy="823323"/>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b="1" dirty="0">
                <a:solidFill>
                  <a:prstClr val="white"/>
                </a:solidFill>
                <a:latin typeface="Arial" panose="020B0604020202020204" pitchFamily="34" charset="0"/>
                <a:cs typeface="Arial" panose="020B0604020202020204" pitchFamily="34" charset="0"/>
              </a:rPr>
              <a:t>A function (also known as a procedure or a subroutine) is an independent section of code that maps zero or more input parameters to zero or more output parameters.</a:t>
            </a:r>
          </a:p>
        </p:txBody>
      </p:sp>
      <p:sp>
        <p:nvSpPr>
          <p:cNvPr id="5" name="Rectangle 4">
            <a:extLst>
              <a:ext uri="{FF2B5EF4-FFF2-40B4-BE49-F238E27FC236}">
                <a16:creationId xmlns:a16="http://schemas.microsoft.com/office/drawing/2014/main" id="{EB23024B-D183-EAD0-A556-474599D72CEA}"/>
              </a:ext>
            </a:extLst>
          </p:cNvPr>
          <p:cNvSpPr/>
          <p:nvPr/>
        </p:nvSpPr>
        <p:spPr>
          <a:xfrm>
            <a:off x="274811" y="2188429"/>
            <a:ext cx="111760" cy="823323"/>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Rectangle 5">
            <a:extLst>
              <a:ext uri="{FF2B5EF4-FFF2-40B4-BE49-F238E27FC236}">
                <a16:creationId xmlns:a16="http://schemas.microsoft.com/office/drawing/2014/main" id="{87723AA7-45BA-DC4B-F980-F0D119C81706}"/>
              </a:ext>
            </a:extLst>
          </p:cNvPr>
          <p:cNvSpPr/>
          <p:nvPr/>
        </p:nvSpPr>
        <p:spPr>
          <a:xfrm>
            <a:off x="351010" y="2188429"/>
            <a:ext cx="11743155" cy="823323"/>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b="1" dirty="0">
                <a:solidFill>
                  <a:prstClr val="white"/>
                </a:solidFill>
                <a:latin typeface="Arial" panose="020B0604020202020204" pitchFamily="34" charset="0"/>
                <a:cs typeface="Arial" panose="020B0604020202020204" pitchFamily="34" charset="0"/>
              </a:rPr>
              <a:t>Functions start with the keyword </a:t>
            </a:r>
            <a:r>
              <a:rPr lang="en-US" b="1" dirty="0" err="1">
                <a:solidFill>
                  <a:prstClr val="white"/>
                </a:solidFill>
                <a:latin typeface="Arial" panose="020B0604020202020204" pitchFamily="34" charset="0"/>
                <a:cs typeface="Arial" panose="020B0604020202020204" pitchFamily="34" charset="0"/>
              </a:rPr>
              <a:t>func</a:t>
            </a:r>
            <a:r>
              <a:rPr lang="en-US" b="1" dirty="0">
                <a:solidFill>
                  <a:prstClr val="white"/>
                </a:solidFill>
                <a:latin typeface="Arial" panose="020B0604020202020204" pitchFamily="34" charset="0"/>
                <a:cs typeface="Arial" panose="020B0604020202020204" pitchFamily="34" charset="0"/>
              </a:rPr>
              <a:t>, followed by the function’s name. The parameters</a:t>
            </a:r>
            <a:r>
              <a:rPr lang="ar-EG" b="1" dirty="0">
                <a:solidFill>
                  <a:prstClr val="white"/>
                </a:solidFill>
                <a:latin typeface="Arial" panose="020B0604020202020204" pitchFamily="34" charset="0"/>
                <a:cs typeface="Arial" panose="020B0604020202020204" pitchFamily="34" charset="0"/>
              </a:rPr>
              <a:t> </a:t>
            </a:r>
            <a:r>
              <a:rPr lang="en-US" b="1" dirty="0">
                <a:solidFill>
                  <a:prstClr val="white"/>
                </a:solidFill>
                <a:latin typeface="Arial" panose="020B0604020202020204" pitchFamily="34" charset="0"/>
                <a:cs typeface="Arial" panose="020B0604020202020204" pitchFamily="34" charset="0"/>
              </a:rPr>
              <a:t>(inputs) of the function are defined like this:</a:t>
            </a:r>
            <a:r>
              <a:rPr lang="ar-EG" b="1" dirty="0">
                <a:solidFill>
                  <a:prstClr val="white"/>
                </a:solidFill>
                <a:latin typeface="Arial" panose="020B0604020202020204" pitchFamily="34" charset="0"/>
                <a:cs typeface="Arial" panose="020B0604020202020204" pitchFamily="34" charset="0"/>
              </a:rPr>
              <a:t> </a:t>
            </a:r>
            <a:r>
              <a:rPr lang="en-US" b="1" dirty="0">
                <a:solidFill>
                  <a:prstClr val="white"/>
                </a:solidFill>
                <a:latin typeface="Arial" panose="020B0604020202020204" pitchFamily="34" charset="0"/>
                <a:cs typeface="Arial" panose="020B0604020202020204" pitchFamily="34" charset="0"/>
              </a:rPr>
              <a:t>name type, name type</a:t>
            </a:r>
          </a:p>
        </p:txBody>
      </p:sp>
      <p:pic>
        <p:nvPicPr>
          <p:cNvPr id="13" name="Picture 12">
            <a:extLst>
              <a:ext uri="{FF2B5EF4-FFF2-40B4-BE49-F238E27FC236}">
                <a16:creationId xmlns:a16="http://schemas.microsoft.com/office/drawing/2014/main" id="{B65986FD-867F-6E98-07F8-2F414DFE12EC}"/>
              </a:ext>
            </a:extLst>
          </p:cNvPr>
          <p:cNvPicPr>
            <a:picLocks noChangeAspect="1"/>
          </p:cNvPicPr>
          <p:nvPr/>
        </p:nvPicPr>
        <p:blipFill>
          <a:blip r:embed="rId4"/>
          <a:stretch>
            <a:fillRect/>
          </a:stretch>
        </p:blipFill>
        <p:spPr>
          <a:xfrm>
            <a:off x="417005" y="3210607"/>
            <a:ext cx="11357988" cy="3441402"/>
          </a:xfrm>
          <a:prstGeom prst="rect">
            <a:avLst/>
          </a:prstGeom>
        </p:spPr>
      </p:pic>
    </p:spTree>
    <p:custDataLst>
      <p:tags r:id="rId1"/>
    </p:custDataLst>
    <p:extLst>
      <p:ext uri="{BB962C8B-B14F-4D97-AF65-F5344CB8AC3E}">
        <p14:creationId xmlns:p14="http://schemas.microsoft.com/office/powerpoint/2010/main" val="2222987158"/>
      </p:ext>
    </p:extLst>
  </p:cSld>
  <p:clrMapOvr>
    <a:masterClrMapping/>
  </p:clrMapOvr>
  <mc:AlternateContent xmlns:mc="http://schemas.openxmlformats.org/markup-compatibility/2006" xmlns:p14="http://schemas.microsoft.com/office/powerpoint/2010/main">
    <mc:Choice Requires="p14">
      <p:transition spd="slow" p14:dur="2000" advTm="207460"/>
    </mc:Choice>
    <mc:Fallback xmlns="">
      <p:transition spd="slow" advTm="20746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bg1">
                <a:lumMod val="95000"/>
              </a:schemeClr>
            </a:gs>
            <a:gs pos="74000">
              <a:schemeClr val="bg1">
                <a:lumMod val="85000"/>
              </a:schemeClr>
            </a:gs>
            <a:gs pos="83000">
              <a:schemeClr val="bg1">
                <a:lumMod val="75000"/>
              </a:schemeClr>
            </a:gs>
            <a:gs pos="100000">
              <a:schemeClr val="bg1">
                <a:lumMod val="50000"/>
              </a:schemeClr>
            </a:gs>
          </a:gsLst>
          <a:lin ang="5400000" scaled="1"/>
        </a:gradFill>
        <a:effectLst/>
      </p:bgPr>
    </p:bg>
    <p:spTree>
      <p:nvGrpSpPr>
        <p:cNvPr id="1" name="">
          <a:extLst>
            <a:ext uri="{FF2B5EF4-FFF2-40B4-BE49-F238E27FC236}">
              <a16:creationId xmlns:a16="http://schemas.microsoft.com/office/drawing/2014/main" id="{B1E58E7C-1DFF-7B53-8F25-2518F618C5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EEF861-F140-19FF-ACEF-D18E7B183437}"/>
              </a:ext>
            </a:extLst>
          </p:cNvPr>
          <p:cNvSpPr>
            <a:spLocks noGrp="1"/>
          </p:cNvSpPr>
          <p:nvPr>
            <p:ph type="title"/>
          </p:nvPr>
        </p:nvSpPr>
        <p:spPr>
          <a:xfrm>
            <a:off x="97834" y="0"/>
            <a:ext cx="11996331" cy="1325563"/>
          </a:xfrm>
        </p:spPr>
        <p:txBody>
          <a:bodyPr>
            <a:normAutofit/>
          </a:bodyPr>
          <a:lstStyle/>
          <a:p>
            <a:r>
              <a:rPr lang="en-US" b="1" dirty="0">
                <a:latin typeface="Times New Roman" panose="02020603050405020304" pitchFamily="18" charset="0"/>
                <a:cs typeface="Times New Roman" panose="02020603050405020304" pitchFamily="18" charset="0"/>
              </a:rPr>
              <a:t>The Go Functions:</a:t>
            </a:r>
            <a:endParaRPr lang="en-US" sz="4200" b="1"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11B4C868-2E96-2149-5F36-198E006A2F8A}"/>
              </a:ext>
            </a:extLst>
          </p:cNvPr>
          <p:cNvPicPr>
            <a:picLocks noChangeAspect="1"/>
          </p:cNvPicPr>
          <p:nvPr/>
        </p:nvPicPr>
        <p:blipFill>
          <a:blip r:embed="rId4"/>
          <a:srcRect l="5238" r="5599"/>
          <a:stretch>
            <a:fillRect/>
          </a:stretch>
        </p:blipFill>
        <p:spPr>
          <a:xfrm>
            <a:off x="97834" y="1047784"/>
            <a:ext cx="4320792" cy="4038950"/>
          </a:xfrm>
          <a:prstGeom prst="rect">
            <a:avLst/>
          </a:prstGeom>
        </p:spPr>
      </p:pic>
      <p:pic>
        <p:nvPicPr>
          <p:cNvPr id="10" name="Picture 9">
            <a:extLst>
              <a:ext uri="{FF2B5EF4-FFF2-40B4-BE49-F238E27FC236}">
                <a16:creationId xmlns:a16="http://schemas.microsoft.com/office/drawing/2014/main" id="{B90C95CC-C135-35F9-5F8A-CA589D0996C7}"/>
              </a:ext>
            </a:extLst>
          </p:cNvPr>
          <p:cNvPicPr>
            <a:picLocks noChangeAspect="1"/>
          </p:cNvPicPr>
          <p:nvPr/>
        </p:nvPicPr>
        <p:blipFill>
          <a:blip r:embed="rId5"/>
          <a:srcRect r="5261"/>
          <a:stretch>
            <a:fillRect/>
          </a:stretch>
        </p:blipFill>
        <p:spPr>
          <a:xfrm>
            <a:off x="4642344" y="1047784"/>
            <a:ext cx="6260123" cy="5532599"/>
          </a:xfrm>
          <a:prstGeom prst="rect">
            <a:avLst/>
          </a:prstGeom>
        </p:spPr>
      </p:pic>
      <p:pic>
        <p:nvPicPr>
          <p:cNvPr id="12" name="Picture 11">
            <a:extLst>
              <a:ext uri="{FF2B5EF4-FFF2-40B4-BE49-F238E27FC236}">
                <a16:creationId xmlns:a16="http://schemas.microsoft.com/office/drawing/2014/main" id="{7D297843-F9C3-A4F3-5AF2-65B6CDE95DFC}"/>
              </a:ext>
            </a:extLst>
          </p:cNvPr>
          <p:cNvPicPr>
            <a:picLocks noChangeAspect="1"/>
          </p:cNvPicPr>
          <p:nvPr/>
        </p:nvPicPr>
        <p:blipFill>
          <a:blip r:embed="rId6"/>
          <a:stretch>
            <a:fillRect/>
          </a:stretch>
        </p:blipFill>
        <p:spPr>
          <a:xfrm>
            <a:off x="8058778" y="3262929"/>
            <a:ext cx="4035387" cy="3574975"/>
          </a:xfrm>
          <a:prstGeom prst="rect">
            <a:avLst/>
          </a:prstGeom>
        </p:spPr>
      </p:pic>
    </p:spTree>
    <p:custDataLst>
      <p:tags r:id="rId1"/>
    </p:custDataLst>
    <p:extLst>
      <p:ext uri="{BB962C8B-B14F-4D97-AF65-F5344CB8AC3E}">
        <p14:creationId xmlns:p14="http://schemas.microsoft.com/office/powerpoint/2010/main" val="2560082921"/>
      </p:ext>
    </p:extLst>
  </p:cSld>
  <p:clrMapOvr>
    <a:masterClrMapping/>
  </p:clrMapOvr>
  <mc:AlternateContent xmlns:mc="http://schemas.openxmlformats.org/markup-compatibility/2006" xmlns:p14="http://schemas.microsoft.com/office/powerpoint/2010/main">
    <mc:Choice Requires="p14">
      <p:transition spd="slow" p14:dur="2000" advTm="207460"/>
    </mc:Choice>
    <mc:Fallback xmlns="">
      <p:transition spd="slow" advTm="20746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bg1">
                <a:lumMod val="95000"/>
              </a:schemeClr>
            </a:gs>
            <a:gs pos="74000">
              <a:schemeClr val="bg1">
                <a:lumMod val="85000"/>
              </a:schemeClr>
            </a:gs>
            <a:gs pos="83000">
              <a:schemeClr val="bg1">
                <a:lumMod val="75000"/>
              </a:schemeClr>
            </a:gs>
            <a:gs pos="100000">
              <a:schemeClr val="bg1">
                <a:lumMod val="50000"/>
              </a:schemeClr>
            </a:gs>
          </a:gsLst>
          <a:lin ang="5400000" scaled="1"/>
        </a:gradFill>
        <a:effectLst/>
      </p:bgPr>
    </p:bg>
    <p:spTree>
      <p:nvGrpSpPr>
        <p:cNvPr id="1" name="">
          <a:extLst>
            <a:ext uri="{FF2B5EF4-FFF2-40B4-BE49-F238E27FC236}">
              <a16:creationId xmlns:a16="http://schemas.microsoft.com/office/drawing/2014/main" id="{F039ECFA-8D00-1BDC-389A-199EC19101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FAF0E9-EC84-5142-87FE-21771E3668BA}"/>
              </a:ext>
            </a:extLst>
          </p:cNvPr>
          <p:cNvSpPr>
            <a:spLocks noGrp="1"/>
          </p:cNvSpPr>
          <p:nvPr>
            <p:ph type="title"/>
          </p:nvPr>
        </p:nvSpPr>
        <p:spPr>
          <a:xfrm>
            <a:off x="97834" y="0"/>
            <a:ext cx="11996331" cy="1325563"/>
          </a:xfrm>
        </p:spPr>
        <p:txBody>
          <a:bodyPr>
            <a:normAutofit/>
          </a:bodyPr>
          <a:lstStyle/>
          <a:p>
            <a:r>
              <a:rPr lang="en-US" b="1" dirty="0">
                <a:latin typeface="Times New Roman" panose="02020603050405020304" pitchFamily="18" charset="0"/>
                <a:cs typeface="Times New Roman" panose="02020603050405020304" pitchFamily="18" charset="0"/>
              </a:rPr>
              <a:t>The Go Functions:</a:t>
            </a:r>
            <a:endParaRPr lang="en-US" sz="42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D9BCAA6-BF99-30C7-5B74-6D6D86228E56}"/>
              </a:ext>
            </a:extLst>
          </p:cNvPr>
          <p:cNvPicPr>
            <a:picLocks noChangeAspect="1"/>
          </p:cNvPicPr>
          <p:nvPr/>
        </p:nvPicPr>
        <p:blipFill>
          <a:blip r:embed="rId4"/>
          <a:stretch>
            <a:fillRect/>
          </a:stretch>
        </p:blipFill>
        <p:spPr>
          <a:xfrm>
            <a:off x="443801" y="1034979"/>
            <a:ext cx="11304396" cy="5747658"/>
          </a:xfrm>
          <a:prstGeom prst="rect">
            <a:avLst/>
          </a:prstGeom>
        </p:spPr>
      </p:pic>
      <p:sp>
        <p:nvSpPr>
          <p:cNvPr id="5" name="TextBox 4">
            <a:extLst>
              <a:ext uri="{FF2B5EF4-FFF2-40B4-BE49-F238E27FC236}">
                <a16:creationId xmlns:a16="http://schemas.microsoft.com/office/drawing/2014/main" id="{1B649483-8980-B466-2D2A-AB28B423720C}"/>
              </a:ext>
            </a:extLst>
          </p:cNvPr>
          <p:cNvSpPr txBox="1"/>
          <p:nvPr/>
        </p:nvSpPr>
        <p:spPr>
          <a:xfrm>
            <a:off x="3328652" y="5963693"/>
            <a:ext cx="8765512" cy="830997"/>
          </a:xfrm>
          <a:prstGeom prst="rect">
            <a:avLst/>
          </a:prstGeom>
          <a:noFill/>
        </p:spPr>
        <p:txBody>
          <a:bodyPr wrap="square" rtlCol="0">
            <a:spAutoFit/>
          </a:bodyPr>
          <a:lstStyle/>
          <a:p>
            <a:r>
              <a:rPr lang="en-US" sz="1600" b="1" dirty="0">
                <a:solidFill>
                  <a:schemeClr val="bg1"/>
                </a:solidFill>
                <a:latin typeface="Arial" panose="020B0604020202020204" pitchFamily="34" charset="0"/>
                <a:cs typeface="Arial" panose="020B0604020202020204" pitchFamily="34" charset="0"/>
              </a:rPr>
              <a:t>By using an ellipsis (...) before the type name of the last parameter, you can indicate that it takes zero or more of those parameters. In this case, we take zero or more </a:t>
            </a:r>
            <a:r>
              <a:rPr lang="en-US" sz="1600" b="1" dirty="0" err="1">
                <a:solidFill>
                  <a:schemeClr val="bg1"/>
                </a:solidFill>
                <a:latin typeface="Arial" panose="020B0604020202020204" pitchFamily="34" charset="0"/>
                <a:cs typeface="Arial" panose="020B0604020202020204" pitchFamily="34" charset="0"/>
              </a:rPr>
              <a:t>ints</a:t>
            </a:r>
            <a:r>
              <a:rPr lang="en-US" sz="1600" b="1" dirty="0">
                <a:solidFill>
                  <a:schemeClr val="bg1"/>
                </a:solidFill>
                <a:latin typeface="Arial" panose="020B0604020202020204" pitchFamily="34" charset="0"/>
                <a:cs typeface="Arial" panose="020B0604020202020204" pitchFamily="34" charset="0"/>
              </a:rPr>
              <a:t>. We invoke the function like any other function except we can pass as many </a:t>
            </a:r>
            <a:r>
              <a:rPr lang="en-US" sz="1600" b="1" dirty="0" err="1">
                <a:solidFill>
                  <a:schemeClr val="bg1"/>
                </a:solidFill>
                <a:latin typeface="Arial" panose="020B0604020202020204" pitchFamily="34" charset="0"/>
                <a:cs typeface="Arial" panose="020B0604020202020204" pitchFamily="34" charset="0"/>
              </a:rPr>
              <a:t>ints</a:t>
            </a:r>
            <a:r>
              <a:rPr lang="en-US" sz="1600" b="1" dirty="0">
                <a:solidFill>
                  <a:schemeClr val="bg1"/>
                </a:solidFill>
                <a:latin typeface="Arial" panose="020B0604020202020204" pitchFamily="34" charset="0"/>
                <a:cs typeface="Arial" panose="020B0604020202020204" pitchFamily="34" charset="0"/>
              </a:rPr>
              <a:t> as we want.</a:t>
            </a:r>
          </a:p>
        </p:txBody>
      </p:sp>
    </p:spTree>
    <p:custDataLst>
      <p:tags r:id="rId1"/>
    </p:custDataLst>
    <p:extLst>
      <p:ext uri="{BB962C8B-B14F-4D97-AF65-F5344CB8AC3E}">
        <p14:creationId xmlns:p14="http://schemas.microsoft.com/office/powerpoint/2010/main" val="1832849627"/>
      </p:ext>
    </p:extLst>
  </p:cSld>
  <p:clrMapOvr>
    <a:masterClrMapping/>
  </p:clrMapOvr>
  <mc:AlternateContent xmlns:mc="http://schemas.openxmlformats.org/markup-compatibility/2006" xmlns:p14="http://schemas.microsoft.com/office/powerpoint/2010/main">
    <mc:Choice Requires="p14">
      <p:transition spd="slow" p14:dur="2000" advTm="207460"/>
    </mc:Choice>
    <mc:Fallback xmlns="">
      <p:transition spd="slow" advTm="20746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bg1">
                <a:lumMod val="95000"/>
              </a:schemeClr>
            </a:gs>
            <a:gs pos="74000">
              <a:schemeClr val="bg1">
                <a:lumMod val="85000"/>
              </a:schemeClr>
            </a:gs>
            <a:gs pos="83000">
              <a:schemeClr val="bg1">
                <a:lumMod val="75000"/>
              </a:schemeClr>
            </a:gs>
            <a:gs pos="100000">
              <a:schemeClr val="bg1">
                <a:lumMod val="50000"/>
              </a:schemeClr>
            </a:gs>
          </a:gsLst>
          <a:lin ang="5400000" scaled="1"/>
        </a:gradFill>
        <a:effectLst/>
      </p:bgPr>
    </p:bg>
    <p:spTree>
      <p:nvGrpSpPr>
        <p:cNvPr id="1" name="">
          <a:extLst>
            <a:ext uri="{FF2B5EF4-FFF2-40B4-BE49-F238E27FC236}">
              <a16:creationId xmlns:a16="http://schemas.microsoft.com/office/drawing/2014/main" id="{219904D8-742B-5177-2DE8-7517F10B82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513946-66A0-8112-FC17-49D766B51EFF}"/>
              </a:ext>
            </a:extLst>
          </p:cNvPr>
          <p:cNvSpPr>
            <a:spLocks noGrp="1"/>
          </p:cNvSpPr>
          <p:nvPr>
            <p:ph type="title"/>
          </p:nvPr>
        </p:nvSpPr>
        <p:spPr>
          <a:xfrm>
            <a:off x="9345" y="35221"/>
            <a:ext cx="11996331" cy="1325563"/>
          </a:xfrm>
        </p:spPr>
        <p:txBody>
          <a:bodyPr>
            <a:normAutofit/>
          </a:bodyPr>
          <a:lstStyle/>
          <a:p>
            <a:r>
              <a:rPr lang="en-US" b="1" dirty="0">
                <a:latin typeface="Times New Roman" panose="02020603050405020304" pitchFamily="18" charset="0"/>
                <a:cs typeface="Times New Roman" panose="02020603050405020304" pitchFamily="18" charset="0"/>
              </a:rPr>
              <a:t>Exercises:</a:t>
            </a:r>
            <a:endParaRPr lang="en-US" sz="4200" b="1"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53E501EB-53CE-4B42-F140-5E045E877F86}"/>
              </a:ext>
            </a:extLst>
          </p:cNvPr>
          <p:cNvSpPr/>
          <p:nvPr/>
        </p:nvSpPr>
        <p:spPr>
          <a:xfrm>
            <a:off x="148223" y="1148024"/>
            <a:ext cx="111760" cy="946355"/>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Rectangle 4">
            <a:extLst>
              <a:ext uri="{FF2B5EF4-FFF2-40B4-BE49-F238E27FC236}">
                <a16:creationId xmlns:a16="http://schemas.microsoft.com/office/drawing/2014/main" id="{659D6494-074B-E6B7-86CC-B22A19305BB9}"/>
              </a:ext>
            </a:extLst>
          </p:cNvPr>
          <p:cNvSpPr/>
          <p:nvPr/>
        </p:nvSpPr>
        <p:spPr>
          <a:xfrm>
            <a:off x="224422" y="1148024"/>
            <a:ext cx="11743155" cy="946355"/>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Implement the Matrix operations: Sum, Subtract, Multiply, Apply Sigmoid, </a:t>
            </a:r>
            <a:r>
              <a:rPr kumimoji="0" lang="en-US" sz="1800" b="1"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Relu</a:t>
            </a:r>
            <a:r>
              <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and Tanh</a:t>
            </a:r>
          </a:p>
        </p:txBody>
      </p:sp>
      <p:sp>
        <p:nvSpPr>
          <p:cNvPr id="8" name="Rectangle 7">
            <a:extLst>
              <a:ext uri="{FF2B5EF4-FFF2-40B4-BE49-F238E27FC236}">
                <a16:creationId xmlns:a16="http://schemas.microsoft.com/office/drawing/2014/main" id="{BF842B50-8929-4E32-F544-AB1379412F13}"/>
              </a:ext>
            </a:extLst>
          </p:cNvPr>
          <p:cNvSpPr/>
          <p:nvPr/>
        </p:nvSpPr>
        <p:spPr>
          <a:xfrm>
            <a:off x="148223" y="2308230"/>
            <a:ext cx="111760" cy="946355"/>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Rectangle 8">
            <a:extLst>
              <a:ext uri="{FF2B5EF4-FFF2-40B4-BE49-F238E27FC236}">
                <a16:creationId xmlns:a16="http://schemas.microsoft.com/office/drawing/2014/main" id="{BB6A827E-67CE-389C-042C-7BC70F255812}"/>
              </a:ext>
            </a:extLst>
          </p:cNvPr>
          <p:cNvSpPr/>
          <p:nvPr/>
        </p:nvSpPr>
        <p:spPr>
          <a:xfrm>
            <a:off x="224422" y="2308230"/>
            <a:ext cx="11743155" cy="946355"/>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Dynamic Input with Slices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Task: Read integers until EOF (or until a negative number) into a [ ]int. Then: Print the slice. Print its </a:t>
            </a:r>
            <a:r>
              <a:rPr kumimoji="0" lang="en-US" sz="1800" b="1"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len</a:t>
            </a:r>
            <a:r>
              <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and cap after each append (so students can see capacity growth).</a:t>
            </a:r>
          </a:p>
        </p:txBody>
      </p:sp>
      <p:sp>
        <p:nvSpPr>
          <p:cNvPr id="7" name="Rectangle 6">
            <a:extLst>
              <a:ext uri="{FF2B5EF4-FFF2-40B4-BE49-F238E27FC236}">
                <a16:creationId xmlns:a16="http://schemas.microsoft.com/office/drawing/2014/main" id="{744942A2-6970-7F4E-BBA4-2137578FC2D9}"/>
              </a:ext>
            </a:extLst>
          </p:cNvPr>
          <p:cNvSpPr/>
          <p:nvPr/>
        </p:nvSpPr>
        <p:spPr>
          <a:xfrm>
            <a:off x="148223" y="3468436"/>
            <a:ext cx="111760" cy="946355"/>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31EC97D3-AA81-FFCE-F427-3089ABDA60A3}"/>
              </a:ext>
            </a:extLst>
          </p:cNvPr>
          <p:cNvSpPr/>
          <p:nvPr/>
        </p:nvSpPr>
        <p:spPr>
          <a:xfrm>
            <a:off x="224422" y="3468436"/>
            <a:ext cx="11743155" cy="946355"/>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Given a sorted slice of </a:t>
            </a:r>
            <a:r>
              <a:rPr kumimoji="0" lang="en-US" sz="1800" b="1"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ints</a:t>
            </a:r>
            <a:r>
              <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t>
            </a:r>
            <a:r>
              <a:rPr kumimoji="0" lang="en-US" sz="1800" b="1"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nums</a:t>
            </a:r>
            <a:r>
              <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remove duplicates in place and return the new logical length</a:t>
            </a:r>
          </a:p>
        </p:txBody>
      </p:sp>
      <p:sp>
        <p:nvSpPr>
          <p:cNvPr id="11" name="Rectangle 10">
            <a:extLst>
              <a:ext uri="{FF2B5EF4-FFF2-40B4-BE49-F238E27FC236}">
                <a16:creationId xmlns:a16="http://schemas.microsoft.com/office/drawing/2014/main" id="{4B796F7F-9099-E608-F431-C1A71E6C762F}"/>
              </a:ext>
            </a:extLst>
          </p:cNvPr>
          <p:cNvSpPr/>
          <p:nvPr/>
        </p:nvSpPr>
        <p:spPr>
          <a:xfrm>
            <a:off x="148223" y="4628642"/>
            <a:ext cx="111760" cy="946355"/>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7C6C193D-772C-02CF-4754-3254F524B23B}"/>
              </a:ext>
            </a:extLst>
          </p:cNvPr>
          <p:cNvSpPr/>
          <p:nvPr/>
        </p:nvSpPr>
        <p:spPr>
          <a:xfrm>
            <a:off x="224422" y="4628642"/>
            <a:ext cx="11743155" cy="946355"/>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Given a sentence, split into words where each word maps to a slice of positions where it appears (0-based index)</a:t>
            </a:r>
          </a:p>
        </p:txBody>
      </p:sp>
    </p:spTree>
    <p:custDataLst>
      <p:tags r:id="rId1"/>
    </p:custDataLst>
    <p:extLst>
      <p:ext uri="{BB962C8B-B14F-4D97-AF65-F5344CB8AC3E}">
        <p14:creationId xmlns:p14="http://schemas.microsoft.com/office/powerpoint/2010/main" val="1701596314"/>
      </p:ext>
    </p:extLst>
  </p:cSld>
  <p:clrMapOvr>
    <a:masterClrMapping/>
  </p:clrMapOvr>
  <mc:AlternateContent xmlns:mc="http://schemas.openxmlformats.org/markup-compatibility/2006" xmlns:p14="http://schemas.microsoft.com/office/powerpoint/2010/main">
    <mc:Choice Requires="p14">
      <p:transition spd="slow" p14:dur="2000" advTm="207460"/>
    </mc:Choice>
    <mc:Fallback xmlns="">
      <p:transition spd="slow" advTm="20746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bg1">
                <a:lumMod val="95000"/>
              </a:schemeClr>
            </a:gs>
            <a:gs pos="74000">
              <a:schemeClr val="bg1">
                <a:lumMod val="85000"/>
              </a:schemeClr>
            </a:gs>
            <a:gs pos="83000">
              <a:schemeClr val="bg1">
                <a:lumMod val="75000"/>
              </a:schemeClr>
            </a:gs>
            <a:gs pos="100000">
              <a:schemeClr val="bg1">
                <a:lumMod val="50000"/>
              </a:schemeClr>
            </a:gs>
          </a:gsLst>
          <a:lin ang="5400000" scaled="1"/>
        </a:gradFill>
        <a:effectLst/>
      </p:bgPr>
    </p:bg>
    <p:spTree>
      <p:nvGrpSpPr>
        <p:cNvPr id="1" name="">
          <a:extLst>
            <a:ext uri="{FF2B5EF4-FFF2-40B4-BE49-F238E27FC236}">
              <a16:creationId xmlns:a16="http://schemas.microsoft.com/office/drawing/2014/main" id="{D77B2721-8D14-48D0-B48C-A94102538A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D1CCC5-C851-3C04-8CFB-DE103085BA31}"/>
              </a:ext>
            </a:extLst>
          </p:cNvPr>
          <p:cNvSpPr>
            <a:spLocks noGrp="1"/>
          </p:cNvSpPr>
          <p:nvPr>
            <p:ph type="title"/>
          </p:nvPr>
        </p:nvSpPr>
        <p:spPr>
          <a:xfrm>
            <a:off x="9345" y="35221"/>
            <a:ext cx="11996331" cy="1325563"/>
          </a:xfrm>
        </p:spPr>
        <p:txBody>
          <a:bodyPr>
            <a:normAutofit/>
          </a:bodyPr>
          <a:lstStyle/>
          <a:p>
            <a:r>
              <a:rPr lang="en-US" b="1" dirty="0">
                <a:latin typeface="Times New Roman" panose="02020603050405020304" pitchFamily="18" charset="0"/>
                <a:cs typeface="Times New Roman" panose="02020603050405020304" pitchFamily="18" charset="0"/>
              </a:rPr>
              <a:t>Exercises:</a:t>
            </a:r>
            <a:endParaRPr lang="en-US" sz="4200" b="1"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05487C32-9A08-8977-EA40-C64FBE5E8DFE}"/>
              </a:ext>
            </a:extLst>
          </p:cNvPr>
          <p:cNvSpPr/>
          <p:nvPr/>
        </p:nvSpPr>
        <p:spPr>
          <a:xfrm>
            <a:off x="148223" y="1148024"/>
            <a:ext cx="111760" cy="946355"/>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Rectangle 4">
            <a:extLst>
              <a:ext uri="{FF2B5EF4-FFF2-40B4-BE49-F238E27FC236}">
                <a16:creationId xmlns:a16="http://schemas.microsoft.com/office/drawing/2014/main" id="{AA95E31E-645B-D27C-3F31-99D8831DEC40}"/>
              </a:ext>
            </a:extLst>
          </p:cNvPr>
          <p:cNvSpPr/>
          <p:nvPr/>
        </p:nvSpPr>
        <p:spPr>
          <a:xfrm>
            <a:off x="224422" y="1148024"/>
            <a:ext cx="11743155" cy="946355"/>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Solve the sum of digits using recursion.</a:t>
            </a:r>
          </a:p>
        </p:txBody>
      </p:sp>
      <p:sp>
        <p:nvSpPr>
          <p:cNvPr id="8" name="Rectangle 7">
            <a:extLst>
              <a:ext uri="{FF2B5EF4-FFF2-40B4-BE49-F238E27FC236}">
                <a16:creationId xmlns:a16="http://schemas.microsoft.com/office/drawing/2014/main" id="{B68C4D1E-20BA-4DF9-E50B-E5B2B98AAA65}"/>
              </a:ext>
            </a:extLst>
          </p:cNvPr>
          <p:cNvSpPr/>
          <p:nvPr/>
        </p:nvSpPr>
        <p:spPr>
          <a:xfrm>
            <a:off x="148223" y="2308230"/>
            <a:ext cx="111760" cy="2213528"/>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Rectangle 8">
            <a:extLst>
              <a:ext uri="{FF2B5EF4-FFF2-40B4-BE49-F238E27FC236}">
                <a16:creationId xmlns:a16="http://schemas.microsoft.com/office/drawing/2014/main" id="{ADFE2A17-56EF-D7EF-2179-01B54A21A228}"/>
              </a:ext>
            </a:extLst>
          </p:cNvPr>
          <p:cNvSpPr/>
          <p:nvPr/>
        </p:nvSpPr>
        <p:spPr>
          <a:xfrm>
            <a:off x="224422" y="2308230"/>
            <a:ext cx="11743155" cy="2213528"/>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Write recursive </a:t>
            </a:r>
            <a:r>
              <a:rPr kumimoji="0" lang="en-US" sz="1800" b="1"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IndexOf</a:t>
            </a:r>
            <a:r>
              <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a:t>
            </a:r>
            <a:r>
              <a:rPr kumimoji="0" lang="en-US" sz="1800" b="1"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arr</a:t>
            </a:r>
            <a:r>
              <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[]int, target int, </a:t>
            </a:r>
            <a:r>
              <a:rPr kumimoji="0" lang="en-US" sz="1800" b="1"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i</a:t>
            </a:r>
            <a:r>
              <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int) int finding first occurrence starting at index </a:t>
            </a:r>
            <a:r>
              <a:rPr kumimoji="0" lang="en-US" sz="1800" b="1"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i</a:t>
            </a:r>
            <a:r>
              <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Return -1 if not found. No loops allowed.</a:t>
            </a:r>
          </a:p>
          <a:p>
            <a:pPr lvl="0">
              <a:defRPr/>
            </a:pPr>
            <a:r>
              <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main: Test [1,3,3,2,5] searching for 3 from different start positions.</a:t>
            </a:r>
            <a:br>
              <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br>
            <a:r>
              <a:rPr lang="en-US" b="1" dirty="0" err="1">
                <a:solidFill>
                  <a:prstClr val="white"/>
                </a:solidFill>
                <a:latin typeface="Arial" panose="020B0604020202020204" pitchFamily="34" charset="0"/>
                <a:cs typeface="Arial" panose="020B0604020202020204" pitchFamily="34" charset="0"/>
              </a:rPr>
              <a:t>IndexOf</a:t>
            </a:r>
            <a:r>
              <a:rPr lang="en-US" b="1" dirty="0">
                <a:solidFill>
                  <a:prstClr val="white"/>
                </a:solidFill>
                <a:latin typeface="Arial" panose="020B0604020202020204" pitchFamily="34" charset="0"/>
                <a:cs typeface="Arial" panose="020B0604020202020204" pitchFamily="34" charset="0"/>
              </a:rPr>
              <a:t> [1 3 3 2 5], target 3, start 0 -&gt; 1</a:t>
            </a:r>
            <a:br>
              <a:rPr lang="en-US" b="1" dirty="0">
                <a:solidFill>
                  <a:prstClr val="white"/>
                </a:solidFill>
                <a:latin typeface="Arial" panose="020B0604020202020204" pitchFamily="34" charset="0"/>
                <a:cs typeface="Arial" panose="020B0604020202020204" pitchFamily="34" charset="0"/>
              </a:rPr>
            </a:br>
            <a:r>
              <a:rPr lang="en-US" b="1" dirty="0" err="1">
                <a:solidFill>
                  <a:prstClr val="white"/>
                </a:solidFill>
                <a:latin typeface="Arial" panose="020B0604020202020204" pitchFamily="34" charset="0"/>
                <a:cs typeface="Arial" panose="020B0604020202020204" pitchFamily="34" charset="0"/>
              </a:rPr>
              <a:t>IndexOf</a:t>
            </a:r>
            <a:r>
              <a:rPr lang="en-US" b="1" dirty="0">
                <a:solidFill>
                  <a:prstClr val="white"/>
                </a:solidFill>
                <a:latin typeface="Arial" panose="020B0604020202020204" pitchFamily="34" charset="0"/>
                <a:cs typeface="Arial" panose="020B0604020202020204" pitchFamily="34" charset="0"/>
              </a:rPr>
              <a:t> [1 3 3 2 5], target 3, start 2 -&gt; 2 </a:t>
            </a:r>
            <a:br>
              <a:rPr lang="en-US" b="1" dirty="0">
                <a:solidFill>
                  <a:prstClr val="white"/>
                </a:solidFill>
                <a:latin typeface="Arial" panose="020B0604020202020204" pitchFamily="34" charset="0"/>
                <a:cs typeface="Arial" panose="020B0604020202020204" pitchFamily="34" charset="0"/>
              </a:rPr>
            </a:br>
            <a:r>
              <a:rPr lang="en-US" b="1" dirty="0" err="1">
                <a:solidFill>
                  <a:prstClr val="white"/>
                </a:solidFill>
                <a:latin typeface="Arial" panose="020B0604020202020204" pitchFamily="34" charset="0"/>
                <a:cs typeface="Arial" panose="020B0604020202020204" pitchFamily="34" charset="0"/>
              </a:rPr>
              <a:t>IndexOf</a:t>
            </a:r>
            <a:r>
              <a:rPr lang="en-US" b="1" dirty="0">
                <a:solidFill>
                  <a:prstClr val="white"/>
                </a:solidFill>
                <a:latin typeface="Arial" panose="020B0604020202020204" pitchFamily="34" charset="0"/>
                <a:cs typeface="Arial" panose="020B0604020202020204" pitchFamily="34" charset="0"/>
              </a:rPr>
              <a:t> [1 3 3 2 5], target 4, start 0 -&gt; -1</a:t>
            </a:r>
          </a:p>
        </p:txBody>
      </p:sp>
      <p:sp>
        <p:nvSpPr>
          <p:cNvPr id="11" name="Rectangle 10">
            <a:extLst>
              <a:ext uri="{FF2B5EF4-FFF2-40B4-BE49-F238E27FC236}">
                <a16:creationId xmlns:a16="http://schemas.microsoft.com/office/drawing/2014/main" id="{1742319B-34F9-B6E0-0E56-0E7E8A921D8F}"/>
              </a:ext>
            </a:extLst>
          </p:cNvPr>
          <p:cNvSpPr/>
          <p:nvPr/>
        </p:nvSpPr>
        <p:spPr>
          <a:xfrm>
            <a:off x="148223" y="4628642"/>
            <a:ext cx="111760" cy="946355"/>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3E0E85C5-6659-D19C-EE90-3065E800D40A}"/>
              </a:ext>
            </a:extLst>
          </p:cNvPr>
          <p:cNvSpPr/>
          <p:nvPr/>
        </p:nvSpPr>
        <p:spPr>
          <a:xfrm>
            <a:off x="224422" y="4628642"/>
            <a:ext cx="11743155" cy="946355"/>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Solve the Fibonacci using recursion</a:t>
            </a:r>
          </a:p>
        </p:txBody>
      </p:sp>
    </p:spTree>
    <p:custDataLst>
      <p:tags r:id="rId1"/>
    </p:custDataLst>
    <p:extLst>
      <p:ext uri="{BB962C8B-B14F-4D97-AF65-F5344CB8AC3E}">
        <p14:creationId xmlns:p14="http://schemas.microsoft.com/office/powerpoint/2010/main" val="1472498329"/>
      </p:ext>
    </p:extLst>
  </p:cSld>
  <p:clrMapOvr>
    <a:masterClrMapping/>
  </p:clrMapOvr>
  <mc:AlternateContent xmlns:mc="http://schemas.openxmlformats.org/markup-compatibility/2006" xmlns:p14="http://schemas.microsoft.com/office/powerpoint/2010/main">
    <mc:Choice Requires="p14">
      <p:transition spd="slow" p14:dur="2000" advTm="207460"/>
    </mc:Choice>
    <mc:Fallback xmlns="">
      <p:transition spd="slow" advTm="207460"/>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5.6|40.3|25.2|40.6|10.1"/>
</p:tagLst>
</file>

<file path=ppt/tags/tag2.xml><?xml version="1.0" encoding="utf-8"?>
<p:tagLst xmlns:a="http://schemas.openxmlformats.org/drawingml/2006/main" xmlns:r="http://schemas.openxmlformats.org/officeDocument/2006/relationships" xmlns:p="http://schemas.openxmlformats.org/presentationml/2006/main">
  <p:tag name="TIMING" val="|5.6|40.3|25.2|40.6|10.1"/>
</p:tagLst>
</file>

<file path=ppt/tags/tag3.xml><?xml version="1.0" encoding="utf-8"?>
<p:tagLst xmlns:a="http://schemas.openxmlformats.org/drawingml/2006/main" xmlns:r="http://schemas.openxmlformats.org/officeDocument/2006/relationships" xmlns:p="http://schemas.openxmlformats.org/presentationml/2006/main">
  <p:tag name="TIMING" val="|5.6|40.3|25.2|40.6|10.1"/>
</p:tagLst>
</file>

<file path=ppt/tags/tag4.xml><?xml version="1.0" encoding="utf-8"?>
<p:tagLst xmlns:a="http://schemas.openxmlformats.org/drawingml/2006/main" xmlns:r="http://schemas.openxmlformats.org/officeDocument/2006/relationships" xmlns:p="http://schemas.openxmlformats.org/presentationml/2006/main">
  <p:tag name="TIMING" val="|5.6|40.3|25.2|40.6|10.1"/>
</p:tagLst>
</file>

<file path=ppt/tags/tag5.xml><?xml version="1.0" encoding="utf-8"?>
<p:tagLst xmlns:a="http://schemas.openxmlformats.org/drawingml/2006/main" xmlns:r="http://schemas.openxmlformats.org/officeDocument/2006/relationships" xmlns:p="http://schemas.openxmlformats.org/presentationml/2006/main">
  <p:tag name="TIMING" val="|5.6|40.3|25.2|40.6|10.1"/>
</p:tagLst>
</file>

<file path=ppt/tags/tag6.xml><?xml version="1.0" encoding="utf-8"?>
<p:tagLst xmlns:a="http://schemas.openxmlformats.org/drawingml/2006/main" xmlns:r="http://schemas.openxmlformats.org/officeDocument/2006/relationships" xmlns:p="http://schemas.openxmlformats.org/presentationml/2006/main">
  <p:tag name="TIMING" val="|5.6|40.3|25.2|40.6|10.1"/>
</p:tagLst>
</file>

<file path=ppt/tags/tag7.xml><?xml version="1.0" encoding="utf-8"?>
<p:tagLst xmlns:a="http://schemas.openxmlformats.org/drawingml/2006/main" xmlns:r="http://schemas.openxmlformats.org/officeDocument/2006/relationships" xmlns:p="http://schemas.openxmlformats.org/presentationml/2006/main">
  <p:tag name="TIMING" val="|5.6|40.3|25.2|40.6|10.1"/>
</p:tagLst>
</file>

<file path=ppt/tags/tag8.xml><?xml version="1.0" encoding="utf-8"?>
<p:tagLst xmlns:a="http://schemas.openxmlformats.org/drawingml/2006/main" xmlns:r="http://schemas.openxmlformats.org/officeDocument/2006/relationships" xmlns:p="http://schemas.openxmlformats.org/presentationml/2006/main">
  <p:tag name="TIMING" val="|5.6|40.3|25.2|40.6|10.1"/>
</p:tagLst>
</file>

<file path=ppt/tags/tag9.xml><?xml version="1.0" encoding="utf-8"?>
<p:tagLst xmlns:a="http://schemas.openxmlformats.org/drawingml/2006/main" xmlns:r="http://schemas.openxmlformats.org/officeDocument/2006/relationships" xmlns:p="http://schemas.openxmlformats.org/presentationml/2006/main">
  <p:tag name="TIMING" val="|5.6|40.3|25.2|40.6|10.1"/>
</p:tagLst>
</file>

<file path=ppt/tags/tag10.xml><?xml version="1.0" encoding="utf-8"?>
<p:tagLst xmlns:a="http://schemas.openxmlformats.org/drawingml/2006/main" xmlns:r="http://schemas.openxmlformats.org/officeDocument/2006/relationships" xmlns:p="http://schemas.openxmlformats.org/presentationml/2006/main">
  <p:tag name="TIMING" val="|5.6|40.3|25.2|40.6|10.1"/>
</p:tagLst>
</file>

<file path=ppt/tags/tag11.xml><?xml version="1.0" encoding="utf-8"?>
<p:tagLst xmlns:a="http://schemas.openxmlformats.org/drawingml/2006/main" xmlns:r="http://schemas.openxmlformats.org/officeDocument/2006/relationships" xmlns:p="http://schemas.openxmlformats.org/presentationml/2006/main">
  <p:tag name="TIMING" val="|5.6|40.3|25.2|40.6|10.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1362</TotalTime>
  <Words>797</Words>
  <Application>Microsoft Office PowerPoint</Application>
  <PresentationFormat>Widescreen</PresentationFormat>
  <Paragraphs>51</Paragraphs>
  <Slides>12</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Aptos Display</vt:lpstr>
      <vt:lpstr>Arial</vt:lpstr>
      <vt:lpstr>Symbol</vt:lpstr>
      <vt:lpstr>Times New Roman</vt:lpstr>
      <vt:lpstr>Office Theme</vt:lpstr>
      <vt:lpstr>PowerPoint Presentation</vt:lpstr>
      <vt:lpstr>What Are Data Structures?</vt:lpstr>
      <vt:lpstr>What Are Data Structures? (Pointers)</vt:lpstr>
      <vt:lpstr>The Go Slices:</vt:lpstr>
      <vt:lpstr>The Go Slices:</vt:lpstr>
      <vt:lpstr>The Go Maps:</vt:lpstr>
      <vt:lpstr>The Go Maps:</vt:lpstr>
      <vt:lpstr>The Go Functions:</vt:lpstr>
      <vt:lpstr>The Go Functions:</vt:lpstr>
      <vt:lpstr>The Go Functions:</vt:lpstr>
      <vt:lpstr>Exercises:</vt:lpstr>
      <vt:lpstr>Exercises: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Al-Hassan Abdelhalim</dc:creator>
  <cp:lastModifiedBy>Al-Hassan Abdelhalim</cp:lastModifiedBy>
  <cp:revision>178</cp:revision>
  <dcterms:created xsi:type="dcterms:W3CDTF">2026-02-14T08:24:36Z</dcterms:created>
  <dcterms:modified xsi:type="dcterms:W3CDTF">2026-02-19T10:41:42Z</dcterms:modified>
</cp:coreProperties>
</file>