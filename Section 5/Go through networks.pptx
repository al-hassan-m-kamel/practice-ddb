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ink/ink1.xml" ContentType="application/inkml+xml"/>
  <Override PartName="/ppt/ink/ink2.xml" ContentType="application/inkml+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ink/ink3.xml" ContentType="application/inkml+xml"/>
  <Override PartName="/ppt/ink/ink4.xml" ContentType="application/inkml+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82" r:id="rId3"/>
    <p:sldId id="384" r:id="rId4"/>
    <p:sldId id="385" r:id="rId5"/>
    <p:sldId id="386" r:id="rId6"/>
    <p:sldId id="387" r:id="rId7"/>
    <p:sldId id="388" r:id="rId8"/>
    <p:sldId id="389" r:id="rId9"/>
    <p:sldId id="391" r:id="rId10"/>
    <p:sldId id="376" r:id="rId11"/>
    <p:sldId id="392" r:id="rId12"/>
    <p:sldId id="393" r:id="rId13"/>
    <p:sldId id="394" r:id="rId14"/>
    <p:sldId id="395" r:id="rId15"/>
    <p:sldId id="396" r:id="rId16"/>
    <p:sldId id="397" r:id="rId17"/>
    <p:sldId id="398" r:id="rId18"/>
    <p:sldId id="401" r:id="rId19"/>
    <p:sldId id="400" r:id="rId20"/>
    <p:sldId id="402" r:id="rId21"/>
    <p:sldId id="403" r:id="rId22"/>
    <p:sldId id="404" r:id="rId23"/>
    <p:sldId id="405" r:id="rId24"/>
    <p:sldId id="3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18" autoAdjust="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20:03:41.796"/>
    </inkml:context>
    <inkml:brush xml:id="br0">
      <inkml:brushProperty name="width" value="0.05" units="cm"/>
      <inkml:brushProperty name="height" value="0.05" units="cm"/>
      <inkml:brushProperty name="color" value="#E71224"/>
    </inkml:brush>
  </inkml:definitions>
  <inkml:trace contextRef="#ctx0" brushRef="#br0">0 947 24575,'1'0'0,"-1"0"0,1-1 0,0 1 0,-1 0 0,1-1 0,-1 1 0,1 0 0,-1-1 0,0 1 0,1-1 0,-1 1 0,1-1 0,-1 1 0,0-1 0,1 1 0,-1-1 0,0 0 0,0 1 0,1-1 0,-1 1 0,0-1 0,0 0 0,0 1 0,0-2 0,4-22 0,-2 13 0,4-10 0,1 0 0,1 0 0,1 1 0,1 0 0,1 0 0,1 1 0,0 1 0,1 0 0,1 1 0,1 0 0,0 1 0,26-21 0,5 1 0,1 1 0,2 3 0,81-41 0,-114 64 0,0-1 0,27-23 0,13-9 0,-36 30 0,-2-1 0,2 1 0,-1 1 0,1 1 0,1 1 0,0 1 0,33-9 0,463-91 0,-450 94 0,136-20 0,-171 30 0,0-2 0,58-20 0,8-1 0,-79 23 0,-1-1 0,1-1 0,-1-1 0,25-12 0,-36 16 0,0 1 0,0 0 0,0 1 0,1-1 0,-1 1 0,1 1 0,-1-1 0,1 1 0,-1 1 0,0 0 0,1 0 0,-1 0 0,10 3 0,31 3 0,-41-6-170,-1 0-1,0 0 0,0 0 1,1 1-1,-1 0 0,0 0 1,5 3-1,4 2-6655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3T20:03:44.050"/>
    </inkml:context>
    <inkml:brush xml:id="br0">
      <inkml:brushProperty name="width" value="0.05" units="cm"/>
      <inkml:brushProperty name="height" value="0.05" units="cm"/>
      <inkml:brushProperty name="color" value="#E71224"/>
    </inkml:brush>
  </inkml:definitions>
  <inkml:trace contextRef="#ctx0" brushRef="#br0">1 1 24575,'5'1'0,"1"1"0,-1 0 0,0 1 0,0-1 0,0 1 0,0 0 0,0 0 0,0 1 0,-1-1 0,8 8 0,2 1 0,199 137 0,-187-133 0,-18-12 0,0 0 0,-1 0 0,0 1 0,12 11 0,-17-15 0,-1 1 0,0-1 0,0 1 0,0-1 0,0 1 0,0-1 0,0 1 0,0-1 0,0 1 0,-1 0 0,1-1 0,0 1 0,-1 0 0,0 0 0,1 0 0,-1-1 0,0 1 0,0 0 0,0 0 0,0 0 0,-1-1 0,1 1 0,0 0 0,-1 0 0,1 0 0,-1-1 0,1 1 0,-2 1 0,-9 17 0,0-2 0,-1 0 0,-1 0 0,-1-1 0,-1-1 0,0 0 0,-1-1 0,0-1 0,-1-1 0,-1 0 0,-31 17 0,35-24-1365,3-3-5461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5T20:17:49.370"/>
    </inkml:context>
    <inkml:brush xml:id="br0">
      <inkml:brushProperty name="width" value="0.05" units="cm"/>
      <inkml:brushProperty name="height" value="0.05" units="cm"/>
      <inkml:brushProperty name="color" value="#E97132"/>
    </inkml:brush>
  </inkml:definitions>
  <inkml:trace contextRef="#ctx0" brushRef="#br0">781 7041 24575,'0'0'0,"0"0"0,0 0 0,0 0 0,0 0 0,0 0 0,0 0 0,0 0 0,0 0 0,0 0 0,0 0 0,0 0 0,0 0 0,0 0 0,0 0 0,0 0 0,0 0 0,0 0 0,0 0 0,0 0 0,0 0 0,0 0 0,-7-16 0,-35-68 0,4-1 0,4-3 0,-38-150 0,-32-284 0,46 201 0,-15-157 0,-19-346 0,73 713 0,-16-139 0,16 67 0,-65-282 0,59 317 0,-6-31 0,14 100 0,3-1 0,4-1 0,3 0 0,8-160 0,3 144 0,1-27 0,24-143 0,-11 168 0,3 1 0,6 1 0,3 1 0,51-110 0,-43 133 0,2 2 0,52-67 0,111-123 0,-197 253 0,35-39 0,1 1 0,2 3 0,2 1 0,68-47 0,5 0 0,74-50 0,-159 117 0,2 2 0,0 2 0,72-26 0,2 12 0,214-33 0,119 18 0,-161 25 0,370-38 0,-454 41 0,387 12 0,199 70 0,-587-44 0,-53-3 0,106 8 0,265 13 0,-111 5 0,-339-31 0,-13-4 0,-1 2 0,-1 3 0,68 24 0,-42-5 0,126 71 0,-75-7 0,-72-51 0,125 108 0,-106-84 0,-2 4 0,63 84 0,-97-111 0,144 147 0,-15-23 0,-167-162 120,0-5-321,0-6-1083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5T20:17:50.848"/>
    </inkml:context>
    <inkml:brush xml:id="br0">
      <inkml:brushProperty name="width" value="0.05" units="cm"/>
      <inkml:brushProperty name="height" value="0.05" units="cm"/>
      <inkml:brushProperty name="color" value="#E97132"/>
    </inkml:brush>
  </inkml:definitions>
  <inkml:trace contextRef="#ctx0" brushRef="#br0">748 0 24575,'-63'0'0,"64"19"0,0-9 0,1-1 0,0 1 0,1-1 0,0 0 0,0 0 0,8 14 0,33 52 0,-25-45 0,102 189 0,-102-180 0,-3 1 0,-1 0 0,18 77 0,-32-113 0,-1 0 0,1 0 0,-1 0 0,0 0 0,-1 0 0,1 0 0,0 0 0,-1 0 0,0 0 0,0 0 0,0 0 0,-1 0 0,1-1 0,-1 1 0,0 0 0,0-1 0,0 0 0,0 1 0,-1-1 0,0 0 0,1 0 0,-1 0 0,0 0 0,0-1 0,-1 1 0,1-1 0,0 0 0,-1 0 0,1 0 0,-5 1 0,-12 6 0,0-1 0,0-1 0,-1-1 0,-27 4 0,46-9 0,-259 37 0,93-16 0,125-16 0,-38 6 0,-79 23 0,151-33-54,1 0 0,-1-1 0,1-1-1,-1 1 1,-11-2 0,7 1-986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14760-2987-41FC-B6E1-A6F257AE46F6}"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C30FE-7AC7-4656-9546-659789057A08}" type="slidenum">
              <a:rPr lang="en-US" smtClean="0"/>
              <a:t>‹#›</a:t>
            </a:fld>
            <a:endParaRPr lang="en-US"/>
          </a:p>
        </p:txBody>
      </p:sp>
    </p:spTree>
    <p:extLst>
      <p:ext uri="{BB962C8B-B14F-4D97-AF65-F5344CB8AC3E}">
        <p14:creationId xmlns:p14="http://schemas.microsoft.com/office/powerpoint/2010/main" val="3345191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14F79-844B-95E2-F411-5DC9E96B7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C83D8-66D4-F475-C0E3-0D07A031F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DE7E0-CC23-4336-91C1-B4E915C38F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BC09B4-397A-7D0A-E186-AF93C6B43C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2134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7C1BB-F41A-7F76-D0FB-2AC2F6904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7A3A2-34D4-4AD7-734F-EB670837C3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E8B17-3F9E-F9A9-0E83-F2F74CACD1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CC1816-0ADE-FBBD-7DDF-A4EED851D0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1036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6937-9DD6-A3D4-D804-0BCE68A12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3F6A3-5A7F-DDAF-423D-4066A1626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6815D-D381-D033-6A14-B5CAE9E94A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AD9EA8-C99B-1D6A-CB27-C88998EDD7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6377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E56C1-654D-6BC9-9767-7C675A31C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E66B5-DDE8-5DCE-7605-DDDB7B0DD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0C5E3-0AB9-4369-0E08-75CA56D836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99467A-F217-4C7C-94B9-4EC9C0B3A4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83366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D717E-EB3F-3C7B-7CC7-1B1EABDB2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E97BF-474B-DEDD-9A10-34204AA5AF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BB2C0-1F60-2188-397A-0985EE3566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29D15B-80EB-99E6-CA9A-4F8B95EDC7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45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E64CC-EA85-EC47-C0A6-ACFB8B523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6615F-EED0-B779-9FD4-8BAF9AFD32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0C458-17A2-64E3-4DCD-3602E15A1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2734A3-C75F-A2E5-9AFC-37911FA276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6998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0CFD8-C69F-C42B-5634-8A135479F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DE427-C596-A903-3FE9-B4B48668A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22D4CB-923F-A1AC-EEF1-D8D27EC015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5E5E36-E8FD-5141-43C1-8650F9C7F6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3229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F80CA-1EDD-6B17-A1C2-E216EBFF0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0D018-E3CA-FC8F-B799-A5950E64A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E1309-1F71-0B3F-7058-0CF7BC2504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2B32FC-BE65-0176-38F2-C72704BB1F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99634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76F12-7760-24AC-D140-6E0A64AAA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BCEB8-AD75-83AB-6C98-FF1B54F5E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527B8-6986-99F2-5B50-B9BAD79BCD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9D851-92AF-0E36-30C5-B05C28779E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0707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3BF29-7E99-D70C-5CE3-3FB9340A5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F9453-9A18-C128-A254-500CF8164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6DA99-FA92-F142-75FF-7AB380CA4A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0EAFA6-21BA-FB30-E5E4-AB2E87C75D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3329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0130C-7AA5-9F0A-ED8F-AA0EC87AD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09A3B-AE44-6125-0F6F-7B803DB8D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E1DCD1-5D4D-0E6B-9D03-F16AFEA765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3E84BF-9244-92EB-A6F7-6B65EB099E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6524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32262-9F94-80C8-58A5-3E104FA63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DCEC4-3583-1E52-985D-4AE0DBCC8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AAD2B8-57B1-838E-68B4-550A5BFD4D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37B447-2719-4511-30EE-86D6BBA8C0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6645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DA57-2635-4816-3103-31A280709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D5E9C-6B44-A01F-C349-CEE1BD0DA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CF1BD-AA18-BAD1-9274-89D2BC9AE1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F958A2-5240-4B9F-D5F5-166ABE09D8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8774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7D0D0-EF11-09C2-0D12-20155B8BE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24A70-F7AA-B38F-A615-597EC16B58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80B80-B3B6-5795-F29B-A4916C41CB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B81F45-53E7-281D-E075-385589DF7F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24442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22324-973C-0C5E-36B4-C8FB6C967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FAC56-C9B2-F677-B969-7975CB07A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59098-F3CC-42E1-A4A1-5B269DA053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705B4C-1FD7-F072-FB12-467B75F81E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7621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D090D-A1B8-5D2A-3F2E-8686DB8A2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2C770-8F43-2160-D87E-5E5A51C3B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40587-3C5C-19B5-E4A0-CFE5FAE28B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61AC7D-E96B-6E06-AF20-851A971C29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44522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D0820-F18A-922F-4BB0-943754F10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43E55-0242-8D91-0451-F8D56528A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B5C9C3-E28C-8CCC-5A19-09701B7BFC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22768A-68C1-D0C0-1977-EB248BF414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8368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99309-39A7-2A11-8E6D-83F5E0B61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D8AF0-1C2D-E161-A066-C1571F5A4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2B4541-8D20-538D-B058-6D24E85DF6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69FD85-0DAB-E352-3E43-9602798FA0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34286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6B248-672F-2E97-1E32-A64CC38B5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9D953-0D07-950D-E144-A8637F199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92D35-59DD-3D04-339A-2BF37FBEFC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051AA0-4438-9DBB-07CC-79C9C54E4D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00020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C62C6-5126-5704-4984-1890CCE6C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AA82D-F6AE-9BCC-7EAD-106CD7644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23A2A-D86C-0EE1-7FA0-EB75083CA9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38E05-2049-1CE8-4980-9CFA8E2C9C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9303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A64F7-723C-D1F5-B3FA-683473F0D8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C6FED-1BCD-807E-E35A-38411766B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CDB5A-EE1E-7E71-7CE3-413894DD78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D55196-6DD7-EFA0-1949-3C4833D02D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2448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1798-95BA-004B-FD59-128703275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B4A97-BDB3-80EF-E428-9208FEA46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0FCFC-AA24-74E4-B1E6-423E5E0579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1ACD21-B4BF-6AD6-DE6A-9F583199F7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2374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CDA3A-83A6-0C3D-44A4-0644BA4D4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A1EE5-BCD2-BC73-4584-C428ACF27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88717-A809-5E46-4EB3-C3A235E4AD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93A958-5A6D-B079-C1CE-1BF9F7816C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2CD1D2-9E42-4E1F-B86C-5AF6F74F604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21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BDC5-84F1-25F2-F593-6E4A4A7DA0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9EE1F-6454-29CA-0B14-067414EBD1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7DC79A-D777-1554-0AA8-DF008FE8D531}"/>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5" name="Footer Placeholder 4">
            <a:extLst>
              <a:ext uri="{FF2B5EF4-FFF2-40B4-BE49-F238E27FC236}">
                <a16:creationId xmlns:a16="http://schemas.microsoft.com/office/drawing/2014/main" id="{E272A933-3A57-37A6-031F-7B46F14F61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0C70BA-2295-7359-263D-F633F7D6D737}"/>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2939582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157C8-0C44-9837-8208-8CD3FE8FA3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90D8DF-8202-D871-7A04-8521183D51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EC8BA0-BDA9-732F-1C91-6D209B82066B}"/>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5" name="Footer Placeholder 4">
            <a:extLst>
              <a:ext uri="{FF2B5EF4-FFF2-40B4-BE49-F238E27FC236}">
                <a16:creationId xmlns:a16="http://schemas.microsoft.com/office/drawing/2014/main" id="{0FA87171-1CD6-ACCE-049F-D9227DA509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728B8-24DD-40CD-92BF-A4BD7E477517}"/>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2958987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A94D2-7D13-02C2-6131-9D3A6642B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1AA421-D9DE-E032-7DED-3D19987F06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FF0728-EF07-7E6F-C113-A9A82B671991}"/>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5" name="Footer Placeholder 4">
            <a:extLst>
              <a:ext uri="{FF2B5EF4-FFF2-40B4-BE49-F238E27FC236}">
                <a16:creationId xmlns:a16="http://schemas.microsoft.com/office/drawing/2014/main" id="{AEE34D14-B4B7-ABA4-219F-72EA4C5AA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8578C-E9E5-4869-8574-913FA878BE1A}"/>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407920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6310A-B24A-9A97-BC39-9253D14B86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C8DE60-75DA-A1F4-4943-12F47CD4F6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18E996-19E1-1ED5-2B25-0C601F5AB4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7372EB-24D0-92FD-EFA9-DFCD5D856A91}"/>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6" name="Footer Placeholder 5">
            <a:extLst>
              <a:ext uri="{FF2B5EF4-FFF2-40B4-BE49-F238E27FC236}">
                <a16:creationId xmlns:a16="http://schemas.microsoft.com/office/drawing/2014/main" id="{508C728D-BE2D-27DA-9DAD-37C597AFCB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91C820-7316-83BF-9F73-24167360F8B1}"/>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4270030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0651D-6EB9-BDDE-A12B-45790AC92D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21C7F6-CE80-AFF9-0EBF-1410BB1FD6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376A25-30D1-BC8F-6C4B-5557987AEB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C19201-F674-C8FC-9CAC-3AA70D8FE4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DC2F45-AECC-8666-7E96-BADC6000DB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1CD8C1-02BB-2DAD-0E0E-8AA796BB62BE}"/>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8" name="Footer Placeholder 7">
            <a:extLst>
              <a:ext uri="{FF2B5EF4-FFF2-40B4-BE49-F238E27FC236}">
                <a16:creationId xmlns:a16="http://schemas.microsoft.com/office/drawing/2014/main" id="{17C21C37-DE25-4D35-4B99-9D8037B2C1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9434E2-2825-BD95-9468-96ECEECF41D8}"/>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3022631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5DA2C-1511-40C9-244A-F12CF27315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8271D3-7750-8998-F10F-DB0F8CABEEDE}"/>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4" name="Footer Placeholder 3">
            <a:extLst>
              <a:ext uri="{FF2B5EF4-FFF2-40B4-BE49-F238E27FC236}">
                <a16:creationId xmlns:a16="http://schemas.microsoft.com/office/drawing/2014/main" id="{5809A25A-7384-814E-00D3-37589C2E89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146E66-0C2A-9CA7-93F5-2B907D3A02C9}"/>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3070590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9CE336-2A92-E325-1B68-279EADA7560E}"/>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3" name="Footer Placeholder 2">
            <a:extLst>
              <a:ext uri="{FF2B5EF4-FFF2-40B4-BE49-F238E27FC236}">
                <a16:creationId xmlns:a16="http://schemas.microsoft.com/office/drawing/2014/main" id="{027B82CE-C7E9-227E-D831-9868CD66BE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A3678D-557B-C65C-EA59-995CFCABEB88}"/>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070437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4B4F7-6B7A-7ED5-F73D-E14EAE1B87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BB2279-C497-CE25-F10D-A4DA51F81D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5AF541-F397-99A9-C53E-F66758361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F86E30-BAFF-53F1-0559-A8EEB398E629}"/>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6" name="Footer Placeholder 5">
            <a:extLst>
              <a:ext uri="{FF2B5EF4-FFF2-40B4-BE49-F238E27FC236}">
                <a16:creationId xmlns:a16="http://schemas.microsoft.com/office/drawing/2014/main" id="{E073D538-1326-047C-3C20-796B5B08A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0FB249-EE5C-47A5-8FDA-96CCAF0D81C5}"/>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42407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5ADAC-3955-2BE2-8717-F919B1B8A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AAB103-181B-D96D-EF22-056252ABE3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144EFC-1537-04FE-25C8-322C96B054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AA516-BDDB-6225-04E4-B6A3A4A4042E}"/>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6" name="Footer Placeholder 5">
            <a:extLst>
              <a:ext uri="{FF2B5EF4-FFF2-40B4-BE49-F238E27FC236}">
                <a16:creationId xmlns:a16="http://schemas.microsoft.com/office/drawing/2014/main" id="{66830C3C-FCDC-DA51-144D-9A16B68824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FFA7FF-9C48-8DD2-DE7C-B96A61198FAA}"/>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395944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0308-2F3F-24BD-585E-C61288CB2E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C98F12-9E0F-3E92-6348-79D515DAB4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0EF97B-166B-9D18-72B9-32B353094774}"/>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5" name="Footer Placeholder 4">
            <a:extLst>
              <a:ext uri="{FF2B5EF4-FFF2-40B4-BE49-F238E27FC236}">
                <a16:creationId xmlns:a16="http://schemas.microsoft.com/office/drawing/2014/main" id="{BA680055-6534-5781-4AD5-774749F9F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06730-4630-46C2-C4D1-50DC51888E66}"/>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936946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C05A29-F365-6770-11D9-D333736982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C253FA-EE87-A347-88C2-8B8089EAE8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323F83-A161-6C6B-8566-35434820A580}"/>
              </a:ext>
            </a:extLst>
          </p:cNvPr>
          <p:cNvSpPr>
            <a:spLocks noGrp="1"/>
          </p:cNvSpPr>
          <p:nvPr>
            <p:ph type="dt" sz="half" idx="10"/>
          </p:nvPr>
        </p:nvSpPr>
        <p:spPr/>
        <p:txBody>
          <a:bodyPr/>
          <a:lstStyle/>
          <a:p>
            <a:fld id="{B0D925FC-16E2-4760-8BBA-129557D517F1}" type="datetimeFigureOut">
              <a:rPr lang="en-US" smtClean="0"/>
              <a:t>3/21/2026</a:t>
            </a:fld>
            <a:endParaRPr lang="en-US"/>
          </a:p>
        </p:txBody>
      </p:sp>
      <p:sp>
        <p:nvSpPr>
          <p:cNvPr id="5" name="Footer Placeholder 4">
            <a:extLst>
              <a:ext uri="{FF2B5EF4-FFF2-40B4-BE49-F238E27FC236}">
                <a16:creationId xmlns:a16="http://schemas.microsoft.com/office/drawing/2014/main" id="{E668384C-7055-FD31-D397-1BC28DC95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4ED2-2741-B46D-921C-EDAB18865B04}"/>
              </a:ext>
            </a:extLst>
          </p:cNvPr>
          <p:cNvSpPr>
            <a:spLocks noGrp="1"/>
          </p:cNvSpPr>
          <p:nvPr>
            <p:ph type="sldNum" sz="quarter" idx="12"/>
          </p:nvPr>
        </p:nvSpPr>
        <p:spPr/>
        <p:txBody>
          <a:bodyPr/>
          <a:lstStyle/>
          <a:p>
            <a:fld id="{A7B4FECC-3378-4A83-851D-3B59D55BD416}" type="slidenum">
              <a:rPr lang="en-US" smtClean="0"/>
              <a:t>‹#›</a:t>
            </a:fld>
            <a:endParaRPr lang="en-US"/>
          </a:p>
        </p:txBody>
      </p:sp>
    </p:spTree>
    <p:extLst>
      <p:ext uri="{BB962C8B-B14F-4D97-AF65-F5344CB8AC3E}">
        <p14:creationId xmlns:p14="http://schemas.microsoft.com/office/powerpoint/2010/main" val="1022331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EFCF8D-8049-7DEE-2F5E-30B8C0677E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999D1B-588D-8CE8-7BA3-9A14C58EE4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C1E081-13C9-DC07-C35E-30B6024B85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D925FC-16E2-4760-8BBA-129557D517F1}" type="datetimeFigureOut">
              <a:rPr lang="en-US" smtClean="0"/>
              <a:t>3/21/2026</a:t>
            </a:fld>
            <a:endParaRPr lang="en-US"/>
          </a:p>
        </p:txBody>
      </p:sp>
      <p:sp>
        <p:nvSpPr>
          <p:cNvPr id="5" name="Footer Placeholder 4">
            <a:extLst>
              <a:ext uri="{FF2B5EF4-FFF2-40B4-BE49-F238E27FC236}">
                <a16:creationId xmlns:a16="http://schemas.microsoft.com/office/drawing/2014/main" id="{91B07867-CD4F-61B7-7D30-586CCCBDB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EF065B-A6B6-89FA-A36F-73BD3CEC3E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B4FECC-3378-4A83-851D-3B59D55BD416}" type="slidenum">
              <a:rPr lang="en-US" smtClean="0"/>
              <a:t>‹#›</a:t>
            </a:fld>
            <a:endParaRPr lang="en-US"/>
          </a:p>
        </p:txBody>
      </p:sp>
    </p:spTree>
    <p:extLst>
      <p:ext uri="{BB962C8B-B14F-4D97-AF65-F5344CB8AC3E}">
        <p14:creationId xmlns:p14="http://schemas.microsoft.com/office/powerpoint/2010/main" val="1672076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7.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10.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1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1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13.xml"/><Relationship Id="rId7" Type="http://schemas.openxmlformats.org/officeDocument/2006/relationships/customXml" Target="../ink/ink2.xml"/><Relationship Id="rId2" Type="http://schemas.openxmlformats.org/officeDocument/2006/relationships/slideLayout" Target="../slideLayouts/slideLayout6.xml"/><Relationship Id="rId1" Type="http://schemas.openxmlformats.org/officeDocument/2006/relationships/tags" Target="../tags/tag13.xml"/><Relationship Id="rId6" Type="http://schemas.openxmlformats.org/officeDocument/2006/relationships/image" Target="../media/image16.png"/><Relationship Id="rId5" Type="http://schemas.openxmlformats.org/officeDocument/2006/relationships/customXml" Target="../ink/ink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9.png"/><Relationship Id="rId2" Type="http://schemas.openxmlformats.org/officeDocument/2006/relationships/slideLayout" Target="../slideLayouts/slideLayout6.xml"/><Relationship Id="rId1" Type="http://schemas.openxmlformats.org/officeDocument/2006/relationships/tags" Target="../tags/tag14.xml"/><Relationship Id="rId6" Type="http://schemas.openxmlformats.org/officeDocument/2006/relationships/slide" Target="slide15.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15.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16.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17.xml"/><Relationship Id="rId5" Type="http://schemas.openxmlformats.org/officeDocument/2006/relationships/image" Target="../media/image24.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notesSlide" Target="../notesSlides/notesSlide18.xml"/><Relationship Id="rId7" Type="http://schemas.openxmlformats.org/officeDocument/2006/relationships/image" Target="../media/image28.svg"/><Relationship Id="rId12" Type="http://schemas.openxmlformats.org/officeDocument/2006/relationships/customXml" Target="../ink/ink4.xml"/><Relationship Id="rId2" Type="http://schemas.openxmlformats.org/officeDocument/2006/relationships/slideLayout" Target="../slideLayouts/slideLayout6.xml"/><Relationship Id="rId1" Type="http://schemas.openxmlformats.org/officeDocument/2006/relationships/tags" Target="../tags/tag18.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svg"/><Relationship Id="rId10" Type="http://schemas.openxmlformats.org/officeDocument/2006/relationships/customXml" Target="../ink/ink3.xml"/><Relationship Id="rId4" Type="http://schemas.openxmlformats.org/officeDocument/2006/relationships/image" Target="../media/image25.png"/><Relationship Id="rId9" Type="http://schemas.openxmlformats.org/officeDocument/2006/relationships/image" Target="../media/image30.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19.xml"/><Relationship Id="rId5" Type="http://schemas.openxmlformats.org/officeDocument/2006/relationships/image" Target="../media/image34.sv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20.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21.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22.xml"/><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B79750-45C1-455C-65CA-2308A2EFA9C2}"/>
              </a:ext>
            </a:extLst>
          </p:cNvPr>
          <p:cNvSpPr/>
          <p:nvPr/>
        </p:nvSpPr>
        <p:spPr>
          <a:xfrm>
            <a:off x="0" y="0"/>
            <a:ext cx="12192000" cy="6858000"/>
          </a:xfrm>
          <a:prstGeom prst="rect">
            <a:avLst/>
          </a:prstGeom>
          <a:blipFill dpi="0" rotWithShape="1">
            <a:blip r:embed="rId2"/>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A273C3-8B7C-39C1-3689-CE8B4D26A613}"/>
              </a:ext>
            </a:extLst>
          </p:cNvPr>
          <p:cNvSpPr txBox="1"/>
          <p:nvPr/>
        </p:nvSpPr>
        <p:spPr>
          <a:xfrm>
            <a:off x="2863780" y="0"/>
            <a:ext cx="10282813" cy="2862322"/>
          </a:xfrm>
          <a:prstGeom prst="rect">
            <a:avLst/>
          </a:prstGeom>
          <a:noFill/>
        </p:spPr>
        <p:txBody>
          <a:bodyPr wrap="square" rtlCol="0">
            <a:spAutoFit/>
          </a:bodyPr>
          <a:lstStyle/>
          <a:p>
            <a:pPr algn="ctr"/>
            <a:r>
              <a:rPr lang="en-US" sz="6000" b="1" dirty="0">
                <a:latin typeface="Times New Roman" panose="02020603050405020304" pitchFamily="18" charset="0"/>
                <a:cs typeface="Times New Roman" panose="02020603050405020304" pitchFamily="18" charset="0"/>
              </a:rPr>
              <a:t>Go through the Network</a:t>
            </a:r>
          </a:p>
          <a:p>
            <a:pPr algn="ctr"/>
            <a:r>
              <a:rPr lang="en-US" sz="6000" b="1" dirty="0">
                <a:latin typeface="Times New Roman" panose="02020603050405020304" pitchFamily="18" charset="0"/>
                <a:cs typeface="Times New Roman" panose="02020603050405020304" pitchFamily="18" charset="0"/>
              </a:rPr>
              <a:t>The HTTP &amp; the way to optimal parallelization </a:t>
            </a:r>
          </a:p>
        </p:txBody>
      </p:sp>
    </p:spTree>
    <p:extLst>
      <p:ext uri="{BB962C8B-B14F-4D97-AF65-F5344CB8AC3E}">
        <p14:creationId xmlns:p14="http://schemas.microsoft.com/office/powerpoint/2010/main" val="2080355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7C161D45-6A67-0663-CCB0-985FD7647A49}"/>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B4A95B6-18BF-34BD-5771-152EAA1DFAF0}"/>
              </a:ext>
            </a:extLst>
          </p:cNvPr>
          <p:cNvSpPr txBox="1"/>
          <p:nvPr/>
        </p:nvSpPr>
        <p:spPr>
          <a:xfrm>
            <a:off x="574430" y="195801"/>
            <a:ext cx="11043139" cy="56938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Suppose that we have a bunch of files that we need to process; how can we think about this?</a:t>
            </a:r>
            <a:br>
              <a:rPr kumimoji="0" lang="en-US" sz="2800" b="1"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br>
            <a:endParaRPr kumimoji="0" lang="en-US" sz="2800" b="1"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i="1" dirty="0">
                <a:solidFill>
                  <a:schemeClr val="accent2"/>
                </a:solidFill>
                <a:latin typeface="Arial" panose="020B0604020202020204" pitchFamily="34" charset="0"/>
                <a:cs typeface="Arial" panose="020B0604020202020204" pitchFamily="34" charset="0"/>
              </a:rPr>
              <a:t>At first, we assign a goroutine for each file, and then with the help of the master thread, we can synchronize these routines to match our desired output. But what is the optimal number of threads to assign without hurting the performance?!!</a:t>
            </a:r>
            <a:br>
              <a:rPr lang="en-US" sz="2800" b="1" i="1" dirty="0">
                <a:solidFill>
                  <a:schemeClr val="accent2"/>
                </a:solidFill>
                <a:latin typeface="Arial" panose="020B0604020202020204" pitchFamily="34" charset="0"/>
                <a:cs typeface="Arial" panose="020B0604020202020204" pitchFamily="34" charset="0"/>
              </a:rPr>
            </a:br>
            <a:endParaRPr lang="en-US" sz="2800" b="1" i="1" dirty="0">
              <a:solidFill>
                <a:schemeClr val="accent2"/>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i="1" dirty="0">
                <a:solidFill>
                  <a:schemeClr val="accent5">
                    <a:lumMod val="75000"/>
                  </a:schemeClr>
                </a:solidFill>
                <a:latin typeface="Arial" panose="020B0604020202020204" pitchFamily="34" charset="0"/>
                <a:cs typeface="Arial" panose="020B0604020202020204" pitchFamily="34" charset="0"/>
              </a:rPr>
              <a:t>Secondly, in the same way, we can make a process for each file or (bunch of files?), then we synchronize again. But if we make use of the property that each process can run multiple threads, will this cause problems with the actual distributed architecture of the CPU (NUMA) and the abstract view of the OS to the CPU?</a:t>
            </a:r>
          </a:p>
        </p:txBody>
      </p:sp>
    </p:spTree>
    <p:custDataLst>
      <p:tags r:id="rId1"/>
    </p:custDataLst>
    <p:extLst>
      <p:ext uri="{BB962C8B-B14F-4D97-AF65-F5344CB8AC3E}">
        <p14:creationId xmlns:p14="http://schemas.microsoft.com/office/powerpoint/2010/main" val="3651226491"/>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99C44FD8-E532-1583-8D52-D1A70BA4A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E0964-93CE-5909-8287-AE3D926423F9}"/>
              </a:ext>
            </a:extLst>
          </p:cNvPr>
          <p:cNvSpPr>
            <a:spLocks noGrp="1"/>
          </p:cNvSpPr>
          <p:nvPr>
            <p:ph type="title"/>
          </p:nvPr>
        </p:nvSpPr>
        <p:spPr>
          <a:xfrm>
            <a:off x="35906" y="-166149"/>
            <a:ext cx="11996331" cy="1325563"/>
          </a:xfrm>
        </p:spPr>
        <p:txBody>
          <a:bodyPr>
            <a:normAutofit/>
          </a:bodyPr>
          <a:lstStyle/>
          <a:p>
            <a:r>
              <a:rPr lang="en-US" b="1" dirty="0"/>
              <a:t>The Concurrent Solution (The View)</a:t>
            </a:r>
            <a:r>
              <a:rPr lang="en-US" b="1" dirty="0">
                <a:latin typeface="Times New Roman" panose="02020603050405020304" pitchFamily="18" charset="0"/>
                <a:cs typeface="Times New Roman" panose="02020603050405020304" pitchFamily="18" charset="0"/>
              </a:rPr>
              <a:t>:</a:t>
            </a:r>
            <a:endParaRPr lang="en-US" sz="4200" b="1"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F79CA5F8-37C2-269B-9D92-F85A7244929D}"/>
              </a:ext>
            </a:extLst>
          </p:cNvPr>
          <p:cNvGrpSpPr/>
          <p:nvPr/>
        </p:nvGrpSpPr>
        <p:grpSpPr>
          <a:xfrm>
            <a:off x="531567" y="2477293"/>
            <a:ext cx="2341267" cy="1095270"/>
            <a:chOff x="410987" y="1758462"/>
            <a:chExt cx="2341267" cy="1095270"/>
          </a:xfrm>
        </p:grpSpPr>
        <p:sp>
          <p:nvSpPr>
            <p:cNvPr id="4" name="Rectangle 3">
              <a:extLst>
                <a:ext uri="{FF2B5EF4-FFF2-40B4-BE49-F238E27FC236}">
                  <a16:creationId xmlns:a16="http://schemas.microsoft.com/office/drawing/2014/main" id="{1503FE59-7969-39F0-8AB3-277D81450711}"/>
                </a:ext>
              </a:extLst>
            </p:cNvPr>
            <p:cNvSpPr/>
            <p:nvPr/>
          </p:nvSpPr>
          <p:spPr>
            <a:xfrm>
              <a:off x="410987" y="1758462"/>
              <a:ext cx="2341267" cy="10952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Rectangle 4">
              <a:extLst>
                <a:ext uri="{FF2B5EF4-FFF2-40B4-BE49-F238E27FC236}">
                  <a16:creationId xmlns:a16="http://schemas.microsoft.com/office/drawing/2014/main" id="{52D9622C-D9DF-2527-2C00-A0A3517EEA13}"/>
                </a:ext>
              </a:extLst>
            </p:cNvPr>
            <p:cNvSpPr/>
            <p:nvPr/>
          </p:nvSpPr>
          <p:spPr>
            <a:xfrm>
              <a:off x="585803" y="2020093"/>
              <a:ext cx="813916" cy="5720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core1</a:t>
              </a:r>
            </a:p>
          </p:txBody>
        </p:sp>
        <p:sp>
          <p:nvSpPr>
            <p:cNvPr id="6" name="Rectangle 5">
              <a:extLst>
                <a:ext uri="{FF2B5EF4-FFF2-40B4-BE49-F238E27FC236}">
                  <a16:creationId xmlns:a16="http://schemas.microsoft.com/office/drawing/2014/main" id="{B27C6066-BDD1-5AA6-2671-20EC4B271CA4}"/>
                </a:ext>
              </a:extLst>
            </p:cNvPr>
            <p:cNvSpPr/>
            <p:nvPr/>
          </p:nvSpPr>
          <p:spPr>
            <a:xfrm>
              <a:off x="1669028" y="2020093"/>
              <a:ext cx="813916" cy="5720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core2</a:t>
              </a:r>
            </a:p>
          </p:txBody>
        </p:sp>
      </p:grpSp>
      <p:grpSp>
        <p:nvGrpSpPr>
          <p:cNvPr id="9" name="Group 8">
            <a:extLst>
              <a:ext uri="{FF2B5EF4-FFF2-40B4-BE49-F238E27FC236}">
                <a16:creationId xmlns:a16="http://schemas.microsoft.com/office/drawing/2014/main" id="{B15A931E-225E-21D4-8B7E-29171D6F8D81}"/>
              </a:ext>
            </a:extLst>
          </p:cNvPr>
          <p:cNvGrpSpPr/>
          <p:nvPr/>
        </p:nvGrpSpPr>
        <p:grpSpPr>
          <a:xfrm>
            <a:off x="4355803" y="2477293"/>
            <a:ext cx="2341267" cy="1095270"/>
            <a:chOff x="410987" y="1758462"/>
            <a:chExt cx="2341267" cy="1095270"/>
          </a:xfrm>
        </p:grpSpPr>
        <p:sp>
          <p:nvSpPr>
            <p:cNvPr id="12" name="Rectangle 11">
              <a:extLst>
                <a:ext uri="{FF2B5EF4-FFF2-40B4-BE49-F238E27FC236}">
                  <a16:creationId xmlns:a16="http://schemas.microsoft.com/office/drawing/2014/main" id="{0A891F23-6C79-FC8D-9414-FF37B46E0799}"/>
                </a:ext>
              </a:extLst>
            </p:cNvPr>
            <p:cNvSpPr/>
            <p:nvPr/>
          </p:nvSpPr>
          <p:spPr>
            <a:xfrm>
              <a:off x="410987" y="1758462"/>
              <a:ext cx="2341267" cy="10952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987A325C-DA19-DF4F-98D7-EA16649F412F}"/>
                </a:ext>
              </a:extLst>
            </p:cNvPr>
            <p:cNvSpPr/>
            <p:nvPr/>
          </p:nvSpPr>
          <p:spPr>
            <a:xfrm>
              <a:off x="585803" y="2020093"/>
              <a:ext cx="813916" cy="5720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core1</a:t>
              </a:r>
            </a:p>
          </p:txBody>
        </p:sp>
        <p:sp>
          <p:nvSpPr>
            <p:cNvPr id="15" name="Rectangle 14">
              <a:extLst>
                <a:ext uri="{FF2B5EF4-FFF2-40B4-BE49-F238E27FC236}">
                  <a16:creationId xmlns:a16="http://schemas.microsoft.com/office/drawing/2014/main" id="{7C4F7746-D3E8-0E22-047F-B58B2FFCB829}"/>
                </a:ext>
              </a:extLst>
            </p:cNvPr>
            <p:cNvSpPr/>
            <p:nvPr/>
          </p:nvSpPr>
          <p:spPr>
            <a:xfrm>
              <a:off x="1669028" y="2020093"/>
              <a:ext cx="813916" cy="5720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core2</a:t>
              </a:r>
            </a:p>
          </p:txBody>
        </p:sp>
      </p:grpSp>
      <p:grpSp>
        <p:nvGrpSpPr>
          <p:cNvPr id="16" name="Group 15">
            <a:extLst>
              <a:ext uri="{FF2B5EF4-FFF2-40B4-BE49-F238E27FC236}">
                <a16:creationId xmlns:a16="http://schemas.microsoft.com/office/drawing/2014/main" id="{35BCFC0A-A4EB-8E2D-B93E-A9C17E993BCA}"/>
              </a:ext>
            </a:extLst>
          </p:cNvPr>
          <p:cNvGrpSpPr/>
          <p:nvPr/>
        </p:nvGrpSpPr>
        <p:grpSpPr>
          <a:xfrm>
            <a:off x="8180039" y="2467245"/>
            <a:ext cx="2341267" cy="1095270"/>
            <a:chOff x="410987" y="1758462"/>
            <a:chExt cx="2341267" cy="1095270"/>
          </a:xfrm>
        </p:grpSpPr>
        <p:sp>
          <p:nvSpPr>
            <p:cNvPr id="18" name="Rectangle 17">
              <a:extLst>
                <a:ext uri="{FF2B5EF4-FFF2-40B4-BE49-F238E27FC236}">
                  <a16:creationId xmlns:a16="http://schemas.microsoft.com/office/drawing/2014/main" id="{762332AB-D98B-9679-952D-DB3452834C46}"/>
                </a:ext>
              </a:extLst>
            </p:cNvPr>
            <p:cNvSpPr/>
            <p:nvPr/>
          </p:nvSpPr>
          <p:spPr>
            <a:xfrm>
              <a:off x="410987" y="1758462"/>
              <a:ext cx="2341267" cy="10952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47DF8A95-5121-58CB-A661-5C10B5BE913F}"/>
                </a:ext>
              </a:extLst>
            </p:cNvPr>
            <p:cNvSpPr/>
            <p:nvPr/>
          </p:nvSpPr>
          <p:spPr>
            <a:xfrm>
              <a:off x="585803" y="2020093"/>
              <a:ext cx="813916" cy="5720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core1</a:t>
              </a:r>
            </a:p>
          </p:txBody>
        </p:sp>
        <p:sp>
          <p:nvSpPr>
            <p:cNvPr id="20" name="Rectangle 19">
              <a:extLst>
                <a:ext uri="{FF2B5EF4-FFF2-40B4-BE49-F238E27FC236}">
                  <a16:creationId xmlns:a16="http://schemas.microsoft.com/office/drawing/2014/main" id="{A0325394-78B0-C089-7576-40E9A1B27D75}"/>
                </a:ext>
              </a:extLst>
            </p:cNvPr>
            <p:cNvSpPr/>
            <p:nvPr/>
          </p:nvSpPr>
          <p:spPr>
            <a:xfrm>
              <a:off x="1669028" y="2020093"/>
              <a:ext cx="813916" cy="5720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core2</a:t>
              </a:r>
            </a:p>
          </p:txBody>
        </p:sp>
      </p:grpSp>
      <p:cxnSp>
        <p:nvCxnSpPr>
          <p:cNvPr id="22" name="Straight Arrow Connector 21">
            <a:extLst>
              <a:ext uri="{FF2B5EF4-FFF2-40B4-BE49-F238E27FC236}">
                <a16:creationId xmlns:a16="http://schemas.microsoft.com/office/drawing/2014/main" id="{FBAAED7D-4A2F-0E3A-A1D5-914BC5437A0D}"/>
              </a:ext>
            </a:extLst>
          </p:cNvPr>
          <p:cNvCxnSpPr>
            <a:cxnSpLocks/>
            <a:stCxn id="4" idx="3"/>
            <a:endCxn id="12" idx="1"/>
          </p:cNvCxnSpPr>
          <p:nvPr/>
        </p:nvCxnSpPr>
        <p:spPr>
          <a:xfrm>
            <a:off x="2872834" y="3024928"/>
            <a:ext cx="1482969" cy="0"/>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C1680887-B167-D0EB-2E8A-14DAB959927E}"/>
              </a:ext>
            </a:extLst>
          </p:cNvPr>
          <p:cNvCxnSpPr/>
          <p:nvPr/>
        </p:nvCxnSpPr>
        <p:spPr>
          <a:xfrm>
            <a:off x="6697070" y="3024928"/>
            <a:ext cx="1482969" cy="0"/>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sp>
        <p:nvSpPr>
          <p:cNvPr id="24" name="Rectangle 23">
            <a:extLst>
              <a:ext uri="{FF2B5EF4-FFF2-40B4-BE49-F238E27FC236}">
                <a16:creationId xmlns:a16="http://schemas.microsoft.com/office/drawing/2014/main" id="{83682E41-E050-BA6C-0ECC-D7945FAE609B}"/>
              </a:ext>
            </a:extLst>
          </p:cNvPr>
          <p:cNvSpPr/>
          <p:nvPr/>
        </p:nvSpPr>
        <p:spPr>
          <a:xfrm>
            <a:off x="531567" y="4433835"/>
            <a:ext cx="2341267" cy="339132"/>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Interconnect</a:t>
            </a:r>
          </a:p>
        </p:txBody>
      </p:sp>
      <p:sp>
        <p:nvSpPr>
          <p:cNvPr id="27" name="Rectangle 26">
            <a:extLst>
              <a:ext uri="{FF2B5EF4-FFF2-40B4-BE49-F238E27FC236}">
                <a16:creationId xmlns:a16="http://schemas.microsoft.com/office/drawing/2014/main" id="{C084211E-C857-0358-F828-86046221D03A}"/>
              </a:ext>
            </a:extLst>
          </p:cNvPr>
          <p:cNvSpPr/>
          <p:nvPr/>
        </p:nvSpPr>
        <p:spPr>
          <a:xfrm>
            <a:off x="4355803" y="4433835"/>
            <a:ext cx="2341267" cy="339132"/>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Interconnect</a:t>
            </a:r>
          </a:p>
        </p:txBody>
      </p:sp>
      <p:sp>
        <p:nvSpPr>
          <p:cNvPr id="28" name="Rectangle 27">
            <a:extLst>
              <a:ext uri="{FF2B5EF4-FFF2-40B4-BE49-F238E27FC236}">
                <a16:creationId xmlns:a16="http://schemas.microsoft.com/office/drawing/2014/main" id="{81C01825-ABC8-8189-889A-77AB99D51499}"/>
              </a:ext>
            </a:extLst>
          </p:cNvPr>
          <p:cNvSpPr/>
          <p:nvPr/>
        </p:nvSpPr>
        <p:spPr>
          <a:xfrm>
            <a:off x="8180038" y="4433835"/>
            <a:ext cx="2341267" cy="339132"/>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Interconnect</a:t>
            </a:r>
          </a:p>
        </p:txBody>
      </p:sp>
      <p:cxnSp>
        <p:nvCxnSpPr>
          <p:cNvPr id="29" name="Straight Arrow Connector 28">
            <a:extLst>
              <a:ext uri="{FF2B5EF4-FFF2-40B4-BE49-F238E27FC236}">
                <a16:creationId xmlns:a16="http://schemas.microsoft.com/office/drawing/2014/main" id="{CC71B42D-6542-E65B-C541-AA663BA0A28F}"/>
              </a:ext>
            </a:extLst>
          </p:cNvPr>
          <p:cNvCxnSpPr>
            <a:cxnSpLocks/>
            <a:stCxn id="4" idx="2"/>
          </p:cNvCxnSpPr>
          <p:nvPr/>
        </p:nvCxnSpPr>
        <p:spPr>
          <a:xfrm flipH="1">
            <a:off x="1688645" y="3572563"/>
            <a:ext cx="13556" cy="861272"/>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7D87DB60-DE04-87C8-5D27-6719EF2C942E}"/>
              </a:ext>
            </a:extLst>
          </p:cNvPr>
          <p:cNvCxnSpPr>
            <a:cxnSpLocks/>
          </p:cNvCxnSpPr>
          <p:nvPr/>
        </p:nvCxnSpPr>
        <p:spPr>
          <a:xfrm flipH="1">
            <a:off x="5526436" y="3572563"/>
            <a:ext cx="13556" cy="861272"/>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7919245E-AC39-509F-DBC4-3E4C530A793B}"/>
              </a:ext>
            </a:extLst>
          </p:cNvPr>
          <p:cNvCxnSpPr>
            <a:cxnSpLocks/>
          </p:cNvCxnSpPr>
          <p:nvPr/>
        </p:nvCxnSpPr>
        <p:spPr>
          <a:xfrm flipH="1">
            <a:off x="9337115" y="3572563"/>
            <a:ext cx="13556" cy="861272"/>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sp>
        <p:nvSpPr>
          <p:cNvPr id="34" name="Rectangle 33">
            <a:extLst>
              <a:ext uri="{FF2B5EF4-FFF2-40B4-BE49-F238E27FC236}">
                <a16:creationId xmlns:a16="http://schemas.microsoft.com/office/drawing/2014/main" id="{EFCFB2AE-653B-A4CA-B2AE-A2DFDBA1E517}"/>
              </a:ext>
            </a:extLst>
          </p:cNvPr>
          <p:cNvSpPr/>
          <p:nvPr/>
        </p:nvSpPr>
        <p:spPr>
          <a:xfrm>
            <a:off x="531567" y="5672294"/>
            <a:ext cx="2341267" cy="1019907"/>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Memory</a:t>
            </a:r>
          </a:p>
        </p:txBody>
      </p:sp>
      <p:cxnSp>
        <p:nvCxnSpPr>
          <p:cNvPr id="35" name="Straight Arrow Connector 34">
            <a:extLst>
              <a:ext uri="{FF2B5EF4-FFF2-40B4-BE49-F238E27FC236}">
                <a16:creationId xmlns:a16="http://schemas.microsoft.com/office/drawing/2014/main" id="{A9380D69-63A4-386F-FE4C-C1D339E38CA4}"/>
              </a:ext>
            </a:extLst>
          </p:cNvPr>
          <p:cNvCxnSpPr>
            <a:cxnSpLocks/>
            <a:stCxn id="24" idx="2"/>
          </p:cNvCxnSpPr>
          <p:nvPr/>
        </p:nvCxnSpPr>
        <p:spPr>
          <a:xfrm flipH="1">
            <a:off x="1688645" y="4772967"/>
            <a:ext cx="13556" cy="899327"/>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sp>
        <p:nvSpPr>
          <p:cNvPr id="37" name="Rectangle 36">
            <a:extLst>
              <a:ext uri="{FF2B5EF4-FFF2-40B4-BE49-F238E27FC236}">
                <a16:creationId xmlns:a16="http://schemas.microsoft.com/office/drawing/2014/main" id="{51FBD435-8BC1-5762-190D-829AB788B6F5}"/>
              </a:ext>
            </a:extLst>
          </p:cNvPr>
          <p:cNvSpPr/>
          <p:nvPr/>
        </p:nvSpPr>
        <p:spPr>
          <a:xfrm>
            <a:off x="4355802" y="5672294"/>
            <a:ext cx="2341267" cy="1019907"/>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Memory</a:t>
            </a:r>
          </a:p>
        </p:txBody>
      </p:sp>
      <p:cxnSp>
        <p:nvCxnSpPr>
          <p:cNvPr id="38" name="Straight Arrow Connector 37">
            <a:extLst>
              <a:ext uri="{FF2B5EF4-FFF2-40B4-BE49-F238E27FC236}">
                <a16:creationId xmlns:a16="http://schemas.microsoft.com/office/drawing/2014/main" id="{5ECF6180-CB32-463B-232C-0F3429EA5A41}"/>
              </a:ext>
            </a:extLst>
          </p:cNvPr>
          <p:cNvCxnSpPr>
            <a:cxnSpLocks/>
          </p:cNvCxnSpPr>
          <p:nvPr/>
        </p:nvCxnSpPr>
        <p:spPr>
          <a:xfrm flipH="1">
            <a:off x="5512880" y="4772967"/>
            <a:ext cx="13556" cy="899327"/>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sp>
        <p:nvSpPr>
          <p:cNvPr id="39" name="Rectangle 38">
            <a:extLst>
              <a:ext uri="{FF2B5EF4-FFF2-40B4-BE49-F238E27FC236}">
                <a16:creationId xmlns:a16="http://schemas.microsoft.com/office/drawing/2014/main" id="{310DC06A-8DC5-374D-7814-26144FCCBADE}"/>
              </a:ext>
            </a:extLst>
          </p:cNvPr>
          <p:cNvSpPr/>
          <p:nvPr/>
        </p:nvSpPr>
        <p:spPr>
          <a:xfrm>
            <a:off x="8166481" y="5672294"/>
            <a:ext cx="2341267" cy="1019907"/>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Memory</a:t>
            </a:r>
          </a:p>
        </p:txBody>
      </p:sp>
      <p:cxnSp>
        <p:nvCxnSpPr>
          <p:cNvPr id="40" name="Straight Arrow Connector 39">
            <a:extLst>
              <a:ext uri="{FF2B5EF4-FFF2-40B4-BE49-F238E27FC236}">
                <a16:creationId xmlns:a16="http://schemas.microsoft.com/office/drawing/2014/main" id="{BAFD81A3-61A4-0C1D-438E-C6A5C96334E1}"/>
              </a:ext>
            </a:extLst>
          </p:cNvPr>
          <p:cNvCxnSpPr>
            <a:cxnSpLocks/>
          </p:cNvCxnSpPr>
          <p:nvPr/>
        </p:nvCxnSpPr>
        <p:spPr>
          <a:xfrm flipH="1">
            <a:off x="9323559" y="4772967"/>
            <a:ext cx="13556" cy="899327"/>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sp>
        <p:nvSpPr>
          <p:cNvPr id="41" name="Rectangle 40">
            <a:extLst>
              <a:ext uri="{FF2B5EF4-FFF2-40B4-BE49-F238E27FC236}">
                <a16:creationId xmlns:a16="http://schemas.microsoft.com/office/drawing/2014/main" id="{3F43A077-E003-8B23-A0A5-ED8E8E5E13A1}"/>
              </a:ext>
            </a:extLst>
          </p:cNvPr>
          <p:cNvSpPr/>
          <p:nvPr/>
        </p:nvSpPr>
        <p:spPr>
          <a:xfrm>
            <a:off x="531567" y="5672294"/>
            <a:ext cx="9989738" cy="1019907"/>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Memory</a:t>
            </a:r>
          </a:p>
        </p:txBody>
      </p:sp>
      <p:sp>
        <p:nvSpPr>
          <p:cNvPr id="43" name="Rectangle 42">
            <a:extLst>
              <a:ext uri="{FF2B5EF4-FFF2-40B4-BE49-F238E27FC236}">
                <a16:creationId xmlns:a16="http://schemas.microsoft.com/office/drawing/2014/main" id="{84DB4517-457A-DFC3-AF0B-AA06F6C1A94D}"/>
              </a:ext>
            </a:extLst>
          </p:cNvPr>
          <p:cNvSpPr/>
          <p:nvPr/>
        </p:nvSpPr>
        <p:spPr>
          <a:xfrm>
            <a:off x="531567" y="4433835"/>
            <a:ext cx="9989738" cy="339132"/>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Interconnect</a:t>
            </a:r>
          </a:p>
        </p:txBody>
      </p:sp>
      <p:cxnSp>
        <p:nvCxnSpPr>
          <p:cNvPr id="44" name="Straight Arrow Connector 43">
            <a:extLst>
              <a:ext uri="{FF2B5EF4-FFF2-40B4-BE49-F238E27FC236}">
                <a16:creationId xmlns:a16="http://schemas.microsoft.com/office/drawing/2014/main" id="{C34EBC8F-1F3D-1134-9FA4-5853D24BCE5E}"/>
              </a:ext>
            </a:extLst>
          </p:cNvPr>
          <p:cNvCxnSpPr>
            <a:cxnSpLocks/>
          </p:cNvCxnSpPr>
          <p:nvPr/>
        </p:nvCxnSpPr>
        <p:spPr>
          <a:xfrm flipH="1">
            <a:off x="5512880" y="4772967"/>
            <a:ext cx="13556" cy="899327"/>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sp>
        <p:nvSpPr>
          <p:cNvPr id="50" name="Rectangle 49">
            <a:extLst>
              <a:ext uri="{FF2B5EF4-FFF2-40B4-BE49-F238E27FC236}">
                <a16:creationId xmlns:a16="http://schemas.microsoft.com/office/drawing/2014/main" id="{162E3FCF-741E-C256-7C9F-C2B122FBF9C9}"/>
              </a:ext>
            </a:extLst>
          </p:cNvPr>
          <p:cNvSpPr/>
          <p:nvPr/>
        </p:nvSpPr>
        <p:spPr>
          <a:xfrm>
            <a:off x="524789" y="2477293"/>
            <a:ext cx="9982959" cy="10952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Freeform: Shape 52">
            <a:extLst>
              <a:ext uri="{FF2B5EF4-FFF2-40B4-BE49-F238E27FC236}">
                <a16:creationId xmlns:a16="http://schemas.microsoft.com/office/drawing/2014/main" id="{CF4955F1-F666-9657-F64F-D6766A019C64}"/>
              </a:ext>
            </a:extLst>
          </p:cNvPr>
          <p:cNvSpPr/>
          <p:nvPr/>
        </p:nvSpPr>
        <p:spPr>
          <a:xfrm>
            <a:off x="934497"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9" name="Freeform: Shape 58">
            <a:extLst>
              <a:ext uri="{FF2B5EF4-FFF2-40B4-BE49-F238E27FC236}">
                <a16:creationId xmlns:a16="http://schemas.microsoft.com/office/drawing/2014/main" id="{4539F5AF-95C1-BBFF-CD00-D8C164A00F3A}"/>
              </a:ext>
            </a:extLst>
          </p:cNvPr>
          <p:cNvSpPr/>
          <p:nvPr/>
        </p:nvSpPr>
        <p:spPr>
          <a:xfrm>
            <a:off x="1789829"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0" name="Freeform: Shape 59">
            <a:extLst>
              <a:ext uri="{FF2B5EF4-FFF2-40B4-BE49-F238E27FC236}">
                <a16:creationId xmlns:a16="http://schemas.microsoft.com/office/drawing/2014/main" id="{F2BDE449-EA51-5CE6-2C10-9EA7F48E07A4}"/>
              </a:ext>
            </a:extLst>
          </p:cNvPr>
          <p:cNvSpPr/>
          <p:nvPr/>
        </p:nvSpPr>
        <p:spPr>
          <a:xfrm>
            <a:off x="2232203"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1" name="Freeform: Shape 60">
            <a:extLst>
              <a:ext uri="{FF2B5EF4-FFF2-40B4-BE49-F238E27FC236}">
                <a16:creationId xmlns:a16="http://schemas.microsoft.com/office/drawing/2014/main" id="{E0DB56A5-FFD6-B15B-4161-F26E63E2E59D}"/>
              </a:ext>
            </a:extLst>
          </p:cNvPr>
          <p:cNvSpPr/>
          <p:nvPr/>
        </p:nvSpPr>
        <p:spPr>
          <a:xfrm>
            <a:off x="2643871"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4" name="Freeform: Shape 73">
            <a:extLst>
              <a:ext uri="{FF2B5EF4-FFF2-40B4-BE49-F238E27FC236}">
                <a16:creationId xmlns:a16="http://schemas.microsoft.com/office/drawing/2014/main" id="{AB4831B4-4BC5-0C72-1019-E2EBCD9D06CE}"/>
              </a:ext>
            </a:extLst>
          </p:cNvPr>
          <p:cNvSpPr/>
          <p:nvPr/>
        </p:nvSpPr>
        <p:spPr>
          <a:xfrm>
            <a:off x="3415720"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5" name="Freeform: Shape 74">
            <a:extLst>
              <a:ext uri="{FF2B5EF4-FFF2-40B4-BE49-F238E27FC236}">
                <a16:creationId xmlns:a16="http://schemas.microsoft.com/office/drawing/2014/main" id="{54C79384-F2A7-0C6A-B835-09B6B409EFDB}"/>
              </a:ext>
            </a:extLst>
          </p:cNvPr>
          <p:cNvSpPr/>
          <p:nvPr/>
        </p:nvSpPr>
        <p:spPr>
          <a:xfrm>
            <a:off x="3858094"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7" name="Freeform: Shape 76">
            <a:extLst>
              <a:ext uri="{FF2B5EF4-FFF2-40B4-BE49-F238E27FC236}">
                <a16:creationId xmlns:a16="http://schemas.microsoft.com/office/drawing/2014/main" id="{3B531A1F-3F23-E4FE-BB21-1335E14A5CAE}"/>
              </a:ext>
            </a:extLst>
          </p:cNvPr>
          <p:cNvSpPr/>
          <p:nvPr/>
        </p:nvSpPr>
        <p:spPr>
          <a:xfrm>
            <a:off x="4713426"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9" name="Freeform: Shape 78">
            <a:extLst>
              <a:ext uri="{FF2B5EF4-FFF2-40B4-BE49-F238E27FC236}">
                <a16:creationId xmlns:a16="http://schemas.microsoft.com/office/drawing/2014/main" id="{5DC27644-8D42-E816-F814-D8565D97124C}"/>
              </a:ext>
            </a:extLst>
          </p:cNvPr>
          <p:cNvSpPr/>
          <p:nvPr/>
        </p:nvSpPr>
        <p:spPr>
          <a:xfrm>
            <a:off x="5567468"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0" name="Freeform: Shape 79">
            <a:extLst>
              <a:ext uri="{FF2B5EF4-FFF2-40B4-BE49-F238E27FC236}">
                <a16:creationId xmlns:a16="http://schemas.microsoft.com/office/drawing/2014/main" id="{C4ED99D4-DEB8-BF56-ACEA-BA564A9D0E64}"/>
              </a:ext>
            </a:extLst>
          </p:cNvPr>
          <p:cNvSpPr/>
          <p:nvPr/>
        </p:nvSpPr>
        <p:spPr>
          <a:xfrm>
            <a:off x="5928973"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1" name="Freeform: Shape 80">
            <a:extLst>
              <a:ext uri="{FF2B5EF4-FFF2-40B4-BE49-F238E27FC236}">
                <a16:creationId xmlns:a16="http://schemas.microsoft.com/office/drawing/2014/main" id="{67E1F672-D7A6-0E59-6A92-0A36A2A1039E}"/>
              </a:ext>
            </a:extLst>
          </p:cNvPr>
          <p:cNvSpPr/>
          <p:nvPr/>
        </p:nvSpPr>
        <p:spPr>
          <a:xfrm>
            <a:off x="6371347"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2" name="Freeform: Shape 81">
            <a:extLst>
              <a:ext uri="{FF2B5EF4-FFF2-40B4-BE49-F238E27FC236}">
                <a16:creationId xmlns:a16="http://schemas.microsoft.com/office/drawing/2014/main" id="{1D7696AF-9E08-E510-E6E0-C9063FD48943}"/>
              </a:ext>
            </a:extLst>
          </p:cNvPr>
          <p:cNvSpPr/>
          <p:nvPr/>
        </p:nvSpPr>
        <p:spPr>
          <a:xfrm>
            <a:off x="6784305"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4" name="Freeform: Shape 83">
            <a:extLst>
              <a:ext uri="{FF2B5EF4-FFF2-40B4-BE49-F238E27FC236}">
                <a16:creationId xmlns:a16="http://schemas.microsoft.com/office/drawing/2014/main" id="{DCBE49E4-918E-7CAA-5D99-932D7BF1B7A8}"/>
              </a:ext>
            </a:extLst>
          </p:cNvPr>
          <p:cNvSpPr/>
          <p:nvPr/>
        </p:nvSpPr>
        <p:spPr>
          <a:xfrm>
            <a:off x="7638347"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5" name="Freeform: Shape 84">
            <a:extLst>
              <a:ext uri="{FF2B5EF4-FFF2-40B4-BE49-F238E27FC236}">
                <a16:creationId xmlns:a16="http://schemas.microsoft.com/office/drawing/2014/main" id="{DFE33F45-F280-402E-6226-7255A63FABA4}"/>
              </a:ext>
            </a:extLst>
          </p:cNvPr>
          <p:cNvSpPr/>
          <p:nvPr/>
        </p:nvSpPr>
        <p:spPr>
          <a:xfrm>
            <a:off x="8080721"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6" name="Freeform: Shape 85">
            <a:extLst>
              <a:ext uri="{FF2B5EF4-FFF2-40B4-BE49-F238E27FC236}">
                <a16:creationId xmlns:a16="http://schemas.microsoft.com/office/drawing/2014/main" id="{9A044B4D-05ED-2644-9C84-DC3B7F458D1E}"/>
              </a:ext>
            </a:extLst>
          </p:cNvPr>
          <p:cNvSpPr/>
          <p:nvPr/>
        </p:nvSpPr>
        <p:spPr>
          <a:xfrm>
            <a:off x="8550536"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7" name="Freeform: Shape 86">
            <a:extLst>
              <a:ext uri="{FF2B5EF4-FFF2-40B4-BE49-F238E27FC236}">
                <a16:creationId xmlns:a16="http://schemas.microsoft.com/office/drawing/2014/main" id="{CC10ABF5-AE4D-AF2A-CF56-44E3212EC63D}"/>
              </a:ext>
            </a:extLst>
          </p:cNvPr>
          <p:cNvSpPr/>
          <p:nvPr/>
        </p:nvSpPr>
        <p:spPr>
          <a:xfrm>
            <a:off x="8962204" y="261257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chemeClr val="accent1">
                <a:lumMod val="60000"/>
                <a:lumOff val="4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89" name="Straight Arrow Connector 88">
            <a:extLst>
              <a:ext uri="{FF2B5EF4-FFF2-40B4-BE49-F238E27FC236}">
                <a16:creationId xmlns:a16="http://schemas.microsoft.com/office/drawing/2014/main" id="{DE1F5992-6591-50CD-8CC4-B9B4BA8B28CC}"/>
              </a:ext>
            </a:extLst>
          </p:cNvPr>
          <p:cNvCxnSpPr>
            <a:cxnSpLocks/>
          </p:cNvCxnSpPr>
          <p:nvPr/>
        </p:nvCxnSpPr>
        <p:spPr>
          <a:xfrm flipH="1">
            <a:off x="5519658" y="3562515"/>
            <a:ext cx="13556" cy="861272"/>
          </a:xfrm>
          <a:prstGeom prst="straightConnector1">
            <a:avLst/>
          </a:prstGeom>
          <a:ln w="38100">
            <a:headEnd type="triangle"/>
            <a:tailEnd type="triangle"/>
          </a:ln>
        </p:spPr>
        <p:style>
          <a:lnRef idx="2">
            <a:schemeClr val="dk1"/>
          </a:lnRef>
          <a:fillRef idx="0">
            <a:schemeClr val="dk1"/>
          </a:fillRef>
          <a:effectRef idx="1">
            <a:schemeClr val="dk1"/>
          </a:effectRef>
          <a:fontRef idx="minor">
            <a:schemeClr val="tx1"/>
          </a:fontRef>
        </p:style>
      </p:cxnSp>
      <p:sp>
        <p:nvSpPr>
          <p:cNvPr id="90" name="Freeform: Shape 89">
            <a:extLst>
              <a:ext uri="{FF2B5EF4-FFF2-40B4-BE49-F238E27FC236}">
                <a16:creationId xmlns:a16="http://schemas.microsoft.com/office/drawing/2014/main" id="{5E5A6630-5C10-0E00-8A03-633588CF5BD1}"/>
              </a:ext>
            </a:extLst>
          </p:cNvPr>
          <p:cNvSpPr/>
          <p:nvPr/>
        </p:nvSpPr>
        <p:spPr>
          <a:xfrm>
            <a:off x="1377940" y="2634554"/>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3" name="Freeform: Shape 92">
            <a:extLst>
              <a:ext uri="{FF2B5EF4-FFF2-40B4-BE49-F238E27FC236}">
                <a16:creationId xmlns:a16="http://schemas.microsoft.com/office/drawing/2014/main" id="{60B15AD0-4B6D-8496-B9B1-975AB832E7F1}"/>
              </a:ext>
            </a:extLst>
          </p:cNvPr>
          <p:cNvSpPr/>
          <p:nvPr/>
        </p:nvSpPr>
        <p:spPr>
          <a:xfrm>
            <a:off x="2975204" y="2634554"/>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2" name="Freeform: Shape 101">
            <a:extLst>
              <a:ext uri="{FF2B5EF4-FFF2-40B4-BE49-F238E27FC236}">
                <a16:creationId xmlns:a16="http://schemas.microsoft.com/office/drawing/2014/main" id="{B35D95C0-36F2-6216-87D8-E0C7361E3479}"/>
              </a:ext>
            </a:extLst>
          </p:cNvPr>
          <p:cNvSpPr/>
          <p:nvPr/>
        </p:nvSpPr>
        <p:spPr>
          <a:xfrm>
            <a:off x="5187628" y="2634554"/>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3" name="Freeform: Shape 102">
            <a:extLst>
              <a:ext uri="{FF2B5EF4-FFF2-40B4-BE49-F238E27FC236}">
                <a16:creationId xmlns:a16="http://schemas.microsoft.com/office/drawing/2014/main" id="{D14968D9-BE1F-20E1-1CB0-3B015F2E9A12}"/>
              </a:ext>
            </a:extLst>
          </p:cNvPr>
          <p:cNvSpPr/>
          <p:nvPr/>
        </p:nvSpPr>
        <p:spPr>
          <a:xfrm>
            <a:off x="4282552" y="264460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4" name="Freeform: Shape 103">
            <a:extLst>
              <a:ext uri="{FF2B5EF4-FFF2-40B4-BE49-F238E27FC236}">
                <a16:creationId xmlns:a16="http://schemas.microsoft.com/office/drawing/2014/main" id="{1CF3F5C2-CBF0-786D-E952-35A5FA0F870C}"/>
              </a:ext>
            </a:extLst>
          </p:cNvPr>
          <p:cNvSpPr/>
          <p:nvPr/>
        </p:nvSpPr>
        <p:spPr>
          <a:xfrm>
            <a:off x="7242906" y="2644602"/>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5" name="Freeform: Shape 104">
            <a:extLst>
              <a:ext uri="{FF2B5EF4-FFF2-40B4-BE49-F238E27FC236}">
                <a16:creationId xmlns:a16="http://schemas.microsoft.com/office/drawing/2014/main" id="{548EC2C8-4F3D-5435-AA90-C5E584396AD8}"/>
              </a:ext>
            </a:extLst>
          </p:cNvPr>
          <p:cNvSpPr/>
          <p:nvPr/>
        </p:nvSpPr>
        <p:spPr>
          <a:xfrm>
            <a:off x="9487669" y="2627645"/>
            <a:ext cx="271304" cy="760652"/>
          </a:xfrm>
          <a:custGeom>
            <a:avLst/>
            <a:gdLst>
              <a:gd name="csX0" fmla="*/ 50241 w 261382"/>
              <a:gd name="csY0" fmla="*/ 0 h 644347"/>
              <a:gd name="csX1" fmla="*/ 160773 w 261382"/>
              <a:gd name="csY1" fmla="*/ 10049 h 644347"/>
              <a:gd name="csX2" fmla="*/ 200967 w 261382"/>
              <a:gd name="csY2" fmla="*/ 20097 h 644347"/>
              <a:gd name="csX3" fmla="*/ 150725 w 261382"/>
              <a:gd name="csY3" fmla="*/ 60291 h 644347"/>
              <a:gd name="csX4" fmla="*/ 0 w 261382"/>
              <a:gd name="csY4" fmla="*/ 130629 h 644347"/>
              <a:gd name="csX5" fmla="*/ 30145 w 261382"/>
              <a:gd name="csY5" fmla="*/ 221064 h 644347"/>
              <a:gd name="csX6" fmla="*/ 90435 w 261382"/>
              <a:gd name="csY6" fmla="*/ 261258 h 644347"/>
              <a:gd name="csX7" fmla="*/ 170822 w 261382"/>
              <a:gd name="csY7" fmla="*/ 281354 h 644347"/>
              <a:gd name="csX8" fmla="*/ 200967 w 261382"/>
              <a:gd name="csY8" fmla="*/ 311499 h 644347"/>
              <a:gd name="csX9" fmla="*/ 261257 w 261382"/>
              <a:gd name="csY9" fmla="*/ 361741 h 644347"/>
              <a:gd name="csX10" fmla="*/ 211015 w 261382"/>
              <a:gd name="csY10" fmla="*/ 381838 h 644347"/>
              <a:gd name="csX11" fmla="*/ 90435 w 261382"/>
              <a:gd name="csY11" fmla="*/ 452176 h 644347"/>
              <a:gd name="csX12" fmla="*/ 60290 w 261382"/>
              <a:gd name="csY12" fmla="*/ 492370 h 644347"/>
              <a:gd name="csX13" fmla="*/ 100483 w 261382"/>
              <a:gd name="csY13" fmla="*/ 522515 h 644347"/>
              <a:gd name="csX14" fmla="*/ 140677 w 261382"/>
              <a:gd name="csY14" fmla="*/ 542611 h 644347"/>
              <a:gd name="csX15" fmla="*/ 211015 w 261382"/>
              <a:gd name="csY15" fmla="*/ 582805 h 644347"/>
              <a:gd name="csX16" fmla="*/ 200967 w 261382"/>
              <a:gd name="csY16" fmla="*/ 633047 h 644347"/>
              <a:gd name="csX17" fmla="*/ 170822 w 261382"/>
              <a:gd name="csY17" fmla="*/ 643095 h 644347"/>
              <a:gd name="csX18" fmla="*/ 10048 w 261382"/>
              <a:gd name="csY18" fmla="*/ 643095 h 6443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1382" h="644347">
                <a:moveTo>
                  <a:pt x="50241" y="0"/>
                </a:moveTo>
                <a:cubicBezTo>
                  <a:pt x="87085" y="3350"/>
                  <a:pt x="124102" y="5159"/>
                  <a:pt x="160773" y="10049"/>
                </a:cubicBezTo>
                <a:cubicBezTo>
                  <a:pt x="174462" y="11874"/>
                  <a:pt x="203675" y="6555"/>
                  <a:pt x="200967" y="20097"/>
                </a:cubicBezTo>
                <a:cubicBezTo>
                  <a:pt x="196761" y="41128"/>
                  <a:pt x="168570" y="48394"/>
                  <a:pt x="150725" y="60291"/>
                </a:cubicBezTo>
                <a:cubicBezTo>
                  <a:pt x="86623" y="103025"/>
                  <a:pt x="72730" y="103355"/>
                  <a:pt x="0" y="130629"/>
                </a:cubicBezTo>
                <a:cubicBezTo>
                  <a:pt x="10048" y="160774"/>
                  <a:pt x="15935" y="192643"/>
                  <a:pt x="30145" y="221064"/>
                </a:cubicBezTo>
                <a:cubicBezTo>
                  <a:pt x="43937" y="248647"/>
                  <a:pt x="64580" y="254207"/>
                  <a:pt x="90435" y="261258"/>
                </a:cubicBezTo>
                <a:cubicBezTo>
                  <a:pt x="117082" y="268525"/>
                  <a:pt x="144026" y="274655"/>
                  <a:pt x="170822" y="281354"/>
                </a:cubicBezTo>
                <a:cubicBezTo>
                  <a:pt x="180870" y="291402"/>
                  <a:pt x="190346" y="302058"/>
                  <a:pt x="200967" y="311499"/>
                </a:cubicBezTo>
                <a:cubicBezTo>
                  <a:pt x="220519" y="328879"/>
                  <a:pt x="257558" y="335844"/>
                  <a:pt x="261257" y="361741"/>
                </a:cubicBezTo>
                <a:cubicBezTo>
                  <a:pt x="263808" y="379597"/>
                  <a:pt x="226956" y="373399"/>
                  <a:pt x="211015" y="381838"/>
                </a:cubicBezTo>
                <a:cubicBezTo>
                  <a:pt x="169891" y="403610"/>
                  <a:pt x="90435" y="452176"/>
                  <a:pt x="90435" y="452176"/>
                </a:cubicBezTo>
                <a:cubicBezTo>
                  <a:pt x="80387" y="465574"/>
                  <a:pt x="57922" y="475791"/>
                  <a:pt x="60290" y="492370"/>
                </a:cubicBezTo>
                <a:cubicBezTo>
                  <a:pt x="62658" y="508949"/>
                  <a:pt x="86281" y="513639"/>
                  <a:pt x="100483" y="522515"/>
                </a:cubicBezTo>
                <a:cubicBezTo>
                  <a:pt x="113185" y="530454"/>
                  <a:pt x="127671" y="535179"/>
                  <a:pt x="140677" y="542611"/>
                </a:cubicBezTo>
                <a:cubicBezTo>
                  <a:pt x="240127" y="599439"/>
                  <a:pt x="89517" y="522055"/>
                  <a:pt x="211015" y="582805"/>
                </a:cubicBezTo>
                <a:cubicBezTo>
                  <a:pt x="207666" y="599552"/>
                  <a:pt x="210441" y="618836"/>
                  <a:pt x="200967" y="633047"/>
                </a:cubicBezTo>
                <a:cubicBezTo>
                  <a:pt x="195092" y="641860"/>
                  <a:pt x="181399" y="642538"/>
                  <a:pt x="170822" y="643095"/>
                </a:cubicBezTo>
                <a:cubicBezTo>
                  <a:pt x="117305" y="645912"/>
                  <a:pt x="63639" y="643095"/>
                  <a:pt x="10048" y="643095"/>
                </a:cubicBezTo>
              </a:path>
            </a:pathLst>
          </a:custGeom>
          <a:ln w="28575">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07" name="Straight Arrow Connector 106">
            <a:extLst>
              <a:ext uri="{FF2B5EF4-FFF2-40B4-BE49-F238E27FC236}">
                <a16:creationId xmlns:a16="http://schemas.microsoft.com/office/drawing/2014/main" id="{22FFBB37-DECE-3845-7358-93AA3342B0D1}"/>
              </a:ext>
            </a:extLst>
          </p:cNvPr>
          <p:cNvCxnSpPr>
            <a:cxnSpLocks/>
          </p:cNvCxnSpPr>
          <p:nvPr/>
        </p:nvCxnSpPr>
        <p:spPr>
          <a:xfrm flipV="1">
            <a:off x="1544816" y="1811844"/>
            <a:ext cx="1328018" cy="77742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8" name="Cloud 107">
            <a:extLst>
              <a:ext uri="{FF2B5EF4-FFF2-40B4-BE49-F238E27FC236}">
                <a16:creationId xmlns:a16="http://schemas.microsoft.com/office/drawing/2014/main" id="{0A812FE5-A7D0-6933-37EB-B0D28055211D}"/>
              </a:ext>
            </a:extLst>
          </p:cNvPr>
          <p:cNvSpPr/>
          <p:nvPr/>
        </p:nvSpPr>
        <p:spPr>
          <a:xfrm>
            <a:off x="2872834" y="993092"/>
            <a:ext cx="2414252" cy="1017396"/>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97132"/>
                </a:solidFill>
                <a:effectLst/>
                <a:uLnTx/>
                <a:uFillTx/>
                <a:latin typeface="Arial" panose="020B0604020202020204" pitchFamily="34" charset="0"/>
                <a:ea typeface="+mn-ea"/>
                <a:cs typeface="Arial" panose="020B0604020202020204" pitchFamily="34" charset="0"/>
              </a:rPr>
              <a:t>Active Threads</a:t>
            </a:r>
          </a:p>
        </p:txBody>
      </p:sp>
      <p:cxnSp>
        <p:nvCxnSpPr>
          <p:cNvPr id="110" name="Straight Arrow Connector 109">
            <a:extLst>
              <a:ext uri="{FF2B5EF4-FFF2-40B4-BE49-F238E27FC236}">
                <a16:creationId xmlns:a16="http://schemas.microsoft.com/office/drawing/2014/main" id="{25BFCAC4-BB1A-8576-07A8-A3C69532C06C}"/>
              </a:ext>
            </a:extLst>
          </p:cNvPr>
          <p:cNvCxnSpPr/>
          <p:nvPr/>
        </p:nvCxnSpPr>
        <p:spPr>
          <a:xfrm flipV="1">
            <a:off x="3125037" y="1919235"/>
            <a:ext cx="211016" cy="6700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044B7FAB-9E8A-0B00-9D44-40DBB4181107}"/>
              </a:ext>
            </a:extLst>
          </p:cNvPr>
          <p:cNvCxnSpPr>
            <a:cxnSpLocks/>
            <a:endCxn id="108" idx="1"/>
          </p:cNvCxnSpPr>
          <p:nvPr/>
        </p:nvCxnSpPr>
        <p:spPr>
          <a:xfrm flipH="1" flipV="1">
            <a:off x="4079960" y="2009405"/>
            <a:ext cx="361411" cy="5798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a:extLst>
              <a:ext uri="{FF2B5EF4-FFF2-40B4-BE49-F238E27FC236}">
                <a16:creationId xmlns:a16="http://schemas.microsoft.com/office/drawing/2014/main" id="{462C7D27-2163-2AEB-C573-9C92E050386A}"/>
              </a:ext>
            </a:extLst>
          </p:cNvPr>
          <p:cNvCxnSpPr/>
          <p:nvPr/>
        </p:nvCxnSpPr>
        <p:spPr>
          <a:xfrm flipH="1" flipV="1">
            <a:off x="4553856" y="1919235"/>
            <a:ext cx="790679" cy="6700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25DE92F2-B56E-37E8-3508-1849453B7A4D}"/>
              </a:ext>
            </a:extLst>
          </p:cNvPr>
          <p:cNvCxnSpPr/>
          <p:nvPr/>
        </p:nvCxnSpPr>
        <p:spPr>
          <a:xfrm flipH="1" flipV="1">
            <a:off x="4883499" y="1811844"/>
            <a:ext cx="2359407" cy="80072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a:extLst>
              <a:ext uri="{FF2B5EF4-FFF2-40B4-BE49-F238E27FC236}">
                <a16:creationId xmlns:a16="http://schemas.microsoft.com/office/drawing/2014/main" id="{FF3B72E3-7A69-E37E-F70A-34B7D4104BE9}"/>
              </a:ext>
            </a:extLst>
          </p:cNvPr>
          <p:cNvCxnSpPr>
            <a:cxnSpLocks/>
            <a:endCxn id="108" idx="0"/>
          </p:cNvCxnSpPr>
          <p:nvPr/>
        </p:nvCxnSpPr>
        <p:spPr>
          <a:xfrm flipH="1" flipV="1">
            <a:off x="5285074" y="1501790"/>
            <a:ext cx="4351295" cy="108747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9" name="Rectangle 118">
            <a:extLst>
              <a:ext uri="{FF2B5EF4-FFF2-40B4-BE49-F238E27FC236}">
                <a16:creationId xmlns:a16="http://schemas.microsoft.com/office/drawing/2014/main" id="{B9D2DDDD-D0D2-F621-E35A-EE32DCA09E7A}"/>
              </a:ext>
            </a:extLst>
          </p:cNvPr>
          <p:cNvSpPr/>
          <p:nvPr/>
        </p:nvSpPr>
        <p:spPr>
          <a:xfrm>
            <a:off x="6371347" y="1084209"/>
            <a:ext cx="5784747"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Their number is specified by the OS, and they give the program the parallelism property</a:t>
            </a:r>
          </a:p>
        </p:txBody>
      </p:sp>
    </p:spTree>
    <p:custDataLst>
      <p:tags r:id="rId1"/>
    </p:custDataLst>
    <p:extLst>
      <p:ext uri="{BB962C8B-B14F-4D97-AF65-F5344CB8AC3E}">
        <p14:creationId xmlns:p14="http://schemas.microsoft.com/office/powerpoint/2010/main" val="3924963755"/>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1A96CAA8-C25E-069E-23EB-F7466A5ED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180E6-DC0F-8E4C-26C5-DD99655DCAC0}"/>
              </a:ext>
            </a:extLst>
          </p:cNvPr>
          <p:cNvSpPr>
            <a:spLocks noGrp="1"/>
          </p:cNvSpPr>
          <p:nvPr>
            <p:ph type="title"/>
          </p:nvPr>
        </p:nvSpPr>
        <p:spPr>
          <a:xfrm>
            <a:off x="35906" y="-166149"/>
            <a:ext cx="11996331" cy="1325563"/>
          </a:xfrm>
        </p:spPr>
        <p:txBody>
          <a:bodyPr>
            <a:normAutofit/>
          </a:bodyPr>
          <a:lstStyle/>
          <a:p>
            <a:r>
              <a:rPr lang="en-US" b="1" dirty="0"/>
              <a:t>The Concurrent Solution (The Way)</a:t>
            </a:r>
            <a:r>
              <a:rPr lang="en-US" b="1" dirty="0">
                <a:latin typeface="Times New Roman" panose="02020603050405020304" pitchFamily="18" charset="0"/>
                <a:cs typeface="Times New Roman" panose="02020603050405020304" pitchFamily="18" charset="0"/>
              </a:rPr>
              <a:t>:</a:t>
            </a:r>
            <a:endParaRPr lang="en-US" sz="4200" b="1" dirty="0">
              <a:latin typeface="Times New Roman" panose="02020603050405020304" pitchFamily="18" charset="0"/>
              <a:cs typeface="Times New Roman" panose="02020603050405020304" pitchFamily="18" charset="0"/>
            </a:endParaRPr>
          </a:p>
        </p:txBody>
      </p:sp>
      <p:pic>
        <p:nvPicPr>
          <p:cNvPr id="3" name="Graphic 2" descr="Paper with solid fill">
            <a:extLst>
              <a:ext uri="{FF2B5EF4-FFF2-40B4-BE49-F238E27FC236}">
                <a16:creationId xmlns:a16="http://schemas.microsoft.com/office/drawing/2014/main" id="{7F9FF344-6C8B-76F5-AE63-ABE7FCC9C07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43377" y="996595"/>
            <a:ext cx="420320" cy="449117"/>
          </a:xfrm>
          <a:prstGeom prst="rect">
            <a:avLst/>
          </a:prstGeom>
        </p:spPr>
      </p:pic>
      <p:pic>
        <p:nvPicPr>
          <p:cNvPr id="8" name="Graphic 7" descr="Paper with solid fill">
            <a:extLst>
              <a:ext uri="{FF2B5EF4-FFF2-40B4-BE49-F238E27FC236}">
                <a16:creationId xmlns:a16="http://schemas.microsoft.com/office/drawing/2014/main" id="{6E1C4026-6C5F-6813-EF6D-519DF511E5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68148" y="1460280"/>
            <a:ext cx="420320" cy="449117"/>
          </a:xfrm>
          <a:prstGeom prst="rect">
            <a:avLst/>
          </a:prstGeom>
        </p:spPr>
      </p:pic>
      <p:pic>
        <p:nvPicPr>
          <p:cNvPr id="10" name="Graphic 9" descr="Paper with solid fill">
            <a:extLst>
              <a:ext uri="{FF2B5EF4-FFF2-40B4-BE49-F238E27FC236}">
                <a16:creationId xmlns:a16="http://schemas.microsoft.com/office/drawing/2014/main" id="{D3F3D7BE-580C-156A-87EA-1BD47CDF78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06658" y="1430784"/>
            <a:ext cx="420320" cy="449117"/>
          </a:xfrm>
          <a:prstGeom prst="rect">
            <a:avLst/>
          </a:prstGeom>
        </p:spPr>
      </p:pic>
      <p:pic>
        <p:nvPicPr>
          <p:cNvPr id="11" name="Graphic 10" descr="Paper with solid fill">
            <a:extLst>
              <a:ext uri="{FF2B5EF4-FFF2-40B4-BE49-F238E27FC236}">
                <a16:creationId xmlns:a16="http://schemas.microsoft.com/office/drawing/2014/main" id="{E3B1330E-BF66-F15F-E406-31FFCBABD39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03988" y="871136"/>
            <a:ext cx="420320" cy="449117"/>
          </a:xfrm>
          <a:prstGeom prst="rect">
            <a:avLst/>
          </a:prstGeom>
        </p:spPr>
      </p:pic>
      <p:pic>
        <p:nvPicPr>
          <p:cNvPr id="30" name="Graphic 29" descr="Paper with solid fill">
            <a:extLst>
              <a:ext uri="{FF2B5EF4-FFF2-40B4-BE49-F238E27FC236}">
                <a16:creationId xmlns:a16="http://schemas.microsoft.com/office/drawing/2014/main" id="{85803574-5E5D-1D3A-EBAB-A7D5F475E4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93118" y="1290757"/>
            <a:ext cx="420320" cy="449117"/>
          </a:xfrm>
          <a:prstGeom prst="rect">
            <a:avLst/>
          </a:prstGeom>
        </p:spPr>
      </p:pic>
      <p:graphicFrame>
        <p:nvGraphicFramePr>
          <p:cNvPr id="36" name="Table 35">
            <a:extLst>
              <a:ext uri="{FF2B5EF4-FFF2-40B4-BE49-F238E27FC236}">
                <a16:creationId xmlns:a16="http://schemas.microsoft.com/office/drawing/2014/main" id="{0FCE7944-938F-F5FD-338F-6B2E9F928EEE}"/>
              </a:ext>
            </a:extLst>
          </p:cNvPr>
          <p:cNvGraphicFramePr>
            <a:graphicFrameLocks noGrp="1"/>
          </p:cNvGraphicFramePr>
          <p:nvPr>
            <p:extLst>
              <p:ext uri="{D42A27DB-BD31-4B8C-83A1-F6EECF244321}">
                <p14:modId xmlns:p14="http://schemas.microsoft.com/office/powerpoint/2010/main" val="1362649501"/>
              </p:ext>
            </p:extLst>
          </p:nvPr>
        </p:nvGraphicFramePr>
        <p:xfrm>
          <a:off x="156543" y="2606310"/>
          <a:ext cx="1205312" cy="1438400"/>
        </p:xfrm>
        <a:graphic>
          <a:graphicData uri="http://schemas.openxmlformats.org/drawingml/2006/table">
            <a:tbl>
              <a:tblPr firstRow="1" bandRow="1">
                <a:tableStyleId>{5C22544A-7EE6-4342-B048-85BDC9FD1C3A}</a:tableStyleId>
              </a:tblPr>
              <a:tblGrid>
                <a:gridCol w="1205312">
                  <a:extLst>
                    <a:ext uri="{9D8B030D-6E8A-4147-A177-3AD203B41FA5}">
                      <a16:colId xmlns:a16="http://schemas.microsoft.com/office/drawing/2014/main" val="1070318504"/>
                    </a:ext>
                  </a:extLst>
                </a:gridCol>
              </a:tblGrid>
              <a:tr h="14384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5693744"/>
                  </a:ext>
                </a:extLst>
              </a:tr>
            </a:tbl>
          </a:graphicData>
        </a:graphic>
      </p:graphicFrame>
      <p:graphicFrame>
        <p:nvGraphicFramePr>
          <p:cNvPr id="42" name="Table 41">
            <a:extLst>
              <a:ext uri="{FF2B5EF4-FFF2-40B4-BE49-F238E27FC236}">
                <a16:creationId xmlns:a16="http://schemas.microsoft.com/office/drawing/2014/main" id="{2032148C-774B-9263-E188-A19F61549609}"/>
              </a:ext>
            </a:extLst>
          </p:cNvPr>
          <p:cNvGraphicFramePr>
            <a:graphicFrameLocks noGrp="1"/>
          </p:cNvGraphicFramePr>
          <p:nvPr>
            <p:extLst>
              <p:ext uri="{D42A27DB-BD31-4B8C-83A1-F6EECF244321}">
                <p14:modId xmlns:p14="http://schemas.microsoft.com/office/powerpoint/2010/main" val="1353255750"/>
              </p:ext>
            </p:extLst>
          </p:nvPr>
        </p:nvGraphicFramePr>
        <p:xfrm>
          <a:off x="4743615" y="2606310"/>
          <a:ext cx="1205312" cy="1438400"/>
        </p:xfrm>
        <a:graphic>
          <a:graphicData uri="http://schemas.openxmlformats.org/drawingml/2006/table">
            <a:tbl>
              <a:tblPr firstRow="1" bandRow="1">
                <a:tableStyleId>{5C22544A-7EE6-4342-B048-85BDC9FD1C3A}</a:tableStyleId>
              </a:tblPr>
              <a:tblGrid>
                <a:gridCol w="1205312">
                  <a:extLst>
                    <a:ext uri="{9D8B030D-6E8A-4147-A177-3AD203B41FA5}">
                      <a16:colId xmlns:a16="http://schemas.microsoft.com/office/drawing/2014/main" val="1070318504"/>
                    </a:ext>
                  </a:extLst>
                </a:gridCol>
              </a:tblGrid>
              <a:tr h="14384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5693744"/>
                  </a:ext>
                </a:extLst>
              </a:tr>
            </a:tbl>
          </a:graphicData>
        </a:graphic>
      </p:graphicFrame>
      <p:graphicFrame>
        <p:nvGraphicFramePr>
          <p:cNvPr id="45" name="Table 44">
            <a:extLst>
              <a:ext uri="{FF2B5EF4-FFF2-40B4-BE49-F238E27FC236}">
                <a16:creationId xmlns:a16="http://schemas.microsoft.com/office/drawing/2014/main" id="{E9F5DDC5-F5D7-B9F4-306F-9FC70E641827}"/>
              </a:ext>
            </a:extLst>
          </p:cNvPr>
          <p:cNvGraphicFramePr>
            <a:graphicFrameLocks noGrp="1"/>
          </p:cNvGraphicFramePr>
          <p:nvPr>
            <p:extLst>
              <p:ext uri="{D42A27DB-BD31-4B8C-83A1-F6EECF244321}">
                <p14:modId xmlns:p14="http://schemas.microsoft.com/office/powerpoint/2010/main" val="3140814451"/>
              </p:ext>
            </p:extLst>
          </p:nvPr>
        </p:nvGraphicFramePr>
        <p:xfrm>
          <a:off x="1685567" y="2606310"/>
          <a:ext cx="1205312" cy="1438400"/>
        </p:xfrm>
        <a:graphic>
          <a:graphicData uri="http://schemas.openxmlformats.org/drawingml/2006/table">
            <a:tbl>
              <a:tblPr firstRow="1" bandRow="1">
                <a:tableStyleId>{5C22544A-7EE6-4342-B048-85BDC9FD1C3A}</a:tableStyleId>
              </a:tblPr>
              <a:tblGrid>
                <a:gridCol w="1205312">
                  <a:extLst>
                    <a:ext uri="{9D8B030D-6E8A-4147-A177-3AD203B41FA5}">
                      <a16:colId xmlns:a16="http://schemas.microsoft.com/office/drawing/2014/main" val="1070318504"/>
                    </a:ext>
                  </a:extLst>
                </a:gridCol>
              </a:tblGrid>
              <a:tr h="14384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5693744"/>
                  </a:ext>
                </a:extLst>
              </a:tr>
            </a:tbl>
          </a:graphicData>
        </a:graphic>
      </p:graphicFrame>
      <p:graphicFrame>
        <p:nvGraphicFramePr>
          <p:cNvPr id="46" name="Table 45">
            <a:extLst>
              <a:ext uri="{FF2B5EF4-FFF2-40B4-BE49-F238E27FC236}">
                <a16:creationId xmlns:a16="http://schemas.microsoft.com/office/drawing/2014/main" id="{CC7FF88B-7BF6-A5A6-8EEB-D1B76B0CB5DC}"/>
              </a:ext>
            </a:extLst>
          </p:cNvPr>
          <p:cNvGraphicFramePr>
            <a:graphicFrameLocks noGrp="1"/>
          </p:cNvGraphicFramePr>
          <p:nvPr>
            <p:extLst>
              <p:ext uri="{D42A27DB-BD31-4B8C-83A1-F6EECF244321}">
                <p14:modId xmlns:p14="http://schemas.microsoft.com/office/powerpoint/2010/main" val="1748562844"/>
              </p:ext>
            </p:extLst>
          </p:nvPr>
        </p:nvGraphicFramePr>
        <p:xfrm>
          <a:off x="3214591" y="2606310"/>
          <a:ext cx="1205312" cy="1438400"/>
        </p:xfrm>
        <a:graphic>
          <a:graphicData uri="http://schemas.openxmlformats.org/drawingml/2006/table">
            <a:tbl>
              <a:tblPr firstRow="1" bandRow="1">
                <a:tableStyleId>{5C22544A-7EE6-4342-B048-85BDC9FD1C3A}</a:tableStyleId>
              </a:tblPr>
              <a:tblGrid>
                <a:gridCol w="1205312">
                  <a:extLst>
                    <a:ext uri="{9D8B030D-6E8A-4147-A177-3AD203B41FA5}">
                      <a16:colId xmlns:a16="http://schemas.microsoft.com/office/drawing/2014/main" val="1070318504"/>
                    </a:ext>
                  </a:extLst>
                </a:gridCol>
              </a:tblGrid>
              <a:tr h="14384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5693744"/>
                  </a:ext>
                </a:extLst>
              </a:tr>
            </a:tbl>
          </a:graphicData>
        </a:graphic>
      </p:graphicFrame>
      <p:graphicFrame>
        <p:nvGraphicFramePr>
          <p:cNvPr id="47" name="Table 46">
            <a:extLst>
              <a:ext uri="{FF2B5EF4-FFF2-40B4-BE49-F238E27FC236}">
                <a16:creationId xmlns:a16="http://schemas.microsoft.com/office/drawing/2014/main" id="{FDFD0D35-622B-B0D6-2357-229D2DEF0AB7}"/>
              </a:ext>
            </a:extLst>
          </p:cNvPr>
          <p:cNvGraphicFramePr>
            <a:graphicFrameLocks noGrp="1"/>
          </p:cNvGraphicFramePr>
          <p:nvPr>
            <p:extLst>
              <p:ext uri="{D42A27DB-BD31-4B8C-83A1-F6EECF244321}">
                <p14:modId xmlns:p14="http://schemas.microsoft.com/office/powerpoint/2010/main" val="3440961536"/>
              </p:ext>
            </p:extLst>
          </p:nvPr>
        </p:nvGraphicFramePr>
        <p:xfrm>
          <a:off x="6272639" y="2606310"/>
          <a:ext cx="1205312" cy="1438400"/>
        </p:xfrm>
        <a:graphic>
          <a:graphicData uri="http://schemas.openxmlformats.org/drawingml/2006/table">
            <a:tbl>
              <a:tblPr firstRow="1" bandRow="1">
                <a:tableStyleId>{5C22544A-7EE6-4342-B048-85BDC9FD1C3A}</a:tableStyleId>
              </a:tblPr>
              <a:tblGrid>
                <a:gridCol w="1205312">
                  <a:extLst>
                    <a:ext uri="{9D8B030D-6E8A-4147-A177-3AD203B41FA5}">
                      <a16:colId xmlns:a16="http://schemas.microsoft.com/office/drawing/2014/main" val="1070318504"/>
                    </a:ext>
                  </a:extLst>
                </a:gridCol>
              </a:tblGrid>
              <a:tr h="14384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5693744"/>
                  </a:ext>
                </a:extLst>
              </a:tr>
            </a:tbl>
          </a:graphicData>
        </a:graphic>
      </p:graphicFrame>
      <p:pic>
        <p:nvPicPr>
          <p:cNvPr id="49" name="Picture 48">
            <a:extLst>
              <a:ext uri="{FF2B5EF4-FFF2-40B4-BE49-F238E27FC236}">
                <a16:creationId xmlns:a16="http://schemas.microsoft.com/office/drawing/2014/main" id="{948DF416-C293-DACE-728E-55185A751E9B}"/>
              </a:ext>
            </a:extLst>
          </p:cNvPr>
          <p:cNvPicPr>
            <a:picLocks noChangeAspect="1"/>
          </p:cNvPicPr>
          <p:nvPr/>
        </p:nvPicPr>
        <p:blipFill>
          <a:blip r:embed="rId6"/>
          <a:stretch>
            <a:fillRect/>
          </a:stretch>
        </p:blipFill>
        <p:spPr>
          <a:xfrm>
            <a:off x="618217" y="3248643"/>
            <a:ext cx="281964" cy="632515"/>
          </a:xfrm>
          <a:prstGeom prst="rect">
            <a:avLst/>
          </a:prstGeom>
        </p:spPr>
      </p:pic>
      <p:pic>
        <p:nvPicPr>
          <p:cNvPr id="51" name="Picture 50">
            <a:extLst>
              <a:ext uri="{FF2B5EF4-FFF2-40B4-BE49-F238E27FC236}">
                <a16:creationId xmlns:a16="http://schemas.microsoft.com/office/drawing/2014/main" id="{F5EE09E6-B906-1784-BBF9-2CFA3490C563}"/>
              </a:ext>
            </a:extLst>
          </p:cNvPr>
          <p:cNvPicPr>
            <a:picLocks noChangeAspect="1"/>
          </p:cNvPicPr>
          <p:nvPr/>
        </p:nvPicPr>
        <p:blipFill>
          <a:blip r:embed="rId6"/>
          <a:stretch>
            <a:fillRect/>
          </a:stretch>
        </p:blipFill>
        <p:spPr>
          <a:xfrm>
            <a:off x="2147241" y="3248643"/>
            <a:ext cx="281964" cy="632515"/>
          </a:xfrm>
          <a:prstGeom prst="rect">
            <a:avLst/>
          </a:prstGeom>
        </p:spPr>
      </p:pic>
      <p:pic>
        <p:nvPicPr>
          <p:cNvPr id="52" name="Picture 51">
            <a:extLst>
              <a:ext uri="{FF2B5EF4-FFF2-40B4-BE49-F238E27FC236}">
                <a16:creationId xmlns:a16="http://schemas.microsoft.com/office/drawing/2014/main" id="{EE8C69DE-6068-4E02-736D-1AF7A44C855C}"/>
              </a:ext>
            </a:extLst>
          </p:cNvPr>
          <p:cNvPicPr>
            <a:picLocks noChangeAspect="1"/>
          </p:cNvPicPr>
          <p:nvPr/>
        </p:nvPicPr>
        <p:blipFill>
          <a:blip r:embed="rId6"/>
          <a:stretch>
            <a:fillRect/>
          </a:stretch>
        </p:blipFill>
        <p:spPr>
          <a:xfrm>
            <a:off x="3676265" y="3248643"/>
            <a:ext cx="281964" cy="632515"/>
          </a:xfrm>
          <a:prstGeom prst="rect">
            <a:avLst/>
          </a:prstGeom>
        </p:spPr>
      </p:pic>
      <p:pic>
        <p:nvPicPr>
          <p:cNvPr id="54" name="Picture 53">
            <a:extLst>
              <a:ext uri="{FF2B5EF4-FFF2-40B4-BE49-F238E27FC236}">
                <a16:creationId xmlns:a16="http://schemas.microsoft.com/office/drawing/2014/main" id="{F43E245A-DFDF-9B6F-3491-582CCE64ECCB}"/>
              </a:ext>
            </a:extLst>
          </p:cNvPr>
          <p:cNvPicPr>
            <a:picLocks noChangeAspect="1"/>
          </p:cNvPicPr>
          <p:nvPr/>
        </p:nvPicPr>
        <p:blipFill>
          <a:blip r:embed="rId6"/>
          <a:stretch>
            <a:fillRect/>
          </a:stretch>
        </p:blipFill>
        <p:spPr>
          <a:xfrm>
            <a:off x="5205289" y="3248643"/>
            <a:ext cx="281964" cy="632515"/>
          </a:xfrm>
          <a:prstGeom prst="rect">
            <a:avLst/>
          </a:prstGeom>
        </p:spPr>
      </p:pic>
      <p:pic>
        <p:nvPicPr>
          <p:cNvPr id="55" name="Picture 54">
            <a:extLst>
              <a:ext uri="{FF2B5EF4-FFF2-40B4-BE49-F238E27FC236}">
                <a16:creationId xmlns:a16="http://schemas.microsoft.com/office/drawing/2014/main" id="{3BFA1827-DC81-EABD-6320-A58D8AA85FDE}"/>
              </a:ext>
            </a:extLst>
          </p:cNvPr>
          <p:cNvPicPr>
            <a:picLocks noChangeAspect="1"/>
          </p:cNvPicPr>
          <p:nvPr/>
        </p:nvPicPr>
        <p:blipFill>
          <a:blip r:embed="rId6"/>
          <a:stretch>
            <a:fillRect/>
          </a:stretch>
        </p:blipFill>
        <p:spPr>
          <a:xfrm>
            <a:off x="6734313" y="3248643"/>
            <a:ext cx="281964" cy="632515"/>
          </a:xfrm>
          <a:prstGeom prst="rect">
            <a:avLst/>
          </a:prstGeom>
        </p:spPr>
      </p:pic>
      <p:graphicFrame>
        <p:nvGraphicFramePr>
          <p:cNvPr id="56" name="Table 55">
            <a:extLst>
              <a:ext uri="{FF2B5EF4-FFF2-40B4-BE49-F238E27FC236}">
                <a16:creationId xmlns:a16="http://schemas.microsoft.com/office/drawing/2014/main" id="{0F40A70D-C819-599B-CB0D-DCD60CF3506E}"/>
              </a:ext>
            </a:extLst>
          </p:cNvPr>
          <p:cNvGraphicFramePr>
            <a:graphicFrameLocks noGrp="1"/>
          </p:cNvGraphicFramePr>
          <p:nvPr>
            <p:extLst>
              <p:ext uri="{D42A27DB-BD31-4B8C-83A1-F6EECF244321}">
                <p14:modId xmlns:p14="http://schemas.microsoft.com/office/powerpoint/2010/main" val="2798842191"/>
              </p:ext>
            </p:extLst>
          </p:nvPr>
        </p:nvGraphicFramePr>
        <p:xfrm>
          <a:off x="2790462" y="5142205"/>
          <a:ext cx="1205312" cy="1438400"/>
        </p:xfrm>
        <a:graphic>
          <a:graphicData uri="http://schemas.openxmlformats.org/drawingml/2006/table">
            <a:tbl>
              <a:tblPr firstRow="1" bandRow="1">
                <a:tableStyleId>{5C22544A-7EE6-4342-B048-85BDC9FD1C3A}</a:tableStyleId>
              </a:tblPr>
              <a:tblGrid>
                <a:gridCol w="1205312">
                  <a:extLst>
                    <a:ext uri="{9D8B030D-6E8A-4147-A177-3AD203B41FA5}">
                      <a16:colId xmlns:a16="http://schemas.microsoft.com/office/drawing/2014/main" val="1070318504"/>
                    </a:ext>
                  </a:extLst>
                </a:gridCol>
              </a:tblGrid>
              <a:tr h="1438400">
                <a:tc>
                  <a:txBody>
                    <a:bodyPr/>
                    <a:lstStyle/>
                    <a:p>
                      <a:endParaRPr lang="en-US"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915693744"/>
                  </a:ext>
                </a:extLst>
              </a:tr>
            </a:tbl>
          </a:graphicData>
        </a:graphic>
      </p:graphicFrame>
      <p:pic>
        <p:nvPicPr>
          <p:cNvPr id="57" name="Picture 56">
            <a:extLst>
              <a:ext uri="{FF2B5EF4-FFF2-40B4-BE49-F238E27FC236}">
                <a16:creationId xmlns:a16="http://schemas.microsoft.com/office/drawing/2014/main" id="{6FB40289-874B-EDB5-C16F-FE9316DCF1AD}"/>
              </a:ext>
            </a:extLst>
          </p:cNvPr>
          <p:cNvPicPr>
            <a:picLocks noChangeAspect="1"/>
          </p:cNvPicPr>
          <p:nvPr/>
        </p:nvPicPr>
        <p:blipFill>
          <a:blip r:embed="rId6"/>
          <a:stretch>
            <a:fillRect/>
          </a:stretch>
        </p:blipFill>
        <p:spPr>
          <a:xfrm>
            <a:off x="3252136" y="5754393"/>
            <a:ext cx="281964" cy="632515"/>
          </a:xfrm>
          <a:prstGeom prst="rect">
            <a:avLst/>
          </a:prstGeom>
        </p:spPr>
      </p:pic>
      <p:sp>
        <p:nvSpPr>
          <p:cNvPr id="58" name="Rectangle 57">
            <a:extLst>
              <a:ext uri="{FF2B5EF4-FFF2-40B4-BE49-F238E27FC236}">
                <a16:creationId xmlns:a16="http://schemas.microsoft.com/office/drawing/2014/main" id="{C2989ED4-967F-F50A-1EB7-48E3CA75B608}"/>
              </a:ext>
            </a:extLst>
          </p:cNvPr>
          <p:cNvSpPr/>
          <p:nvPr/>
        </p:nvSpPr>
        <p:spPr>
          <a:xfrm>
            <a:off x="5507349" y="1065323"/>
            <a:ext cx="6586449"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First, we create a call stack (goroutine) to handle one file</a:t>
            </a:r>
          </a:p>
        </p:txBody>
      </p:sp>
      <p:sp>
        <p:nvSpPr>
          <p:cNvPr id="62" name="Rectangle 61">
            <a:extLst>
              <a:ext uri="{FF2B5EF4-FFF2-40B4-BE49-F238E27FC236}">
                <a16:creationId xmlns:a16="http://schemas.microsoft.com/office/drawing/2014/main" id="{5D9B097E-8805-523C-73C0-091EFF2AA52E}"/>
              </a:ext>
            </a:extLst>
          </p:cNvPr>
          <p:cNvSpPr/>
          <p:nvPr/>
        </p:nvSpPr>
        <p:spPr>
          <a:xfrm>
            <a:off x="5507349" y="1761438"/>
            <a:ext cx="6586449"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Second, we assign each file to its corresponding stack</a:t>
            </a:r>
          </a:p>
        </p:txBody>
      </p:sp>
      <p:sp>
        <p:nvSpPr>
          <p:cNvPr id="63" name="Rectangle 62">
            <a:extLst>
              <a:ext uri="{FF2B5EF4-FFF2-40B4-BE49-F238E27FC236}">
                <a16:creationId xmlns:a16="http://schemas.microsoft.com/office/drawing/2014/main" id="{3AD09B2D-BFD8-0301-B39A-D571A5A4C97C}"/>
              </a:ext>
            </a:extLst>
          </p:cNvPr>
          <p:cNvSpPr/>
          <p:nvPr/>
        </p:nvSpPr>
        <p:spPr>
          <a:xfrm>
            <a:off x="7656844" y="2567855"/>
            <a:ext cx="4436954" cy="86114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Each of the stacks will do  the same function</a:t>
            </a:r>
          </a:p>
        </p:txBody>
      </p:sp>
      <p:sp>
        <p:nvSpPr>
          <p:cNvPr id="64" name="Rectangle 63">
            <a:extLst>
              <a:ext uri="{FF2B5EF4-FFF2-40B4-BE49-F238E27FC236}">
                <a16:creationId xmlns:a16="http://schemas.microsoft.com/office/drawing/2014/main" id="{58E61992-D3F7-8A90-94D1-4CF0407125E1}"/>
              </a:ext>
            </a:extLst>
          </p:cNvPr>
          <p:cNvSpPr/>
          <p:nvPr/>
        </p:nvSpPr>
        <p:spPr>
          <a:xfrm>
            <a:off x="7656843" y="3638049"/>
            <a:ext cx="4486055" cy="12956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Finally, with the help of channels, we can map the results of each stack to the master thread to formulate the output</a:t>
            </a:r>
          </a:p>
        </p:txBody>
      </p:sp>
      <p:cxnSp>
        <p:nvCxnSpPr>
          <p:cNvPr id="67" name="Connector: Elbow 66">
            <a:extLst>
              <a:ext uri="{FF2B5EF4-FFF2-40B4-BE49-F238E27FC236}">
                <a16:creationId xmlns:a16="http://schemas.microsoft.com/office/drawing/2014/main" id="{A050B427-30B8-42FA-1DC5-A8898A978D13}"/>
              </a:ext>
            </a:extLst>
          </p:cNvPr>
          <p:cNvCxnSpPr>
            <a:cxnSpLocks/>
          </p:cNvCxnSpPr>
          <p:nvPr/>
        </p:nvCxnSpPr>
        <p:spPr>
          <a:xfrm rot="10800000" flipV="1">
            <a:off x="3995775" y="4044710"/>
            <a:ext cx="2879521" cy="2025940"/>
          </a:xfrm>
          <a:prstGeom prst="bentConnector3">
            <a:avLst>
              <a:gd name="adj1" fmla="val -25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Connector: Elbow 71">
            <a:extLst>
              <a:ext uri="{FF2B5EF4-FFF2-40B4-BE49-F238E27FC236}">
                <a16:creationId xmlns:a16="http://schemas.microsoft.com/office/drawing/2014/main" id="{5F9D165B-783D-B16C-7552-420C05B29A34}"/>
              </a:ext>
            </a:extLst>
          </p:cNvPr>
          <p:cNvCxnSpPr>
            <a:cxnSpLocks/>
            <a:endCxn id="56" idx="3"/>
          </p:cNvCxnSpPr>
          <p:nvPr/>
        </p:nvCxnSpPr>
        <p:spPr>
          <a:xfrm rot="5400000">
            <a:off x="3730096" y="4310389"/>
            <a:ext cx="1816695" cy="128533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DC300C39-ED77-5C5A-CBD3-4E72841AD926}"/>
              </a:ext>
            </a:extLst>
          </p:cNvPr>
          <p:cNvCxnSpPr>
            <a:cxnSpLocks/>
          </p:cNvCxnSpPr>
          <p:nvPr/>
        </p:nvCxnSpPr>
        <p:spPr>
          <a:xfrm rot="5400000">
            <a:off x="3385195" y="4671017"/>
            <a:ext cx="1530699" cy="278085"/>
          </a:xfrm>
          <a:prstGeom prst="bentConnector3">
            <a:avLst>
              <a:gd name="adj1" fmla="val 10054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Connector: Elbow 87">
            <a:extLst>
              <a:ext uri="{FF2B5EF4-FFF2-40B4-BE49-F238E27FC236}">
                <a16:creationId xmlns:a16="http://schemas.microsoft.com/office/drawing/2014/main" id="{E183AB13-7716-E31F-E467-B6603081E8C4}"/>
              </a:ext>
            </a:extLst>
          </p:cNvPr>
          <p:cNvCxnSpPr>
            <a:cxnSpLocks/>
            <a:endCxn id="56" idx="1"/>
          </p:cNvCxnSpPr>
          <p:nvPr/>
        </p:nvCxnSpPr>
        <p:spPr>
          <a:xfrm rot="16200000" flipH="1">
            <a:off x="1511264" y="4582207"/>
            <a:ext cx="1816696" cy="74170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Connector: Elbow 91">
            <a:extLst>
              <a:ext uri="{FF2B5EF4-FFF2-40B4-BE49-F238E27FC236}">
                <a16:creationId xmlns:a16="http://schemas.microsoft.com/office/drawing/2014/main" id="{7348F9C8-5194-D575-2FC0-97562515D759}"/>
              </a:ext>
            </a:extLst>
          </p:cNvPr>
          <p:cNvCxnSpPr>
            <a:cxnSpLocks/>
          </p:cNvCxnSpPr>
          <p:nvPr/>
        </p:nvCxnSpPr>
        <p:spPr>
          <a:xfrm rot="16200000" flipH="1">
            <a:off x="646977" y="4196779"/>
            <a:ext cx="2265656" cy="1961516"/>
          </a:xfrm>
          <a:prstGeom prst="bentConnector3">
            <a:avLst>
              <a:gd name="adj1" fmla="val 100116"/>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Cloud 95">
            <a:extLst>
              <a:ext uri="{FF2B5EF4-FFF2-40B4-BE49-F238E27FC236}">
                <a16:creationId xmlns:a16="http://schemas.microsoft.com/office/drawing/2014/main" id="{B15BD9DF-2463-510C-7E16-15E3B3237400}"/>
              </a:ext>
            </a:extLst>
          </p:cNvPr>
          <p:cNvSpPr/>
          <p:nvPr/>
        </p:nvSpPr>
        <p:spPr>
          <a:xfrm>
            <a:off x="352852" y="835623"/>
            <a:ext cx="1881206" cy="933881"/>
          </a:xfrm>
          <a:prstGeom prst="cloud">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Our Data</a:t>
            </a:r>
          </a:p>
        </p:txBody>
      </p:sp>
      <p:sp>
        <p:nvSpPr>
          <p:cNvPr id="97" name="Cloud 96">
            <a:extLst>
              <a:ext uri="{FF2B5EF4-FFF2-40B4-BE49-F238E27FC236}">
                <a16:creationId xmlns:a16="http://schemas.microsoft.com/office/drawing/2014/main" id="{F6D6BBB4-CED3-5EA3-8BBA-1E04C4DEC6CD}"/>
              </a:ext>
            </a:extLst>
          </p:cNvPr>
          <p:cNvSpPr/>
          <p:nvPr/>
        </p:nvSpPr>
        <p:spPr>
          <a:xfrm>
            <a:off x="2565485" y="4421718"/>
            <a:ext cx="1607562" cy="681610"/>
          </a:xfrm>
          <a:prstGeom prst="cloud">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Master</a:t>
            </a:r>
          </a:p>
        </p:txBody>
      </p:sp>
    </p:spTree>
    <p:custDataLst>
      <p:tags r:id="rId1"/>
    </p:custDataLst>
    <p:extLst>
      <p:ext uri="{BB962C8B-B14F-4D97-AF65-F5344CB8AC3E}">
        <p14:creationId xmlns:p14="http://schemas.microsoft.com/office/powerpoint/2010/main" val="153969971"/>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down)">
                                      <p:cBhvr>
                                        <p:cTn id="12" dur="500"/>
                                        <p:tgtEl>
                                          <p:spTgt spid="49"/>
                                        </p:tgtEl>
                                      </p:cBhvr>
                                    </p:animEffect>
                                  </p:childTnLst>
                                </p:cTn>
                              </p:par>
                              <p:par>
                                <p:cTn id="13" presetID="22" presetClass="entr" presetSubtype="4"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down)">
                                      <p:cBhvr>
                                        <p:cTn id="15" dur="500"/>
                                        <p:tgtEl>
                                          <p:spTgt spid="36"/>
                                        </p:tgtEl>
                                      </p:cBhvr>
                                    </p:animEffect>
                                  </p:childTnLst>
                                </p:cTn>
                              </p:par>
                              <p:par>
                                <p:cTn id="16" presetID="22" presetClass="entr" presetSubtype="4" fill="hold" nodeType="with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wipe(down)">
                                      <p:cBhvr>
                                        <p:cTn id="18" dur="500"/>
                                        <p:tgtEl>
                                          <p:spTgt spid="45"/>
                                        </p:tgtEl>
                                      </p:cBhvr>
                                    </p:animEffect>
                                  </p:childTnLst>
                                </p:cTn>
                              </p:par>
                              <p:par>
                                <p:cTn id="19" presetID="22" presetClass="entr" presetSubtype="4"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wipe(down)">
                                      <p:cBhvr>
                                        <p:cTn id="21" dur="500"/>
                                        <p:tgtEl>
                                          <p:spTgt spid="51"/>
                                        </p:tgtEl>
                                      </p:cBhvr>
                                    </p:animEffect>
                                  </p:childTnLst>
                                </p:cTn>
                              </p:par>
                              <p:par>
                                <p:cTn id="22" presetID="22" presetClass="entr" presetSubtype="4" fill="hold"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wipe(down)">
                                      <p:cBhvr>
                                        <p:cTn id="24" dur="500"/>
                                        <p:tgtEl>
                                          <p:spTgt spid="46"/>
                                        </p:tgtEl>
                                      </p:cBhvr>
                                    </p:animEffect>
                                  </p:childTnLst>
                                </p:cTn>
                              </p:par>
                              <p:par>
                                <p:cTn id="25" presetID="22" presetClass="entr" presetSubtype="4"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down)">
                                      <p:cBhvr>
                                        <p:cTn id="27" dur="500"/>
                                        <p:tgtEl>
                                          <p:spTgt spid="52"/>
                                        </p:tgtEl>
                                      </p:cBhvr>
                                    </p:animEffect>
                                  </p:childTnLst>
                                </p:cTn>
                              </p:par>
                              <p:par>
                                <p:cTn id="28" presetID="22" presetClass="entr" presetSubtype="4"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wipe(down)">
                                      <p:cBhvr>
                                        <p:cTn id="30" dur="500"/>
                                        <p:tgtEl>
                                          <p:spTgt spid="42"/>
                                        </p:tgtEl>
                                      </p:cBhvr>
                                    </p:animEffect>
                                  </p:childTnLst>
                                </p:cTn>
                              </p:par>
                              <p:par>
                                <p:cTn id="31" presetID="22" presetClass="entr" presetSubtype="4" fill="hold" nodeType="with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wipe(down)">
                                      <p:cBhvr>
                                        <p:cTn id="33" dur="500"/>
                                        <p:tgtEl>
                                          <p:spTgt spid="54"/>
                                        </p:tgtEl>
                                      </p:cBhvr>
                                    </p:animEffect>
                                  </p:childTnLst>
                                </p:cTn>
                              </p:par>
                              <p:par>
                                <p:cTn id="34" presetID="22" presetClass="entr" presetSubtype="4" fill="hold" nodeType="withEffect">
                                  <p:stCondLst>
                                    <p:cond delay="0"/>
                                  </p:stCondLst>
                                  <p:childTnLst>
                                    <p:set>
                                      <p:cBhvr>
                                        <p:cTn id="35" dur="1" fill="hold">
                                          <p:stCondLst>
                                            <p:cond delay="0"/>
                                          </p:stCondLst>
                                        </p:cTn>
                                        <p:tgtEl>
                                          <p:spTgt spid="47"/>
                                        </p:tgtEl>
                                        <p:attrNameLst>
                                          <p:attrName>style.visibility</p:attrName>
                                        </p:attrNameLst>
                                      </p:cBhvr>
                                      <p:to>
                                        <p:strVal val="visible"/>
                                      </p:to>
                                    </p:set>
                                    <p:animEffect transition="in" filter="wipe(down)">
                                      <p:cBhvr>
                                        <p:cTn id="36" dur="500"/>
                                        <p:tgtEl>
                                          <p:spTgt spid="47"/>
                                        </p:tgtEl>
                                      </p:cBhvr>
                                    </p:animEffect>
                                  </p:childTnLst>
                                </p:cTn>
                              </p:par>
                              <p:par>
                                <p:cTn id="37" presetID="22" presetClass="entr" presetSubtype="4" fill="hold" nodeType="with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down)">
                                      <p:cBhvr>
                                        <p:cTn id="39" dur="500"/>
                                        <p:tgtEl>
                                          <p:spTgt spid="55"/>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barn(inVertical)">
                                      <p:cBhvr>
                                        <p:cTn id="44" dur="500"/>
                                        <p:tgtEl>
                                          <p:spTgt spid="62"/>
                                        </p:tgtEl>
                                      </p:cBhvr>
                                    </p:animEffect>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nodeType="clickEffect">
                                  <p:stCondLst>
                                    <p:cond delay="0"/>
                                  </p:stCondLst>
                                  <p:childTnLst>
                                    <p:animMotion origin="layout" path="M -0.00612 0.01528 L -0.00612 0.01528 C -0.01549 0.0206 -0.0246 0.02824 -0.03424 0.03125 C -0.05494 0.03796 -0.09687 0.04445 -0.09687 0.04445 C -0.11445 0.05787 -0.09518 0.04167 -0.10507 0.05324 C -0.11302 0.0625 -0.12109 0.07084 -0.12903 0.07963 C -0.13294 0.08403 -0.13697 0.08773 -0.14062 0.09283 L -0.15455 0.1132 C -0.16067 0.15695 -0.15572 0.13843 -0.1677 0.17037 C -0.16432 0.18264 -0.16588 0.17523 -0.16445 0.18658 C -0.16354 0.19375 -0.16367 0.19028 -0.16367 0.19398 L -0.16367 0.19398 L -0.16367 0.19398 " pathEditMode="relative" ptsTypes="AAAAAAAAAAAAA">
                                      <p:cBhvr>
                                        <p:cTn id="48" dur="2000" fill="hold"/>
                                        <p:tgtEl>
                                          <p:spTgt spid="8"/>
                                        </p:tgtEl>
                                        <p:attrNameLst>
                                          <p:attrName>ppt_x</p:attrName>
                                          <p:attrName>ppt_y</p:attrName>
                                        </p:attrNameLst>
                                      </p:cBhvr>
                                    </p:animMotion>
                                  </p:childTnLst>
                                </p:cTn>
                              </p:par>
                              <p:par>
                                <p:cTn id="49" presetID="0" presetClass="path" presetSubtype="0" accel="50000" decel="50000" fill="hold" nodeType="withEffect">
                                  <p:stCondLst>
                                    <p:cond delay="0"/>
                                  </p:stCondLst>
                                  <p:childTnLst>
                                    <p:animMotion origin="layout" path="M -0.00338 0.00649 L -0.00338 0.00649 C -0.00039 0.0088 0.00287 0.01042 0.0056 0.01366 C 0.01901 0.02917 0.02956 0.05556 0.04518 0.06204 C 0.06016 0.06829 0.07227 0.07199 0.08646 0.08264 C 0.11133 0.10139 0.07292 0.08195 0.10456 0.09723 C 0.11211 0.10093 0.11354 0.10024 0.12188 0.10301 C 0.12683 0.10486 0.13177 0.10718 0.13672 0.10903 C 0.13998 0.11019 0.14336 0.11065 0.14662 0.11181 C 0.14857 0.1125 0.15039 0.11412 0.15235 0.11482 C 0.15482 0.11574 0.15729 0.11551 0.15977 0.11621 C 0.18529 0.12315 0.15547 0.11621 0.17539 0.12061 C 0.17826 0.12246 0.18672 0.12848 0.18946 0.1294 C 0.19297 0.13079 0.19662 0.13125 0.20013 0.13241 C 0.20287 0.13334 0.2056 0.13426 0.20834 0.13542 L 0.22565 0.1338 C 0.22813 0.13357 0.23073 0.13334 0.23308 0.13241 C 0.23438 0.13195 0.23529 0.13033 0.23646 0.1294 C 0.23776 0.12848 0.23906 0.12709 0.2405 0.12662 C 0.24544 0.12454 0.25039 0.12361 0.25534 0.12223 C 0.26276 0.12547 0.25378 0.1213 0.26524 0.12801 C 0.26719 0.12917 0.26914 0.12986 0.2711 0.13102 C 0.27318 0.13426 0.27513 0.1382 0.27761 0.14121 C 0.28099 0.14514 0.28529 0.14676 0.28828 0.15139 C 0.29141 0.15625 0.30078 0.17871 0.30235 0.1882 C 0.30313 0.19236 0.30235 0.19699 0.30235 0.20139 L 0.30235 0.20139 " pathEditMode="relative" ptsTypes="AAAAAAAAAAAAAAAAAAAAAAAAAAA">
                                      <p:cBhvr>
                                        <p:cTn id="50" dur="2000" fill="hold"/>
                                        <p:tgtEl>
                                          <p:spTgt spid="10"/>
                                        </p:tgtEl>
                                        <p:attrNameLst>
                                          <p:attrName>ppt_x</p:attrName>
                                          <p:attrName>ppt_y</p:attrName>
                                        </p:attrNameLst>
                                      </p:cBhvr>
                                    </p:animMotion>
                                  </p:childTnLst>
                                </p:cTn>
                              </p:par>
                              <p:par>
                                <p:cTn id="51" presetID="0" presetClass="path" presetSubtype="0" accel="50000" decel="50000" fill="hold" nodeType="withEffect">
                                  <p:stCondLst>
                                    <p:cond delay="0"/>
                                  </p:stCondLst>
                                  <p:childTnLst>
                                    <p:animMotion origin="layout" path="M 0.00456 0.01065 L 0.00456 0.01065 C 0.00586 0.01389 0.0069 0.01783 0.0086 0.02084 C 0.01563 0.03241 0.02045 0.03148 0.03008 0.03681 C 0.03477 0.03959 0.03933 0.04329 0.04401 0.04561 C 0.0474 0.04746 0.07266 0.05695 0.08034 0.06482 C 0.08086 0.06528 0.0944 0.08357 0.09675 0.0882 C 0.09844 0.09121 0.09948 0.09514 0.10091 0.09838 C 0.10443 0.10625 0.10821 0.11389 0.11159 0.12176 C 0.11237 0.12361 0.11263 0.12593 0.11328 0.12778 C 0.11732 0.13959 0.12071 0.15232 0.12565 0.16297 C 0.12852 0.16898 0.13099 0.17361 0.13308 0.18056 C 0.13373 0.18287 0.13425 0.18542 0.13477 0.18773 C 0.13907 0.20903 0.13802 0.20162 0.13972 0.21574 L 0.1388 0.21574 " pathEditMode="relative" ptsTypes="AAAAAAAAAAAAAAA">
                                      <p:cBhvr>
                                        <p:cTn id="52" dur="2000" fill="hold"/>
                                        <p:tgtEl>
                                          <p:spTgt spid="30"/>
                                        </p:tgtEl>
                                        <p:attrNameLst>
                                          <p:attrName>ppt_x</p:attrName>
                                          <p:attrName>ppt_y</p:attrName>
                                        </p:attrNameLst>
                                      </p:cBhvr>
                                    </p:animMotion>
                                  </p:childTnLst>
                                </p:cTn>
                              </p:par>
                              <p:par>
                                <p:cTn id="53" presetID="0" presetClass="path" presetSubtype="0" accel="50000" decel="50000" fill="hold" nodeType="withEffect">
                                  <p:stCondLst>
                                    <p:cond delay="0"/>
                                  </p:stCondLst>
                                  <p:childTnLst>
                                    <p:animMotion origin="layout" path="M 0.00105 0.0132 L 0.00105 0.0132 C 0.00456 0.02292 0.00873 0.03195 0.01172 0.04236 C 0.01264 0.04584 0.01198 0.05023 0.0125 0.05417 C 0.01394 0.06343 0.01602 0.07246 0.01745 0.08195 C 0.02579 0.13449 0.01862 0.0956 0.02331 0.11991 C 0.02422 0.17616 0.02331 0.16875 0.02826 0.22986 C 0.02878 0.23681 0.02956 0.24375 0.03073 0.25047 C 0.03204 0.25926 0.03334 0.26852 0.03568 0.27685 C 0.03842 0.28727 0.03868 0.28588 0.04063 0.28264 L 0.04063 0.28264 " pathEditMode="relative" ptsTypes="AAAAAAAAAAA">
                                      <p:cBhvr>
                                        <p:cTn id="54" dur="2000" fill="hold"/>
                                        <p:tgtEl>
                                          <p:spTgt spid="11"/>
                                        </p:tgtEl>
                                        <p:attrNameLst>
                                          <p:attrName>ppt_x</p:attrName>
                                          <p:attrName>ppt_y</p:attrName>
                                        </p:attrNameLst>
                                      </p:cBhvr>
                                    </p:animMotion>
                                  </p:childTnLst>
                                </p:cTn>
                              </p:par>
                              <p:par>
                                <p:cTn id="55" presetID="0" presetClass="path" presetSubtype="0" accel="50000" decel="50000" fill="hold" nodeType="withEffect">
                                  <p:stCondLst>
                                    <p:cond delay="0"/>
                                  </p:stCondLst>
                                  <p:childTnLst>
                                    <p:animMotion origin="layout" path="M -0.00481 0.00949 L -0.00481 0.00949 C -0.00599 0.0162 -0.00612 0.02384 -0.0082 0.02986 C -0.01666 0.05579 -0.03619 0.10463 -0.03619 0.10463 C -0.03724 0.1118 -0.04283 0.14699 -0.04362 0.1588 C -0.04505 0.17731 -0.04583 0.19606 -0.047 0.21458 C -0.04752 0.22222 -0.04791 0.23009 -0.04856 0.23796 C -0.04908 0.24282 -0.05 0.24768 -0.05026 0.25255 C -0.05065 0.25903 -0.05026 0.26528 -0.05026 0.27176 L -0.05104 0.27176 " pathEditMode="relative" ptsTypes="AAAAAAAAAA">
                                      <p:cBhvr>
                                        <p:cTn id="56" dur="2000" fill="hold"/>
                                        <p:tgtEl>
                                          <p:spTgt spid="3"/>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barn(inVertical)">
                                      <p:cBhvr>
                                        <p:cTn id="61" dur="5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64"/>
                                        </p:tgtEl>
                                        <p:attrNameLst>
                                          <p:attrName>style.visibility</p:attrName>
                                        </p:attrNameLst>
                                      </p:cBhvr>
                                      <p:to>
                                        <p:strVal val="visible"/>
                                      </p:to>
                                    </p:set>
                                    <p:animEffect transition="in" filter="barn(inVertical)">
                                      <p:cBhvr>
                                        <p:cTn id="66" dur="500"/>
                                        <p:tgtEl>
                                          <p:spTgt spid="6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67"/>
                                        </p:tgtEl>
                                        <p:attrNameLst>
                                          <p:attrName>style.visibility</p:attrName>
                                        </p:attrNameLst>
                                      </p:cBhvr>
                                      <p:to>
                                        <p:strVal val="visible"/>
                                      </p:to>
                                    </p:set>
                                    <p:animEffect transition="in" filter="wipe(up)">
                                      <p:cBhvr>
                                        <p:cTn id="71" dur="500"/>
                                        <p:tgtEl>
                                          <p:spTgt spid="67"/>
                                        </p:tgtEl>
                                      </p:cBhvr>
                                    </p:animEffect>
                                  </p:childTnLst>
                                </p:cTn>
                              </p:par>
                              <p:par>
                                <p:cTn id="72" presetID="22" presetClass="entr" presetSubtype="1" fill="hold" nodeType="withEffect">
                                  <p:stCondLst>
                                    <p:cond delay="0"/>
                                  </p:stCondLst>
                                  <p:childTnLst>
                                    <p:set>
                                      <p:cBhvr>
                                        <p:cTn id="73" dur="1" fill="hold">
                                          <p:stCondLst>
                                            <p:cond delay="0"/>
                                          </p:stCondLst>
                                        </p:cTn>
                                        <p:tgtEl>
                                          <p:spTgt spid="72"/>
                                        </p:tgtEl>
                                        <p:attrNameLst>
                                          <p:attrName>style.visibility</p:attrName>
                                        </p:attrNameLst>
                                      </p:cBhvr>
                                      <p:to>
                                        <p:strVal val="visible"/>
                                      </p:to>
                                    </p:set>
                                    <p:animEffect transition="in" filter="wipe(up)">
                                      <p:cBhvr>
                                        <p:cTn id="74" dur="500"/>
                                        <p:tgtEl>
                                          <p:spTgt spid="72"/>
                                        </p:tgtEl>
                                      </p:cBhvr>
                                    </p:animEffect>
                                  </p:childTnLst>
                                </p:cTn>
                              </p:par>
                              <p:par>
                                <p:cTn id="75" presetID="22" presetClass="entr" presetSubtype="1" fill="hold" nodeType="withEffect">
                                  <p:stCondLst>
                                    <p:cond delay="0"/>
                                  </p:stCondLst>
                                  <p:childTnLst>
                                    <p:set>
                                      <p:cBhvr>
                                        <p:cTn id="76" dur="1" fill="hold">
                                          <p:stCondLst>
                                            <p:cond delay="0"/>
                                          </p:stCondLst>
                                        </p:cTn>
                                        <p:tgtEl>
                                          <p:spTgt spid="76"/>
                                        </p:tgtEl>
                                        <p:attrNameLst>
                                          <p:attrName>style.visibility</p:attrName>
                                        </p:attrNameLst>
                                      </p:cBhvr>
                                      <p:to>
                                        <p:strVal val="visible"/>
                                      </p:to>
                                    </p:set>
                                    <p:animEffect transition="in" filter="wipe(up)">
                                      <p:cBhvr>
                                        <p:cTn id="77" dur="500"/>
                                        <p:tgtEl>
                                          <p:spTgt spid="76"/>
                                        </p:tgtEl>
                                      </p:cBhvr>
                                    </p:animEffect>
                                  </p:childTnLst>
                                </p:cTn>
                              </p:par>
                              <p:par>
                                <p:cTn id="78" presetID="22" presetClass="entr" presetSubtype="1" fill="hold" nodeType="withEffect">
                                  <p:stCondLst>
                                    <p:cond delay="0"/>
                                  </p:stCondLst>
                                  <p:childTnLst>
                                    <p:set>
                                      <p:cBhvr>
                                        <p:cTn id="79" dur="1" fill="hold">
                                          <p:stCondLst>
                                            <p:cond delay="0"/>
                                          </p:stCondLst>
                                        </p:cTn>
                                        <p:tgtEl>
                                          <p:spTgt spid="88"/>
                                        </p:tgtEl>
                                        <p:attrNameLst>
                                          <p:attrName>style.visibility</p:attrName>
                                        </p:attrNameLst>
                                      </p:cBhvr>
                                      <p:to>
                                        <p:strVal val="visible"/>
                                      </p:to>
                                    </p:set>
                                    <p:animEffect transition="in" filter="wipe(up)">
                                      <p:cBhvr>
                                        <p:cTn id="80" dur="500"/>
                                        <p:tgtEl>
                                          <p:spTgt spid="88"/>
                                        </p:tgtEl>
                                      </p:cBhvr>
                                    </p:animEffect>
                                  </p:childTnLst>
                                </p:cTn>
                              </p:par>
                              <p:par>
                                <p:cTn id="81" presetID="22" presetClass="entr" presetSubtype="1" fill="hold" nodeType="withEffect">
                                  <p:stCondLst>
                                    <p:cond delay="0"/>
                                  </p:stCondLst>
                                  <p:childTnLst>
                                    <p:set>
                                      <p:cBhvr>
                                        <p:cTn id="82" dur="1" fill="hold">
                                          <p:stCondLst>
                                            <p:cond delay="0"/>
                                          </p:stCondLst>
                                        </p:cTn>
                                        <p:tgtEl>
                                          <p:spTgt spid="92"/>
                                        </p:tgtEl>
                                        <p:attrNameLst>
                                          <p:attrName>style.visibility</p:attrName>
                                        </p:attrNameLst>
                                      </p:cBhvr>
                                      <p:to>
                                        <p:strVal val="visible"/>
                                      </p:to>
                                    </p:set>
                                    <p:animEffect transition="in" filter="wipe(up)">
                                      <p:cBhvr>
                                        <p:cTn id="83"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2" grpId="0" animBg="1"/>
      <p:bldP spid="63" grpId="0" animBg="1"/>
      <p:bldP spid="6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8C00E704-6946-BC5A-0B02-724B8E88E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CAB0F-CB2A-6218-A61A-F691F8E17BFD}"/>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Parallel Solution (Analysis):</a:t>
            </a:r>
            <a:endParaRPr lang="en-US" sz="42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48362D8E-6B9E-CEBC-DDAF-11BC1B8065CC}"/>
              </a:ext>
            </a:extLst>
          </p:cNvPr>
          <p:cNvSpPr/>
          <p:nvPr/>
        </p:nvSpPr>
        <p:spPr>
          <a:xfrm>
            <a:off x="110125" y="2088368"/>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CC82F452-97FD-3877-0A2E-11B666FFCDDA}"/>
              </a:ext>
            </a:extLst>
          </p:cNvPr>
          <p:cNvSpPr/>
          <p:nvPr/>
        </p:nvSpPr>
        <p:spPr>
          <a:xfrm>
            <a:off x="186324" y="2088368"/>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Of course we don’t need to do it manually, so like the concept of the master thread we make a master process that start other processes.</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C6B98D7F-70EB-1D2E-F61A-530DA1505F09}"/>
              </a:ext>
            </a:extLst>
          </p:cNvPr>
          <p:cNvSpPr/>
          <p:nvPr/>
        </p:nvSpPr>
        <p:spPr>
          <a:xfrm>
            <a:off x="110125" y="3876904"/>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D527891-FC6A-53F5-8693-8463A5C8DDE7}"/>
              </a:ext>
            </a:extLst>
          </p:cNvPr>
          <p:cNvSpPr/>
          <p:nvPr/>
        </p:nvSpPr>
        <p:spPr>
          <a:xfrm>
            <a:off x="186324" y="3876904"/>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Once you have your code ready you then make the other Go master file that will run the other processes and pass the arguments to it.</a:t>
            </a:r>
          </a:p>
        </p:txBody>
      </p:sp>
      <p:sp>
        <p:nvSpPr>
          <p:cNvPr id="3" name="Rectangle 2">
            <a:extLst>
              <a:ext uri="{FF2B5EF4-FFF2-40B4-BE49-F238E27FC236}">
                <a16:creationId xmlns:a16="http://schemas.microsoft.com/office/drawing/2014/main" id="{8EF5B905-F6B8-46CD-F3A5-710186EEB1B8}"/>
              </a:ext>
            </a:extLst>
          </p:cNvPr>
          <p:cNvSpPr/>
          <p:nvPr/>
        </p:nvSpPr>
        <p:spPr>
          <a:xfrm>
            <a:off x="110125" y="1163151"/>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60977C11-F073-D16A-0430-E5C368083D9B}"/>
              </a:ext>
            </a:extLst>
          </p:cNvPr>
          <p:cNvSpPr/>
          <p:nvPr/>
        </p:nvSpPr>
        <p:spPr>
          <a:xfrm>
            <a:off x="186324" y="1163151"/>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To start a process means to run an independent program. One way to think for this that we can make a Go file that does our logic then run it multiple times from the cmd. </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200B3FFE-358B-5503-D82B-1D48EF32FEBC}"/>
              </a:ext>
            </a:extLst>
          </p:cNvPr>
          <p:cNvSpPr/>
          <p:nvPr/>
        </p:nvSpPr>
        <p:spPr>
          <a:xfrm>
            <a:off x="110125" y="2982636"/>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4E267105-D79A-2C0C-13C4-8005DFD4448C}"/>
              </a:ext>
            </a:extLst>
          </p:cNvPr>
          <p:cNvSpPr/>
          <p:nvPr/>
        </p:nvSpPr>
        <p:spPr>
          <a:xfrm>
            <a:off x="186324" y="2982636"/>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How to start: first build your code that do the logic, then make it a command line tool that take a number of positional and optional</a:t>
            </a:r>
            <a:r>
              <a:rPr lang="en-US" b="1" dirty="0">
                <a:solidFill>
                  <a:prstClr val="white"/>
                </a:solidFill>
                <a:latin typeface="Arial" panose="020B0604020202020204" pitchFamily="34" charset="0"/>
                <a:cs typeface="Arial" panose="020B0604020202020204" pitchFamily="34" charset="0"/>
              </a:rPr>
              <a:t>l arguments.</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C313B043-92E2-45BE-CCE5-FE7920B9EA0E}"/>
              </a:ext>
            </a:extLst>
          </p:cNvPr>
          <p:cNvSpPr/>
          <p:nvPr/>
        </p:nvSpPr>
        <p:spPr>
          <a:xfrm>
            <a:off x="110125" y="4771172"/>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07E10902-3754-2C2D-5C23-47B99304E006}"/>
              </a:ext>
            </a:extLst>
          </p:cNvPr>
          <p:cNvSpPr/>
          <p:nvPr/>
        </p:nvSpPr>
        <p:spPr>
          <a:xfrm>
            <a:off x="186324" y="4771172"/>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Now we have processes, so we can synchronize the communication among them.</a:t>
            </a:r>
          </a:p>
        </p:txBody>
      </p:sp>
      <p:sp>
        <p:nvSpPr>
          <p:cNvPr id="10" name="Rectangle 9">
            <a:extLst>
              <a:ext uri="{FF2B5EF4-FFF2-40B4-BE49-F238E27FC236}">
                <a16:creationId xmlns:a16="http://schemas.microsoft.com/office/drawing/2014/main" id="{12D810A8-FECB-436B-93DD-D7A9707E2C2C}"/>
              </a:ext>
            </a:extLst>
          </p:cNvPr>
          <p:cNvSpPr/>
          <p:nvPr/>
        </p:nvSpPr>
        <p:spPr>
          <a:xfrm>
            <a:off x="110125" y="5694849"/>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B526FFEC-694F-3C89-87EA-5510CCBEFBC4}"/>
              </a:ext>
            </a:extLst>
          </p:cNvPr>
          <p:cNvSpPr/>
          <p:nvPr/>
        </p:nvSpPr>
        <p:spPr>
          <a:xfrm>
            <a:off x="186324" y="5694849"/>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But we will end up in something unpredictable; what is really going on, we don’t know. One more note: we didn’t expose the original view of the CPU architecture yet.</a:t>
            </a:r>
          </a:p>
        </p:txBody>
      </p:sp>
    </p:spTree>
    <p:custDataLst>
      <p:tags r:id="rId1"/>
    </p:custDataLst>
    <p:extLst>
      <p:ext uri="{BB962C8B-B14F-4D97-AF65-F5344CB8AC3E}">
        <p14:creationId xmlns:p14="http://schemas.microsoft.com/office/powerpoint/2010/main" val="3854667711"/>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B855C494-E3F0-B04C-A522-03C639A5E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537C4-F980-C7B4-F474-4F23FCBB3317}"/>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Parallel Solution (Exposing the NUMA):</a:t>
            </a:r>
            <a:endParaRPr lang="en-US" sz="42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BC8B59C2-AA7C-DB22-869B-D6D5F06BF119}"/>
              </a:ext>
            </a:extLst>
          </p:cNvPr>
          <p:cNvPicPr>
            <a:picLocks noChangeAspect="1"/>
          </p:cNvPicPr>
          <p:nvPr/>
        </p:nvPicPr>
        <p:blipFill>
          <a:blip r:embed="rId4"/>
          <a:stretch>
            <a:fillRect/>
          </a:stretch>
        </p:blipFill>
        <p:spPr>
          <a:xfrm>
            <a:off x="81549" y="1448542"/>
            <a:ext cx="4738101" cy="4156494"/>
          </a:xfrm>
          <a:prstGeom prst="rect">
            <a:avLst/>
          </a:prstGeom>
        </p:spPr>
      </p:pic>
      <p:sp>
        <p:nvSpPr>
          <p:cNvPr id="16" name="Arrow: Down 15">
            <a:extLst>
              <a:ext uri="{FF2B5EF4-FFF2-40B4-BE49-F238E27FC236}">
                <a16:creationId xmlns:a16="http://schemas.microsoft.com/office/drawing/2014/main" id="{D0AA802B-EF13-C377-2755-51888E319E10}"/>
              </a:ext>
            </a:extLst>
          </p:cNvPr>
          <p:cNvSpPr/>
          <p:nvPr/>
        </p:nvSpPr>
        <p:spPr>
          <a:xfrm rot="16200000">
            <a:off x="5124450" y="3257550"/>
            <a:ext cx="304800" cy="6477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704BC9F-996D-80F8-B57E-91BF0F7F08F1}"/>
              </a:ext>
            </a:extLst>
          </p:cNvPr>
          <p:cNvPicPr>
            <a:picLocks noChangeAspect="1"/>
          </p:cNvPicPr>
          <p:nvPr/>
        </p:nvPicPr>
        <p:blipFill>
          <a:blip r:embed="rId5"/>
          <a:stretch>
            <a:fillRect/>
          </a:stretch>
        </p:blipFill>
        <p:spPr>
          <a:xfrm>
            <a:off x="5893210" y="1448542"/>
            <a:ext cx="2364965" cy="1619248"/>
          </a:xfrm>
          <a:prstGeom prst="rect">
            <a:avLst/>
          </a:prstGeom>
        </p:spPr>
      </p:pic>
      <p:pic>
        <p:nvPicPr>
          <p:cNvPr id="18" name="Picture 17">
            <a:extLst>
              <a:ext uri="{FF2B5EF4-FFF2-40B4-BE49-F238E27FC236}">
                <a16:creationId xmlns:a16="http://schemas.microsoft.com/office/drawing/2014/main" id="{F35CA08C-2B53-C68A-FC12-C9531C6F1677}"/>
              </a:ext>
            </a:extLst>
          </p:cNvPr>
          <p:cNvPicPr>
            <a:picLocks noChangeAspect="1"/>
          </p:cNvPicPr>
          <p:nvPr/>
        </p:nvPicPr>
        <p:blipFill>
          <a:blip r:embed="rId5"/>
          <a:stretch>
            <a:fillRect/>
          </a:stretch>
        </p:blipFill>
        <p:spPr>
          <a:xfrm>
            <a:off x="9465085" y="1448542"/>
            <a:ext cx="2364965" cy="1619248"/>
          </a:xfrm>
          <a:prstGeom prst="rect">
            <a:avLst/>
          </a:prstGeom>
        </p:spPr>
      </p:pic>
      <p:pic>
        <p:nvPicPr>
          <p:cNvPr id="20" name="Picture 19">
            <a:extLst>
              <a:ext uri="{FF2B5EF4-FFF2-40B4-BE49-F238E27FC236}">
                <a16:creationId xmlns:a16="http://schemas.microsoft.com/office/drawing/2014/main" id="{443E3855-5248-387F-8B67-253A3420C4B3}"/>
              </a:ext>
            </a:extLst>
          </p:cNvPr>
          <p:cNvPicPr>
            <a:picLocks noChangeAspect="1"/>
          </p:cNvPicPr>
          <p:nvPr/>
        </p:nvPicPr>
        <p:blipFill>
          <a:blip r:embed="rId5"/>
          <a:stretch>
            <a:fillRect/>
          </a:stretch>
        </p:blipFill>
        <p:spPr>
          <a:xfrm>
            <a:off x="9465085" y="4095010"/>
            <a:ext cx="2364965" cy="1619248"/>
          </a:xfrm>
          <a:prstGeom prst="rect">
            <a:avLst/>
          </a:prstGeom>
        </p:spPr>
      </p:pic>
      <p:pic>
        <p:nvPicPr>
          <p:cNvPr id="21" name="Picture 20">
            <a:extLst>
              <a:ext uri="{FF2B5EF4-FFF2-40B4-BE49-F238E27FC236}">
                <a16:creationId xmlns:a16="http://schemas.microsoft.com/office/drawing/2014/main" id="{D0033CB6-A76D-63A9-AF3C-9F501EAAD526}"/>
              </a:ext>
            </a:extLst>
          </p:cNvPr>
          <p:cNvPicPr>
            <a:picLocks noChangeAspect="1"/>
          </p:cNvPicPr>
          <p:nvPr/>
        </p:nvPicPr>
        <p:blipFill>
          <a:blip r:embed="rId5"/>
          <a:stretch>
            <a:fillRect/>
          </a:stretch>
        </p:blipFill>
        <p:spPr>
          <a:xfrm>
            <a:off x="5893210" y="4095010"/>
            <a:ext cx="2364965" cy="1619248"/>
          </a:xfrm>
          <a:prstGeom prst="rect">
            <a:avLst/>
          </a:prstGeom>
        </p:spPr>
      </p:pic>
      <p:cxnSp>
        <p:nvCxnSpPr>
          <p:cNvPr id="29" name="Straight Arrow Connector 28">
            <a:extLst>
              <a:ext uri="{FF2B5EF4-FFF2-40B4-BE49-F238E27FC236}">
                <a16:creationId xmlns:a16="http://schemas.microsoft.com/office/drawing/2014/main" id="{372A2693-5A2F-E0AD-1AED-7241706AF066}"/>
              </a:ext>
            </a:extLst>
          </p:cNvPr>
          <p:cNvCxnSpPr>
            <a:stCxn id="17" idx="3"/>
            <a:endCxn id="18" idx="1"/>
          </p:cNvCxnSpPr>
          <p:nvPr/>
        </p:nvCxnSpPr>
        <p:spPr>
          <a:xfrm>
            <a:off x="8258175" y="2258166"/>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2E856456-84FD-0EDA-0FB9-5FAFC4AF790A}"/>
              </a:ext>
            </a:extLst>
          </p:cNvPr>
          <p:cNvCxnSpPr>
            <a:cxnSpLocks/>
            <a:stCxn id="17" idx="2"/>
            <a:endCxn id="21" idx="0"/>
          </p:cNvCxnSpPr>
          <p:nvPr/>
        </p:nvCxnSpPr>
        <p:spPr>
          <a:xfrm>
            <a:off x="7075693" y="3067790"/>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D331E75A-DFAB-4249-75B2-8FB58B792725}"/>
              </a:ext>
            </a:extLst>
          </p:cNvPr>
          <p:cNvCxnSpPr/>
          <p:nvPr/>
        </p:nvCxnSpPr>
        <p:spPr>
          <a:xfrm>
            <a:off x="8258175" y="4924425"/>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07CDC0AE-586D-106F-5839-67CF335817E5}"/>
              </a:ext>
            </a:extLst>
          </p:cNvPr>
          <p:cNvCxnSpPr>
            <a:cxnSpLocks/>
          </p:cNvCxnSpPr>
          <p:nvPr/>
        </p:nvCxnSpPr>
        <p:spPr>
          <a:xfrm>
            <a:off x="10647567" y="3067790"/>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A557D397-A82E-5C6F-6AB3-3FBADE8F3313}"/>
              </a:ext>
            </a:extLst>
          </p:cNvPr>
          <p:cNvCxnSpPr>
            <a:cxnSpLocks/>
            <a:stCxn id="17" idx="2"/>
            <a:endCxn id="20" idx="0"/>
          </p:cNvCxnSpPr>
          <p:nvPr/>
        </p:nvCxnSpPr>
        <p:spPr>
          <a:xfrm>
            <a:off x="7075693" y="3067790"/>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F6BA8EC6-DE8C-FCCA-F58D-C7B95485B409}"/>
              </a:ext>
            </a:extLst>
          </p:cNvPr>
          <p:cNvCxnSpPr>
            <a:cxnSpLocks/>
            <a:stCxn id="18" idx="2"/>
            <a:endCxn id="21" idx="0"/>
          </p:cNvCxnSpPr>
          <p:nvPr/>
        </p:nvCxnSpPr>
        <p:spPr>
          <a:xfrm flipH="1">
            <a:off x="7075693" y="3067790"/>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Tree>
    <p:custDataLst>
      <p:tags r:id="rId1"/>
    </p:custDataLst>
    <p:extLst>
      <p:ext uri="{BB962C8B-B14F-4D97-AF65-F5344CB8AC3E}">
        <p14:creationId xmlns:p14="http://schemas.microsoft.com/office/powerpoint/2010/main" val="1367516904"/>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46A0A445-1B52-CB48-2E08-39AE07B2B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1E787-5A02-F2CC-D478-35F6B63FA193}"/>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Parallel Solution (Exposing the NUMA):</a:t>
            </a:r>
            <a:endParaRPr lang="en-US" sz="42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AA188744-E499-964B-A1D1-F051F44A30FC}"/>
              </a:ext>
            </a:extLst>
          </p:cNvPr>
          <p:cNvPicPr>
            <a:picLocks noChangeAspect="1"/>
          </p:cNvPicPr>
          <p:nvPr/>
        </p:nvPicPr>
        <p:blipFill>
          <a:blip r:embed="rId4"/>
          <a:stretch>
            <a:fillRect/>
          </a:stretch>
        </p:blipFill>
        <p:spPr>
          <a:xfrm>
            <a:off x="159160" y="1515217"/>
            <a:ext cx="2364965" cy="1619248"/>
          </a:xfrm>
          <a:prstGeom prst="rect">
            <a:avLst/>
          </a:prstGeom>
        </p:spPr>
      </p:pic>
      <p:pic>
        <p:nvPicPr>
          <p:cNvPr id="18" name="Picture 17">
            <a:extLst>
              <a:ext uri="{FF2B5EF4-FFF2-40B4-BE49-F238E27FC236}">
                <a16:creationId xmlns:a16="http://schemas.microsoft.com/office/drawing/2014/main" id="{D2E2894D-DD35-26FC-7E77-83672D0C3257}"/>
              </a:ext>
            </a:extLst>
          </p:cNvPr>
          <p:cNvPicPr>
            <a:picLocks noChangeAspect="1"/>
          </p:cNvPicPr>
          <p:nvPr/>
        </p:nvPicPr>
        <p:blipFill>
          <a:blip r:embed="rId4"/>
          <a:stretch>
            <a:fillRect/>
          </a:stretch>
        </p:blipFill>
        <p:spPr>
          <a:xfrm>
            <a:off x="3731035" y="1515217"/>
            <a:ext cx="2364965" cy="1619248"/>
          </a:xfrm>
          <a:prstGeom prst="rect">
            <a:avLst/>
          </a:prstGeom>
        </p:spPr>
      </p:pic>
      <p:pic>
        <p:nvPicPr>
          <p:cNvPr id="20" name="Picture 19">
            <a:extLst>
              <a:ext uri="{FF2B5EF4-FFF2-40B4-BE49-F238E27FC236}">
                <a16:creationId xmlns:a16="http://schemas.microsoft.com/office/drawing/2014/main" id="{F96F0976-5107-CDCE-8D25-78AFF0A65D08}"/>
              </a:ext>
            </a:extLst>
          </p:cNvPr>
          <p:cNvPicPr>
            <a:picLocks noChangeAspect="1"/>
          </p:cNvPicPr>
          <p:nvPr/>
        </p:nvPicPr>
        <p:blipFill>
          <a:blip r:embed="rId4"/>
          <a:stretch>
            <a:fillRect/>
          </a:stretch>
        </p:blipFill>
        <p:spPr>
          <a:xfrm>
            <a:off x="3731035" y="4161685"/>
            <a:ext cx="2364965" cy="1619248"/>
          </a:xfrm>
          <a:prstGeom prst="rect">
            <a:avLst/>
          </a:prstGeom>
        </p:spPr>
      </p:pic>
      <p:pic>
        <p:nvPicPr>
          <p:cNvPr id="21" name="Picture 20">
            <a:extLst>
              <a:ext uri="{FF2B5EF4-FFF2-40B4-BE49-F238E27FC236}">
                <a16:creationId xmlns:a16="http://schemas.microsoft.com/office/drawing/2014/main" id="{B282D0D5-B08F-B9CE-8330-90540E543C88}"/>
              </a:ext>
            </a:extLst>
          </p:cNvPr>
          <p:cNvPicPr>
            <a:picLocks noChangeAspect="1"/>
          </p:cNvPicPr>
          <p:nvPr/>
        </p:nvPicPr>
        <p:blipFill>
          <a:blip r:embed="rId4"/>
          <a:stretch>
            <a:fillRect/>
          </a:stretch>
        </p:blipFill>
        <p:spPr>
          <a:xfrm>
            <a:off x="159160" y="4161685"/>
            <a:ext cx="2364965" cy="1619248"/>
          </a:xfrm>
          <a:prstGeom prst="rect">
            <a:avLst/>
          </a:prstGeom>
        </p:spPr>
      </p:pic>
      <p:cxnSp>
        <p:nvCxnSpPr>
          <p:cNvPr id="29" name="Straight Arrow Connector 28">
            <a:extLst>
              <a:ext uri="{FF2B5EF4-FFF2-40B4-BE49-F238E27FC236}">
                <a16:creationId xmlns:a16="http://schemas.microsoft.com/office/drawing/2014/main" id="{637918C3-0EBE-BCE6-F65F-6F80C49C78A6}"/>
              </a:ext>
            </a:extLst>
          </p:cNvPr>
          <p:cNvCxnSpPr>
            <a:stCxn id="17" idx="3"/>
            <a:endCxn id="18" idx="1"/>
          </p:cNvCxnSpPr>
          <p:nvPr/>
        </p:nvCxnSpPr>
        <p:spPr>
          <a:xfrm>
            <a:off x="2524125" y="2324841"/>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F5EF54CC-4719-2353-1FA6-E33317EF3C7F}"/>
              </a:ext>
            </a:extLst>
          </p:cNvPr>
          <p:cNvCxnSpPr>
            <a:cxnSpLocks/>
            <a:stCxn id="17" idx="2"/>
            <a:endCxn id="21" idx="0"/>
          </p:cNvCxnSpPr>
          <p:nvPr/>
        </p:nvCxnSpPr>
        <p:spPr>
          <a:xfrm>
            <a:off x="1341643" y="3134465"/>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7D301E36-83D6-F078-7430-D1D61CFF8C15}"/>
              </a:ext>
            </a:extLst>
          </p:cNvPr>
          <p:cNvCxnSpPr/>
          <p:nvPr/>
        </p:nvCxnSpPr>
        <p:spPr>
          <a:xfrm>
            <a:off x="2524125" y="4991100"/>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C32491B5-9C6C-7C5D-2897-90A3266E5FD3}"/>
              </a:ext>
            </a:extLst>
          </p:cNvPr>
          <p:cNvCxnSpPr>
            <a:cxnSpLocks/>
          </p:cNvCxnSpPr>
          <p:nvPr/>
        </p:nvCxnSpPr>
        <p:spPr>
          <a:xfrm>
            <a:off x="4913517" y="3134465"/>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CA1342B0-CA93-8F53-56BD-D10C609706EA}"/>
              </a:ext>
            </a:extLst>
          </p:cNvPr>
          <p:cNvCxnSpPr>
            <a:cxnSpLocks/>
            <a:stCxn id="17" idx="2"/>
            <a:endCxn id="20" idx="0"/>
          </p:cNvCxnSpPr>
          <p:nvPr/>
        </p:nvCxnSpPr>
        <p:spPr>
          <a:xfrm>
            <a:off x="1341643" y="3134465"/>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DE692942-723D-98B8-C631-930D48249B0F}"/>
              </a:ext>
            </a:extLst>
          </p:cNvPr>
          <p:cNvCxnSpPr>
            <a:cxnSpLocks/>
            <a:stCxn id="18" idx="2"/>
            <a:endCxn id="21" idx="0"/>
          </p:cNvCxnSpPr>
          <p:nvPr/>
        </p:nvCxnSpPr>
        <p:spPr>
          <a:xfrm flipH="1">
            <a:off x="1341643" y="3134465"/>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
        <p:nvSpPr>
          <p:cNvPr id="3" name="Rectangle 2">
            <a:extLst>
              <a:ext uri="{FF2B5EF4-FFF2-40B4-BE49-F238E27FC236}">
                <a16:creationId xmlns:a16="http://schemas.microsoft.com/office/drawing/2014/main" id="{CFD8875D-FB0C-9A1F-7077-40AE8A438436}"/>
              </a:ext>
            </a:extLst>
          </p:cNvPr>
          <p:cNvSpPr/>
          <p:nvPr/>
        </p:nvSpPr>
        <p:spPr>
          <a:xfrm>
            <a:off x="6153150" y="1197483"/>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Now we have these processes running simultaneously; in other words, the processes are parallel</a:t>
            </a:r>
          </a:p>
        </p:txBody>
      </p:sp>
      <p:sp>
        <p:nvSpPr>
          <p:cNvPr id="4" name="Rectangle 3">
            <a:extLst>
              <a:ext uri="{FF2B5EF4-FFF2-40B4-BE49-F238E27FC236}">
                <a16:creationId xmlns:a16="http://schemas.microsoft.com/office/drawing/2014/main" id="{1A59CA20-CAC1-5BD9-B409-8F7AA0C78473}"/>
              </a:ext>
            </a:extLst>
          </p:cNvPr>
          <p:cNvSpPr/>
          <p:nvPr/>
        </p:nvSpPr>
        <p:spPr>
          <a:xfrm>
            <a:off x="6153150" y="2245973"/>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Since we have running instances, we need communication, so we need something shared at this time; it will be the network, not RAM</a:t>
            </a:r>
          </a:p>
        </p:txBody>
      </p:sp>
      <p:sp>
        <p:nvSpPr>
          <p:cNvPr id="5" name="Rectangle 4">
            <a:extLst>
              <a:ext uri="{FF2B5EF4-FFF2-40B4-BE49-F238E27FC236}">
                <a16:creationId xmlns:a16="http://schemas.microsoft.com/office/drawing/2014/main" id="{EAAE6069-A20F-7273-B4B8-DD65C3647DA0}"/>
              </a:ext>
            </a:extLst>
          </p:cNvPr>
          <p:cNvSpPr/>
          <p:nvPr/>
        </p:nvSpPr>
        <p:spPr>
          <a:xfrm>
            <a:off x="6153150" y="3294463"/>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Do we get rid of cache coherence? And how will we make use of the genuine channels? Finally, will the goroutines have a role in our program</a:t>
            </a:r>
          </a:p>
        </p:txBody>
      </p:sp>
      <p:sp>
        <p:nvSpPr>
          <p:cNvPr id="6" name="Rectangle 5">
            <a:extLst>
              <a:ext uri="{FF2B5EF4-FFF2-40B4-BE49-F238E27FC236}">
                <a16:creationId xmlns:a16="http://schemas.microsoft.com/office/drawing/2014/main" id="{8E7201B8-AC8D-FA6E-6E73-506A4B749622}"/>
              </a:ext>
            </a:extLst>
          </p:cNvPr>
          <p:cNvSpPr/>
          <p:nvPr/>
        </p:nvSpPr>
        <p:spPr>
          <a:xfrm>
            <a:off x="6153150" y="4342953"/>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Two main parts will guide our design: the HTTP request and how the data transfers through the network (JSON)</a:t>
            </a:r>
          </a:p>
        </p:txBody>
      </p:sp>
      <p:sp>
        <p:nvSpPr>
          <p:cNvPr id="7" name="Rectangle 6">
            <a:extLst>
              <a:ext uri="{FF2B5EF4-FFF2-40B4-BE49-F238E27FC236}">
                <a16:creationId xmlns:a16="http://schemas.microsoft.com/office/drawing/2014/main" id="{FC193E68-36A5-C793-D244-20B71B3711ED}"/>
              </a:ext>
            </a:extLst>
          </p:cNvPr>
          <p:cNvSpPr/>
          <p:nvPr/>
        </p:nvSpPr>
        <p:spPr>
          <a:xfrm>
            <a:off x="6153150" y="5391443"/>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Since our apps communicate through the network, we are doing network/web programming.</a:t>
            </a:r>
          </a:p>
        </p:txBody>
      </p:sp>
    </p:spTree>
    <p:custDataLst>
      <p:tags r:id="rId1"/>
    </p:custDataLst>
    <p:extLst>
      <p:ext uri="{BB962C8B-B14F-4D97-AF65-F5344CB8AC3E}">
        <p14:creationId xmlns:p14="http://schemas.microsoft.com/office/powerpoint/2010/main" val="1496056922"/>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DAE67158-E48B-2985-B070-423883123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6D735-B03B-F8B7-FE81-35F1BE84C292}"/>
              </a:ext>
            </a:extLst>
          </p:cNvPr>
          <p:cNvSpPr>
            <a:spLocks noGrp="1"/>
          </p:cNvSpPr>
          <p:nvPr>
            <p:ph type="title"/>
          </p:nvPr>
        </p:nvSpPr>
        <p:spPr>
          <a:xfrm>
            <a:off x="9345" y="35221"/>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Go Web Programming:</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73871A2-5379-F99E-99D1-6AB8FFC3EA58}"/>
              </a:ext>
            </a:extLst>
          </p:cNvPr>
          <p:cNvSpPr/>
          <p:nvPr/>
        </p:nvSpPr>
        <p:spPr>
          <a:xfrm>
            <a:off x="110125" y="1163151"/>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63E064F3-1BA8-52B9-D067-84D44DB3D047}"/>
              </a:ext>
            </a:extLst>
          </p:cNvPr>
          <p:cNvSpPr/>
          <p:nvPr/>
        </p:nvSpPr>
        <p:spPr>
          <a:xfrm>
            <a:off x="186324" y="1163151"/>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 web application is a computer program that responds to an HTTP request by a client and sends back to the client in an HTTP response.</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16" name="Picture 15">
            <a:extLst>
              <a:ext uri="{FF2B5EF4-FFF2-40B4-BE49-F238E27FC236}">
                <a16:creationId xmlns:a16="http://schemas.microsoft.com/office/drawing/2014/main" id="{7864F4A7-5AB4-3026-6C3D-D5295F1A4593}"/>
              </a:ext>
            </a:extLst>
          </p:cNvPr>
          <p:cNvPicPr>
            <a:picLocks noChangeAspect="1"/>
          </p:cNvPicPr>
          <p:nvPr/>
        </p:nvPicPr>
        <p:blipFill>
          <a:blip r:embed="rId4"/>
          <a:srcRect t="28934"/>
          <a:stretch>
            <a:fillRect/>
          </a:stretch>
        </p:blipFill>
        <p:spPr>
          <a:xfrm>
            <a:off x="186324" y="2190236"/>
            <a:ext cx="4816257" cy="963989"/>
          </a:xfrm>
          <a:prstGeom prst="rect">
            <a:avLst/>
          </a:prstGeom>
        </p:spPr>
      </p:pic>
      <p:pic>
        <p:nvPicPr>
          <p:cNvPr id="17" name="Picture 16">
            <a:extLst>
              <a:ext uri="{FF2B5EF4-FFF2-40B4-BE49-F238E27FC236}">
                <a16:creationId xmlns:a16="http://schemas.microsoft.com/office/drawing/2014/main" id="{27072502-7983-D1D3-D52C-A89EE702F71E}"/>
              </a:ext>
            </a:extLst>
          </p:cNvPr>
          <p:cNvPicPr>
            <a:picLocks noChangeAspect="1"/>
          </p:cNvPicPr>
          <p:nvPr/>
        </p:nvPicPr>
        <p:blipFill>
          <a:blip r:embed="rId4"/>
          <a:srcRect t="28934"/>
          <a:stretch>
            <a:fillRect/>
          </a:stretch>
        </p:blipFill>
        <p:spPr>
          <a:xfrm>
            <a:off x="7189419" y="2190236"/>
            <a:ext cx="4816257" cy="963989"/>
          </a:xfrm>
          <a:prstGeom prst="rect">
            <a:avLst/>
          </a:prstGeom>
        </p:spPr>
      </p:pic>
      <p:sp>
        <p:nvSpPr>
          <p:cNvPr id="18" name="Arrow: Right 17">
            <a:extLst>
              <a:ext uri="{FF2B5EF4-FFF2-40B4-BE49-F238E27FC236}">
                <a16:creationId xmlns:a16="http://schemas.microsoft.com/office/drawing/2014/main" id="{AAF67472-0523-6FDD-B00A-1091A0665EAB}"/>
              </a:ext>
            </a:extLst>
          </p:cNvPr>
          <p:cNvSpPr/>
          <p:nvPr/>
        </p:nvSpPr>
        <p:spPr>
          <a:xfrm>
            <a:off x="5173053" y="2519830"/>
            <a:ext cx="1362075"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59741CC5-FC30-15CA-A415-9FC032B3651A}"/>
              </a:ext>
            </a:extLst>
          </p:cNvPr>
          <p:cNvSpPr/>
          <p:nvPr/>
        </p:nvSpPr>
        <p:spPr>
          <a:xfrm>
            <a:off x="10134600" y="2224041"/>
            <a:ext cx="1871076" cy="8687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Microservice</a:t>
            </a:r>
          </a:p>
        </p:txBody>
      </p:sp>
      <p:sp>
        <p:nvSpPr>
          <p:cNvPr id="21" name="Rectangle: Rounded Corners 20">
            <a:extLst>
              <a:ext uri="{FF2B5EF4-FFF2-40B4-BE49-F238E27FC236}">
                <a16:creationId xmlns:a16="http://schemas.microsoft.com/office/drawing/2014/main" id="{A99E7BAC-77BF-25D4-BCBD-3C5AE41A57F4}"/>
              </a:ext>
            </a:extLst>
          </p:cNvPr>
          <p:cNvSpPr/>
          <p:nvPr/>
        </p:nvSpPr>
        <p:spPr>
          <a:xfrm>
            <a:off x="6734175" y="2224042"/>
            <a:ext cx="1871076" cy="8973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Microservice</a:t>
            </a:r>
          </a:p>
        </p:txBody>
      </p:sp>
      <p:sp>
        <p:nvSpPr>
          <p:cNvPr id="22" name="Rectangle 21">
            <a:extLst>
              <a:ext uri="{FF2B5EF4-FFF2-40B4-BE49-F238E27FC236}">
                <a16:creationId xmlns:a16="http://schemas.microsoft.com/office/drawing/2014/main" id="{BE348231-7B3B-A703-256E-22EBC363839A}"/>
              </a:ext>
            </a:extLst>
          </p:cNvPr>
          <p:cNvSpPr/>
          <p:nvPr/>
        </p:nvSpPr>
        <p:spPr>
          <a:xfrm>
            <a:off x="110125" y="3352698"/>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Rectangle 22">
            <a:extLst>
              <a:ext uri="{FF2B5EF4-FFF2-40B4-BE49-F238E27FC236}">
                <a16:creationId xmlns:a16="http://schemas.microsoft.com/office/drawing/2014/main" id="{3EBF71D0-37F5-3B71-34A6-42E3744484EA}"/>
              </a:ext>
            </a:extLst>
          </p:cNvPr>
          <p:cNvSpPr/>
          <p:nvPr/>
        </p:nvSpPr>
        <p:spPr>
          <a:xfrm>
            <a:off x="186324" y="3352698"/>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The URI is an umbrella term that includes both the URN and the URI, and they have similar syntax and format</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25" name="Picture 24">
            <a:extLst>
              <a:ext uri="{FF2B5EF4-FFF2-40B4-BE49-F238E27FC236}">
                <a16:creationId xmlns:a16="http://schemas.microsoft.com/office/drawing/2014/main" id="{6CCCCAD5-706F-ECF2-6422-AC8D319CD29E}"/>
              </a:ext>
            </a:extLst>
          </p:cNvPr>
          <p:cNvPicPr>
            <a:picLocks noChangeAspect="1"/>
          </p:cNvPicPr>
          <p:nvPr/>
        </p:nvPicPr>
        <p:blipFill>
          <a:blip r:embed="rId5"/>
          <a:srcRect t="10778"/>
          <a:stretch>
            <a:fillRect/>
          </a:stretch>
        </p:blipFill>
        <p:spPr>
          <a:xfrm>
            <a:off x="1075001" y="3787425"/>
            <a:ext cx="10920253" cy="666334"/>
          </a:xfrm>
          <a:prstGeom prst="rect">
            <a:avLst/>
          </a:prstGeom>
        </p:spPr>
      </p:pic>
      <p:sp>
        <p:nvSpPr>
          <p:cNvPr id="26" name="TextBox 25">
            <a:extLst>
              <a:ext uri="{FF2B5EF4-FFF2-40B4-BE49-F238E27FC236}">
                <a16:creationId xmlns:a16="http://schemas.microsoft.com/office/drawing/2014/main" id="{AE1E7BCC-7B69-6734-2CB8-C456F2A69C0F}"/>
              </a:ext>
            </a:extLst>
          </p:cNvPr>
          <p:cNvSpPr txBox="1"/>
          <p:nvPr/>
        </p:nvSpPr>
        <p:spPr>
          <a:xfrm>
            <a:off x="6213106" y="4011178"/>
            <a:ext cx="1952625" cy="369332"/>
          </a:xfrm>
          <a:prstGeom prst="rect">
            <a:avLst/>
          </a:prstGeom>
          <a:noFill/>
        </p:spPr>
        <p:txBody>
          <a:bodyPr wrap="square" rtlCol="0">
            <a:spAutoFit/>
          </a:bodyPr>
          <a:lstStyle/>
          <a:p>
            <a:r>
              <a:rPr lang="en-US" b="1" dirty="0">
                <a:solidFill>
                  <a:srgbClr val="FF0000"/>
                </a:solidFill>
                <a:latin typeface="Arial" panose="020B0604020202020204" pitchFamily="34" charset="0"/>
                <a:cs typeface="Arial" panose="020B0604020202020204" pitchFamily="34" charset="0"/>
              </a:rPr>
              <a:t>HTTP</a:t>
            </a:r>
          </a:p>
        </p:txBody>
      </p:sp>
      <p:sp>
        <p:nvSpPr>
          <p:cNvPr id="28" name="Rectangle 27">
            <a:extLst>
              <a:ext uri="{FF2B5EF4-FFF2-40B4-BE49-F238E27FC236}">
                <a16:creationId xmlns:a16="http://schemas.microsoft.com/office/drawing/2014/main" id="{FE35DD4E-F346-398A-AEEF-1D91F7EFAD54}"/>
              </a:ext>
            </a:extLst>
          </p:cNvPr>
          <p:cNvSpPr/>
          <p:nvPr/>
        </p:nvSpPr>
        <p:spPr>
          <a:xfrm>
            <a:off x="110125" y="4504539"/>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6684007C-8C44-BCCB-2F53-E01701C953EA}"/>
              </a:ext>
            </a:extLst>
          </p:cNvPr>
          <p:cNvSpPr/>
          <p:nvPr/>
        </p:nvSpPr>
        <p:spPr>
          <a:xfrm>
            <a:off x="186324" y="4504539"/>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prstClr val="white"/>
                </a:solidFill>
                <a:latin typeface="Arial" panose="020B0604020202020204" pitchFamily="34" charset="0"/>
                <a:cs typeface="Arial" panose="020B0604020202020204" pitchFamily="34" charset="0"/>
              </a:rPr>
              <a:t>Only the scheme name and the hierarchical parts are mandatory. The query, which starts with a question mark (?), is optional and contains other information that’s not hierarchical in nature.</a:t>
            </a:r>
          </a:p>
        </p:txBody>
      </p:sp>
      <p:sp>
        <p:nvSpPr>
          <p:cNvPr id="30" name="Rectangle 29">
            <a:extLst>
              <a:ext uri="{FF2B5EF4-FFF2-40B4-BE49-F238E27FC236}">
                <a16:creationId xmlns:a16="http://schemas.microsoft.com/office/drawing/2014/main" id="{00F8AE56-CE01-86F0-7DC9-0864E4D2CDCB}"/>
              </a:ext>
            </a:extLst>
          </p:cNvPr>
          <p:cNvSpPr/>
          <p:nvPr/>
        </p:nvSpPr>
        <p:spPr>
          <a:xfrm>
            <a:off x="110125" y="5437989"/>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1" name="Rectangle 30">
            <a:extLst>
              <a:ext uri="{FF2B5EF4-FFF2-40B4-BE49-F238E27FC236}">
                <a16:creationId xmlns:a16="http://schemas.microsoft.com/office/drawing/2014/main" id="{419C4BDB-BBAA-19E7-CD6A-1FA98166B0D5}"/>
              </a:ext>
            </a:extLst>
          </p:cNvPr>
          <p:cNvSpPr/>
          <p:nvPr/>
        </p:nvSpPr>
        <p:spPr>
          <a:xfrm>
            <a:off x="186324" y="5437989"/>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prstClr val="white"/>
                </a:solidFill>
                <a:latin typeface="Arial" panose="020B0604020202020204" pitchFamily="34" charset="0"/>
                <a:cs typeface="Arial" panose="020B0604020202020204" pitchFamily="34" charset="0"/>
              </a:rPr>
              <a:t>To end this part, we will think of each process as a microservice/webservice that accepts an HTTP request and send responds. So, each service will be a running server instance that we can call through a request.</a:t>
            </a:r>
          </a:p>
        </p:txBody>
      </p:sp>
    </p:spTree>
    <p:custDataLst>
      <p:tags r:id="rId1"/>
    </p:custDataLst>
    <p:extLst>
      <p:ext uri="{BB962C8B-B14F-4D97-AF65-F5344CB8AC3E}">
        <p14:creationId xmlns:p14="http://schemas.microsoft.com/office/powerpoint/2010/main" val="361281499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78CFF7DC-8F79-F062-E4EE-F083C924544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8217C70-7ED1-26EC-F459-3D629C9D858F}"/>
              </a:ext>
            </a:extLst>
          </p:cNvPr>
          <p:cNvPicPr>
            <a:picLocks noChangeAspect="1"/>
          </p:cNvPicPr>
          <p:nvPr/>
        </p:nvPicPr>
        <p:blipFill>
          <a:blip r:embed="rId4"/>
          <a:stretch>
            <a:fillRect/>
          </a:stretch>
        </p:blipFill>
        <p:spPr>
          <a:xfrm>
            <a:off x="219815" y="241808"/>
            <a:ext cx="11752370" cy="6374385"/>
          </a:xfrm>
          <a:prstGeom prst="rect">
            <a:avLst/>
          </a:prstGeom>
        </p:spPr>
      </p:pic>
    </p:spTree>
    <p:custDataLst>
      <p:tags r:id="rId1"/>
    </p:custDataLst>
    <p:extLst>
      <p:ext uri="{BB962C8B-B14F-4D97-AF65-F5344CB8AC3E}">
        <p14:creationId xmlns:p14="http://schemas.microsoft.com/office/powerpoint/2010/main" val="354176989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17CC292D-2AE9-57BD-4D00-558FBCC426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657BA1-69B7-9AE7-05A4-C089895237AF}"/>
              </a:ext>
            </a:extLst>
          </p:cNvPr>
          <p:cNvPicPr>
            <a:picLocks noChangeAspect="1"/>
          </p:cNvPicPr>
          <p:nvPr/>
        </p:nvPicPr>
        <p:blipFill>
          <a:blip r:embed="rId4"/>
          <a:stretch>
            <a:fillRect/>
          </a:stretch>
        </p:blipFill>
        <p:spPr>
          <a:xfrm>
            <a:off x="88367" y="1466796"/>
            <a:ext cx="12015266" cy="3924408"/>
          </a:xfrm>
          <a:prstGeom prst="rect">
            <a:avLst/>
          </a:prstGeom>
        </p:spPr>
      </p:pic>
    </p:spTree>
    <p:custDataLst>
      <p:tags r:id="rId1"/>
    </p:custDataLst>
    <p:extLst>
      <p:ext uri="{BB962C8B-B14F-4D97-AF65-F5344CB8AC3E}">
        <p14:creationId xmlns:p14="http://schemas.microsoft.com/office/powerpoint/2010/main" val="188126290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54A05E41-6A3D-F25E-9B21-DBAADC6E2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792A4-3B72-DF81-E98A-B71157BDBEAA}"/>
              </a:ext>
            </a:extLst>
          </p:cNvPr>
          <p:cNvSpPr>
            <a:spLocks noGrp="1"/>
          </p:cNvSpPr>
          <p:nvPr>
            <p:ph type="title"/>
          </p:nvPr>
        </p:nvSpPr>
        <p:spPr>
          <a:xfrm>
            <a:off x="0"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Serving Go:</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D65F880-7258-A7FB-E2DB-4ECAAEBBE761}"/>
              </a:ext>
            </a:extLst>
          </p:cNvPr>
          <p:cNvSpPr/>
          <p:nvPr/>
        </p:nvSpPr>
        <p:spPr>
          <a:xfrm>
            <a:off x="110125" y="1163151"/>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8D5C5819-216B-3678-5AD1-EE0A1CDB41EC}"/>
              </a:ext>
            </a:extLst>
          </p:cNvPr>
          <p:cNvSpPr/>
          <p:nvPr/>
        </p:nvSpPr>
        <p:spPr>
          <a:xfrm>
            <a:off x="186324" y="1163151"/>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prstClr val="white"/>
                </a:solidFill>
                <a:latin typeface="Arial" panose="020B0604020202020204" pitchFamily="34" charset="0"/>
                <a:cs typeface="Arial" panose="020B0604020202020204" pitchFamily="34" charset="0"/>
              </a:rPr>
              <a:t>The net/http library provides capabilities for starting up an HTTP server that handles requests and sends responses to those requests. It also provides an interface for a multiplexer and a default multiplexer.</a:t>
            </a:r>
          </a:p>
        </p:txBody>
      </p:sp>
      <p:pic>
        <p:nvPicPr>
          <p:cNvPr id="9" name="Picture 8">
            <a:extLst>
              <a:ext uri="{FF2B5EF4-FFF2-40B4-BE49-F238E27FC236}">
                <a16:creationId xmlns:a16="http://schemas.microsoft.com/office/drawing/2014/main" id="{665F7970-E9C3-4467-CA10-13DA28A45C03}"/>
              </a:ext>
            </a:extLst>
          </p:cNvPr>
          <p:cNvPicPr>
            <a:picLocks noChangeAspect="1"/>
          </p:cNvPicPr>
          <p:nvPr/>
        </p:nvPicPr>
        <p:blipFill>
          <a:blip r:embed="rId4"/>
          <a:stretch>
            <a:fillRect/>
          </a:stretch>
        </p:blipFill>
        <p:spPr>
          <a:xfrm>
            <a:off x="865650" y="2057400"/>
            <a:ext cx="10265030" cy="4379836"/>
          </a:xfrm>
          <a:prstGeom prst="rect">
            <a:avLst/>
          </a:prstGeom>
        </p:spPr>
      </p:pic>
    </p:spTree>
    <p:custDataLst>
      <p:tags r:id="rId1"/>
    </p:custDataLst>
    <p:extLst>
      <p:ext uri="{BB962C8B-B14F-4D97-AF65-F5344CB8AC3E}">
        <p14:creationId xmlns:p14="http://schemas.microsoft.com/office/powerpoint/2010/main" val="3765537762"/>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EBBD8919-6E97-AF34-C407-67E5DCBEE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24012-1B8A-5614-B3F3-A445DB62080C}"/>
              </a:ext>
            </a:extLst>
          </p:cNvPr>
          <p:cNvSpPr>
            <a:spLocks noGrp="1"/>
          </p:cNvSpPr>
          <p:nvPr>
            <p:ph type="title"/>
          </p:nvPr>
        </p:nvSpPr>
        <p:spPr>
          <a:xfrm>
            <a:off x="0"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Go web server:</a:t>
            </a:r>
            <a:endParaRPr lang="en-US" sz="4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AFFE072F-65DA-109B-3691-C02F69725F53}"/>
              </a:ext>
            </a:extLst>
          </p:cNvPr>
          <p:cNvSpPr/>
          <p:nvPr/>
        </p:nvSpPr>
        <p:spPr>
          <a:xfrm>
            <a:off x="110125" y="1163151"/>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E948BB34-1893-E4AA-1893-6DC36744153A}"/>
              </a:ext>
            </a:extLst>
          </p:cNvPr>
          <p:cNvSpPr/>
          <p:nvPr/>
        </p:nvSpPr>
        <p:spPr>
          <a:xfrm>
            <a:off x="186324" y="1163151"/>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prstClr val="white"/>
                </a:solidFill>
                <a:latin typeface="Arial" panose="020B0604020202020204" pitchFamily="34" charset="0"/>
                <a:cs typeface="Arial" panose="020B0604020202020204" pitchFamily="34" charset="0"/>
              </a:rPr>
              <a:t>Creating a server is trivial and can be done with a call to </a:t>
            </a:r>
            <a:r>
              <a:rPr lang="en-US" b="1" dirty="0" err="1">
                <a:solidFill>
                  <a:prstClr val="white"/>
                </a:solidFill>
                <a:latin typeface="Arial" panose="020B0604020202020204" pitchFamily="34" charset="0"/>
                <a:cs typeface="Arial" panose="020B0604020202020204" pitchFamily="34" charset="0"/>
              </a:rPr>
              <a:t>ListenAndServe</a:t>
            </a:r>
            <a:r>
              <a:rPr lang="en-US" b="1" dirty="0">
                <a:solidFill>
                  <a:prstClr val="white"/>
                </a:solidFill>
                <a:latin typeface="Arial" panose="020B0604020202020204" pitchFamily="34" charset="0"/>
                <a:cs typeface="Arial" panose="020B0604020202020204" pitchFamily="34" charset="0"/>
              </a:rPr>
              <a:t>, with the network address as the first parameter and the handler that takes care of the requests the second parameter</a:t>
            </a:r>
          </a:p>
        </p:txBody>
      </p:sp>
      <p:pic>
        <p:nvPicPr>
          <p:cNvPr id="6" name="Picture 5">
            <a:extLst>
              <a:ext uri="{FF2B5EF4-FFF2-40B4-BE49-F238E27FC236}">
                <a16:creationId xmlns:a16="http://schemas.microsoft.com/office/drawing/2014/main" id="{3F096B47-DE47-B0C0-A77B-119B652A5E36}"/>
              </a:ext>
            </a:extLst>
          </p:cNvPr>
          <p:cNvPicPr>
            <a:picLocks noChangeAspect="1"/>
          </p:cNvPicPr>
          <p:nvPr/>
        </p:nvPicPr>
        <p:blipFill>
          <a:blip r:embed="rId4"/>
          <a:stretch>
            <a:fillRect/>
          </a:stretch>
        </p:blipFill>
        <p:spPr>
          <a:xfrm>
            <a:off x="1762126" y="2116305"/>
            <a:ext cx="7448550" cy="4160669"/>
          </a:xfrm>
          <a:prstGeom prst="rect">
            <a:avLst/>
          </a:prstGeom>
        </p:spPr>
      </p:pic>
    </p:spTree>
    <p:custDataLst>
      <p:tags r:id="rId1"/>
    </p:custDataLst>
    <p:extLst>
      <p:ext uri="{BB962C8B-B14F-4D97-AF65-F5344CB8AC3E}">
        <p14:creationId xmlns:p14="http://schemas.microsoft.com/office/powerpoint/2010/main" val="43719451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777D32D7-F386-898B-3118-1FE309A3E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8D415-BF79-88A6-9D7C-F3C741B3C0E3}"/>
              </a:ext>
            </a:extLst>
          </p:cNvPr>
          <p:cNvSpPr>
            <a:spLocks noGrp="1"/>
          </p:cNvSpPr>
          <p:nvPr>
            <p:ph type="title"/>
          </p:nvPr>
        </p:nvSpPr>
        <p:spPr>
          <a:xfrm>
            <a:off x="0" y="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Handlers and handler functions:</a:t>
            </a:r>
            <a:endParaRPr lang="en-US" sz="4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518083B-60BE-D223-D70C-07548071DCC7}"/>
              </a:ext>
            </a:extLst>
          </p:cNvPr>
          <p:cNvPicPr>
            <a:picLocks noChangeAspect="1"/>
          </p:cNvPicPr>
          <p:nvPr/>
        </p:nvPicPr>
        <p:blipFill>
          <a:blip r:embed="rId4"/>
          <a:stretch>
            <a:fillRect/>
          </a:stretch>
        </p:blipFill>
        <p:spPr>
          <a:xfrm>
            <a:off x="195669" y="1049591"/>
            <a:ext cx="11653431" cy="1636459"/>
          </a:xfrm>
          <a:prstGeom prst="rect">
            <a:avLst/>
          </a:prstGeom>
        </p:spPr>
      </p:pic>
      <p:sp>
        <p:nvSpPr>
          <p:cNvPr id="8" name="Rectangle 7">
            <a:extLst>
              <a:ext uri="{FF2B5EF4-FFF2-40B4-BE49-F238E27FC236}">
                <a16:creationId xmlns:a16="http://schemas.microsoft.com/office/drawing/2014/main" id="{33E8950D-5E97-F6CC-85E9-AFFAF0E93F08}"/>
              </a:ext>
            </a:extLst>
          </p:cNvPr>
          <p:cNvSpPr/>
          <p:nvPr/>
        </p:nvSpPr>
        <p:spPr>
          <a:xfrm>
            <a:off x="72025" y="2967747"/>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3A459C9D-E682-6536-292B-9303B0125DC4}"/>
              </a:ext>
            </a:extLst>
          </p:cNvPr>
          <p:cNvSpPr/>
          <p:nvPr/>
        </p:nvSpPr>
        <p:spPr>
          <a:xfrm>
            <a:off x="148224" y="2967747"/>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prstClr val="white"/>
                </a:solidFill>
                <a:latin typeface="Arial" panose="020B0604020202020204" pitchFamily="34" charset="0"/>
                <a:cs typeface="Arial" panose="020B0604020202020204" pitchFamily="34" charset="0"/>
              </a:rPr>
              <a:t>A handler is an interface that has a method named </a:t>
            </a:r>
            <a:r>
              <a:rPr lang="en-US" b="1" dirty="0" err="1">
                <a:solidFill>
                  <a:prstClr val="white"/>
                </a:solidFill>
                <a:latin typeface="Arial" panose="020B0604020202020204" pitchFamily="34" charset="0"/>
                <a:cs typeface="Arial" panose="020B0604020202020204" pitchFamily="34" charset="0"/>
              </a:rPr>
              <a:t>ServeHTTP</a:t>
            </a:r>
            <a:r>
              <a:rPr lang="en-US" b="1" dirty="0">
                <a:solidFill>
                  <a:prstClr val="white"/>
                </a:solidFill>
                <a:latin typeface="Arial" panose="020B0604020202020204" pitchFamily="34" charset="0"/>
                <a:cs typeface="Arial" panose="020B0604020202020204" pitchFamily="34" charset="0"/>
              </a:rPr>
              <a:t> with two parameters: an </a:t>
            </a:r>
            <a:r>
              <a:rPr lang="en-US" b="1" dirty="0" err="1">
                <a:solidFill>
                  <a:prstClr val="white"/>
                </a:solidFill>
                <a:latin typeface="Arial" panose="020B0604020202020204" pitchFamily="34" charset="0"/>
                <a:cs typeface="Arial" panose="020B0604020202020204" pitchFamily="34" charset="0"/>
              </a:rPr>
              <a:t>HTTPResponseWriter</a:t>
            </a:r>
            <a:r>
              <a:rPr lang="en-US" b="1" dirty="0">
                <a:solidFill>
                  <a:prstClr val="white"/>
                </a:solidFill>
                <a:latin typeface="Arial" panose="020B0604020202020204" pitchFamily="34" charset="0"/>
                <a:cs typeface="Arial" panose="020B0604020202020204" pitchFamily="34" charset="0"/>
              </a:rPr>
              <a:t> interface and a pointer to a Request struct.</a:t>
            </a:r>
          </a:p>
        </p:txBody>
      </p:sp>
      <p:sp>
        <p:nvSpPr>
          <p:cNvPr id="10" name="Rectangle 9">
            <a:extLst>
              <a:ext uri="{FF2B5EF4-FFF2-40B4-BE49-F238E27FC236}">
                <a16:creationId xmlns:a16="http://schemas.microsoft.com/office/drawing/2014/main" id="{558BE028-C1A9-8E74-CDCD-CEB183DF3859}"/>
              </a:ext>
            </a:extLst>
          </p:cNvPr>
          <p:cNvSpPr/>
          <p:nvPr/>
        </p:nvSpPr>
        <p:spPr>
          <a:xfrm>
            <a:off x="72025" y="3944287"/>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4EBA9091-704F-C28A-1D99-2DBE6B163EE8}"/>
              </a:ext>
            </a:extLst>
          </p:cNvPr>
          <p:cNvSpPr/>
          <p:nvPr/>
        </p:nvSpPr>
        <p:spPr>
          <a:xfrm>
            <a:off x="148224" y="3944287"/>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prstClr val="white"/>
                </a:solidFill>
                <a:latin typeface="Arial" panose="020B0604020202020204" pitchFamily="34" charset="0"/>
                <a:cs typeface="Arial" panose="020B0604020202020204" pitchFamily="34" charset="0"/>
              </a:rPr>
              <a:t>In other words, anything that has a method called </a:t>
            </a:r>
            <a:r>
              <a:rPr lang="en-US" b="1" dirty="0" err="1">
                <a:solidFill>
                  <a:prstClr val="white"/>
                </a:solidFill>
                <a:latin typeface="Arial" panose="020B0604020202020204" pitchFamily="34" charset="0"/>
                <a:cs typeface="Arial" panose="020B0604020202020204" pitchFamily="34" charset="0"/>
              </a:rPr>
              <a:t>ServeHTTP</a:t>
            </a:r>
            <a:r>
              <a:rPr lang="en-US" b="1" dirty="0">
                <a:solidFill>
                  <a:prstClr val="white"/>
                </a:solidFill>
                <a:latin typeface="Arial" panose="020B0604020202020204" pitchFamily="34" charset="0"/>
                <a:cs typeface="Arial" panose="020B0604020202020204" pitchFamily="34" charset="0"/>
              </a:rPr>
              <a:t> with this method signature is a handler:</a:t>
            </a:r>
          </a:p>
        </p:txBody>
      </p:sp>
      <p:pic>
        <p:nvPicPr>
          <p:cNvPr id="13" name="Picture 12">
            <a:extLst>
              <a:ext uri="{FF2B5EF4-FFF2-40B4-BE49-F238E27FC236}">
                <a16:creationId xmlns:a16="http://schemas.microsoft.com/office/drawing/2014/main" id="{601AA234-551B-4F51-4FBE-610448FD158E}"/>
              </a:ext>
            </a:extLst>
          </p:cNvPr>
          <p:cNvPicPr>
            <a:picLocks noChangeAspect="1"/>
          </p:cNvPicPr>
          <p:nvPr/>
        </p:nvPicPr>
        <p:blipFill>
          <a:blip r:embed="rId5"/>
          <a:stretch>
            <a:fillRect/>
          </a:stretch>
        </p:blipFill>
        <p:spPr>
          <a:xfrm>
            <a:off x="950343" y="4867241"/>
            <a:ext cx="8908032" cy="510584"/>
          </a:xfrm>
          <a:prstGeom prst="rect">
            <a:avLst/>
          </a:prstGeom>
        </p:spPr>
      </p:pic>
    </p:spTree>
    <p:custDataLst>
      <p:tags r:id="rId1"/>
    </p:custDataLst>
    <p:extLst>
      <p:ext uri="{BB962C8B-B14F-4D97-AF65-F5344CB8AC3E}">
        <p14:creationId xmlns:p14="http://schemas.microsoft.com/office/powerpoint/2010/main" val="813255886"/>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76E36C6B-82B4-8A3A-E94B-55ACC9278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4583D-BB8B-6AEB-739E-6F142C66D836}"/>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Handling request:</a:t>
            </a:r>
            <a:endParaRPr lang="en-US" sz="4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DC6B9F8-FA39-A1C6-EEBD-42F1392AD0CB}"/>
              </a:ext>
            </a:extLst>
          </p:cNvPr>
          <p:cNvPicPr>
            <a:picLocks noChangeAspect="1"/>
          </p:cNvPicPr>
          <p:nvPr/>
        </p:nvPicPr>
        <p:blipFill>
          <a:blip r:embed="rId4"/>
          <a:stretch>
            <a:fillRect/>
          </a:stretch>
        </p:blipFill>
        <p:spPr>
          <a:xfrm>
            <a:off x="830240" y="862720"/>
            <a:ext cx="8237560" cy="5646909"/>
          </a:xfrm>
          <a:prstGeom prst="rect">
            <a:avLst/>
          </a:prstGeom>
        </p:spPr>
      </p:pic>
      <p:cxnSp>
        <p:nvCxnSpPr>
          <p:cNvPr id="6" name="Straight Arrow Connector 5">
            <a:extLst>
              <a:ext uri="{FF2B5EF4-FFF2-40B4-BE49-F238E27FC236}">
                <a16:creationId xmlns:a16="http://schemas.microsoft.com/office/drawing/2014/main" id="{79A4785A-0B34-8B6C-5EE4-FBC2D9CBABAF}"/>
              </a:ext>
            </a:extLst>
          </p:cNvPr>
          <p:cNvCxnSpPr/>
          <p:nvPr/>
        </p:nvCxnSpPr>
        <p:spPr>
          <a:xfrm flipV="1">
            <a:off x="2362200" y="2028825"/>
            <a:ext cx="457200" cy="45720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2500AC1-C90E-75D0-B2D6-370B392169DF}"/>
              </a:ext>
            </a:extLst>
          </p:cNvPr>
          <p:cNvSpPr txBox="1"/>
          <p:nvPr/>
        </p:nvSpPr>
        <p:spPr>
          <a:xfrm>
            <a:off x="2365965" y="1602959"/>
            <a:ext cx="5203848"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This is called a handler/endpoint/route/action</a:t>
            </a:r>
          </a:p>
        </p:txBody>
      </p:sp>
      <p:grpSp>
        <p:nvGrpSpPr>
          <p:cNvPr id="16" name="Group 15">
            <a:extLst>
              <a:ext uri="{FF2B5EF4-FFF2-40B4-BE49-F238E27FC236}">
                <a16:creationId xmlns:a16="http://schemas.microsoft.com/office/drawing/2014/main" id="{16164792-5317-382A-5B38-2E5BCCBA853D}"/>
              </a:ext>
            </a:extLst>
          </p:cNvPr>
          <p:cNvGrpSpPr/>
          <p:nvPr/>
        </p:nvGrpSpPr>
        <p:grpSpPr>
          <a:xfrm>
            <a:off x="3401448" y="2548080"/>
            <a:ext cx="849600" cy="426960"/>
            <a:chOff x="3401448" y="2548080"/>
            <a:chExt cx="849600" cy="426960"/>
          </a:xfrm>
        </p:grpSpPr>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5468B398-9DFE-D9DA-BCA5-E67C82DCE683}"/>
                    </a:ext>
                  </a:extLst>
                </p14:cNvPr>
                <p14:cNvContentPartPr/>
                <p14:nvPr/>
              </p14:nvContentPartPr>
              <p14:xfrm>
                <a:off x="3401448" y="2633760"/>
                <a:ext cx="781200" cy="341280"/>
              </p14:xfrm>
            </p:contentPart>
          </mc:Choice>
          <mc:Fallback xmlns="">
            <p:pic>
              <p:nvPicPr>
                <p:cNvPr id="14" name="Ink 13">
                  <a:extLst>
                    <a:ext uri="{FF2B5EF4-FFF2-40B4-BE49-F238E27FC236}">
                      <a16:creationId xmlns:a16="http://schemas.microsoft.com/office/drawing/2014/main" id="{5468B398-9DFE-D9DA-BCA5-E67C82DCE683}"/>
                    </a:ext>
                  </a:extLst>
                </p:cNvPr>
                <p:cNvPicPr/>
                <p:nvPr/>
              </p:nvPicPr>
              <p:blipFill>
                <a:blip r:embed="rId6"/>
                <a:stretch>
                  <a:fillRect/>
                </a:stretch>
              </p:blipFill>
              <p:spPr>
                <a:xfrm>
                  <a:off x="3392448" y="2624760"/>
                  <a:ext cx="79884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EC01DD80-77DF-A5B6-47BA-EF0FC180C447}"/>
                    </a:ext>
                  </a:extLst>
                </p14:cNvPr>
                <p14:cNvContentPartPr/>
                <p14:nvPr/>
              </p14:nvContentPartPr>
              <p14:xfrm>
                <a:off x="4114608" y="2548080"/>
                <a:ext cx="136440" cy="185760"/>
              </p14:xfrm>
            </p:contentPart>
          </mc:Choice>
          <mc:Fallback xmlns="">
            <p:pic>
              <p:nvPicPr>
                <p:cNvPr id="15" name="Ink 14">
                  <a:extLst>
                    <a:ext uri="{FF2B5EF4-FFF2-40B4-BE49-F238E27FC236}">
                      <a16:creationId xmlns:a16="http://schemas.microsoft.com/office/drawing/2014/main" id="{EC01DD80-77DF-A5B6-47BA-EF0FC180C447}"/>
                    </a:ext>
                  </a:extLst>
                </p:cNvPr>
                <p:cNvPicPr/>
                <p:nvPr/>
              </p:nvPicPr>
              <p:blipFill>
                <a:blip r:embed="rId8"/>
                <a:stretch>
                  <a:fillRect/>
                </a:stretch>
              </p:blipFill>
              <p:spPr>
                <a:xfrm>
                  <a:off x="4105968" y="2539440"/>
                  <a:ext cx="154080" cy="203400"/>
                </a:xfrm>
                <a:prstGeom prst="rect">
                  <a:avLst/>
                </a:prstGeom>
              </p:spPr>
            </p:pic>
          </mc:Fallback>
        </mc:AlternateContent>
      </p:grpSp>
      <p:sp>
        <p:nvSpPr>
          <p:cNvPr id="17" name="TextBox 16">
            <a:extLst>
              <a:ext uri="{FF2B5EF4-FFF2-40B4-BE49-F238E27FC236}">
                <a16:creationId xmlns:a16="http://schemas.microsoft.com/office/drawing/2014/main" id="{BBA5E614-02B5-DD3D-A9EC-2557A6187EC8}"/>
              </a:ext>
            </a:extLst>
          </p:cNvPr>
          <p:cNvSpPr txBox="1"/>
          <p:nvPr/>
        </p:nvSpPr>
        <p:spPr>
          <a:xfrm>
            <a:off x="4251048" y="2062760"/>
            <a:ext cx="7940952" cy="923330"/>
          </a:xfrm>
          <a:prstGeom prst="rect">
            <a:avLst/>
          </a:prstGeom>
          <a:noFill/>
        </p:spPr>
        <p:txBody>
          <a:bodyPr wrap="square" rtlCol="0">
            <a:spAutoFit/>
          </a:bodyPr>
          <a:lstStyle/>
          <a:p>
            <a:r>
              <a:rPr lang="en-US" b="1" dirty="0">
                <a:solidFill>
                  <a:srgbClr val="FF0000"/>
                </a:solidFill>
                <a:latin typeface="Arial" panose="020B0604020202020204" pitchFamily="34" charset="0"/>
                <a:cs typeface="Arial" panose="020B0604020202020204" pitchFamily="34" charset="0"/>
              </a:rPr>
              <a:t>The function associated with any handler that defines the logic of the response, given the two main parameters, the Request and ResponseWriter</a:t>
            </a:r>
          </a:p>
        </p:txBody>
      </p:sp>
      <p:sp>
        <p:nvSpPr>
          <p:cNvPr id="18" name="Left Brace 17">
            <a:extLst>
              <a:ext uri="{FF2B5EF4-FFF2-40B4-BE49-F238E27FC236}">
                <a16:creationId xmlns:a16="http://schemas.microsoft.com/office/drawing/2014/main" id="{69DE176F-F6A5-207A-83B1-C4B893F21E0E}"/>
              </a:ext>
            </a:extLst>
          </p:cNvPr>
          <p:cNvSpPr/>
          <p:nvPr/>
        </p:nvSpPr>
        <p:spPr>
          <a:xfrm>
            <a:off x="604328" y="2377440"/>
            <a:ext cx="386080" cy="1412240"/>
          </a:xfrm>
          <a:prstGeom prst="leftBrace">
            <a:avLst/>
          </a:prstGeom>
          <a:ln w="28575">
            <a:solidFill>
              <a:srgbClr val="FF0000"/>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9FFD1C25-D903-2B6E-0B38-2D1CC6CA24BF}"/>
              </a:ext>
            </a:extLst>
          </p:cNvPr>
          <p:cNvSpPr txBox="1"/>
          <p:nvPr/>
        </p:nvSpPr>
        <p:spPr>
          <a:xfrm>
            <a:off x="1127760" y="3490853"/>
            <a:ext cx="9027352"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If you go to http://localhost:9080 in your browser, you’ll see Hello World!</a:t>
            </a:r>
          </a:p>
        </p:txBody>
      </p:sp>
      <p:sp>
        <p:nvSpPr>
          <p:cNvPr id="21" name="TextBox 20">
            <a:extLst>
              <a:ext uri="{FF2B5EF4-FFF2-40B4-BE49-F238E27FC236}">
                <a16:creationId xmlns:a16="http://schemas.microsoft.com/office/drawing/2014/main" id="{F290ECF7-20B7-7124-24A7-2D04919ED62E}"/>
              </a:ext>
            </a:extLst>
          </p:cNvPr>
          <p:cNvSpPr txBox="1"/>
          <p:nvPr/>
        </p:nvSpPr>
        <p:spPr>
          <a:xfrm>
            <a:off x="3967480" y="3951625"/>
            <a:ext cx="8224520" cy="923330"/>
          </a:xfrm>
          <a:prstGeom prst="rect">
            <a:avLst/>
          </a:prstGeom>
          <a:noFill/>
        </p:spPr>
        <p:txBody>
          <a:bodyPr wrap="square" rtlCol="0">
            <a:spAutoFit/>
          </a:bodyPr>
          <a:lstStyle/>
          <a:p>
            <a:r>
              <a:rPr lang="en-US" b="1" dirty="0">
                <a:solidFill>
                  <a:srgbClr val="FF0000"/>
                </a:solidFill>
                <a:latin typeface="Arial" panose="020B0604020202020204" pitchFamily="34" charset="0"/>
                <a:cs typeface="Arial" panose="020B0604020202020204" pitchFamily="34" charset="0"/>
              </a:rPr>
              <a:t>Here’s the tricky bit: if you go to http://localhost:8080/anything/at/all you’ll still get the same response! Why this is so should be quite obvious. We just created a handler and attached it to our server</a:t>
            </a:r>
          </a:p>
        </p:txBody>
      </p:sp>
      <p:sp>
        <p:nvSpPr>
          <p:cNvPr id="22" name="TextBox 21">
            <a:extLst>
              <a:ext uri="{FF2B5EF4-FFF2-40B4-BE49-F238E27FC236}">
                <a16:creationId xmlns:a16="http://schemas.microsoft.com/office/drawing/2014/main" id="{50AC351D-4211-69A8-9862-F6F6A5C1FE43}"/>
              </a:ext>
            </a:extLst>
          </p:cNvPr>
          <p:cNvSpPr txBox="1"/>
          <p:nvPr/>
        </p:nvSpPr>
        <p:spPr>
          <a:xfrm>
            <a:off x="3967480" y="5309300"/>
            <a:ext cx="5100320" cy="1200329"/>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There’s no longer any URL matching to route the request to a particular handler; all requests going into the server will go to this handler.</a:t>
            </a:r>
          </a:p>
        </p:txBody>
      </p:sp>
    </p:spTree>
    <p:custDataLst>
      <p:tags r:id="rId1"/>
    </p:custDataLst>
    <p:extLst>
      <p:ext uri="{BB962C8B-B14F-4D97-AF65-F5344CB8AC3E}">
        <p14:creationId xmlns:p14="http://schemas.microsoft.com/office/powerpoint/2010/main" val="327978973"/>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29046B2B-ACFF-0AC4-70F8-4FD5F66F7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584B3-C4AD-06D9-4EB4-F22754BE83D9}"/>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More Handlers:</a:t>
            </a:r>
            <a:endParaRPr lang="en-US" sz="4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FCE6CE1-5D0F-1816-ED44-C6C2555F1A28}"/>
              </a:ext>
            </a:extLst>
          </p:cNvPr>
          <p:cNvPicPr>
            <a:picLocks noChangeAspect="1"/>
          </p:cNvPicPr>
          <p:nvPr/>
        </p:nvPicPr>
        <p:blipFill>
          <a:blip r:embed="rId4"/>
          <a:stretch>
            <a:fillRect/>
          </a:stretch>
        </p:blipFill>
        <p:spPr>
          <a:xfrm>
            <a:off x="195669" y="690880"/>
            <a:ext cx="10319931" cy="6075964"/>
          </a:xfrm>
          <a:prstGeom prst="rect">
            <a:avLst/>
          </a:prstGeom>
        </p:spPr>
      </p:pic>
      <p:sp>
        <p:nvSpPr>
          <p:cNvPr id="9" name="TextBox 8">
            <a:extLst>
              <a:ext uri="{FF2B5EF4-FFF2-40B4-BE49-F238E27FC236}">
                <a16:creationId xmlns:a16="http://schemas.microsoft.com/office/drawing/2014/main" id="{0CF1A079-4B7F-F734-489C-AA8E8536022D}"/>
              </a:ext>
            </a:extLst>
          </p:cNvPr>
          <p:cNvSpPr txBox="1"/>
          <p:nvPr/>
        </p:nvSpPr>
        <p:spPr>
          <a:xfrm>
            <a:off x="4855165" y="1370142"/>
            <a:ext cx="5203848"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This is a handler</a:t>
            </a:r>
          </a:p>
        </p:txBody>
      </p:sp>
      <p:sp>
        <p:nvSpPr>
          <p:cNvPr id="10" name="TextBox 9">
            <a:extLst>
              <a:ext uri="{FF2B5EF4-FFF2-40B4-BE49-F238E27FC236}">
                <a16:creationId xmlns:a16="http://schemas.microsoft.com/office/drawing/2014/main" id="{B5578387-77E5-897A-27DD-15615E106679}"/>
              </a:ext>
            </a:extLst>
          </p:cNvPr>
          <p:cNvSpPr txBox="1"/>
          <p:nvPr/>
        </p:nvSpPr>
        <p:spPr>
          <a:xfrm>
            <a:off x="5190445" y="2458185"/>
            <a:ext cx="5203848" cy="369332"/>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This is another handler</a:t>
            </a:r>
          </a:p>
        </p:txBody>
      </p:sp>
      <p:cxnSp>
        <p:nvCxnSpPr>
          <p:cNvPr id="13" name="Straight Arrow Connector 12">
            <a:extLst>
              <a:ext uri="{FF2B5EF4-FFF2-40B4-BE49-F238E27FC236}">
                <a16:creationId xmlns:a16="http://schemas.microsoft.com/office/drawing/2014/main" id="{2DFCAA52-F073-2534-6717-CB474D6C2C8E}"/>
              </a:ext>
            </a:extLst>
          </p:cNvPr>
          <p:cNvCxnSpPr/>
          <p:nvPr/>
        </p:nvCxnSpPr>
        <p:spPr>
          <a:xfrm flipV="1">
            <a:off x="3586480" y="1534160"/>
            <a:ext cx="1381760" cy="18288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6AAB4A7-AE69-D529-A05E-294003BCAA1B}"/>
              </a:ext>
            </a:extLst>
          </p:cNvPr>
          <p:cNvCxnSpPr>
            <a:cxnSpLocks/>
          </p:cNvCxnSpPr>
          <p:nvPr/>
        </p:nvCxnSpPr>
        <p:spPr>
          <a:xfrm flipV="1">
            <a:off x="3749040" y="1534160"/>
            <a:ext cx="1219200" cy="47752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8AF1F0F-F545-BA17-39C7-AE786EFA3347}"/>
              </a:ext>
            </a:extLst>
          </p:cNvPr>
          <p:cNvCxnSpPr>
            <a:cxnSpLocks/>
            <a:endCxn id="10" idx="1"/>
          </p:cNvCxnSpPr>
          <p:nvPr/>
        </p:nvCxnSpPr>
        <p:spPr>
          <a:xfrm flipV="1">
            <a:off x="3586480" y="2642851"/>
            <a:ext cx="1603965" cy="29830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E07F7D3-0C5F-1F40-2619-E90947173C0F}"/>
              </a:ext>
            </a:extLst>
          </p:cNvPr>
          <p:cNvCxnSpPr>
            <a:cxnSpLocks/>
            <a:endCxn id="10" idx="1"/>
          </p:cNvCxnSpPr>
          <p:nvPr/>
        </p:nvCxnSpPr>
        <p:spPr>
          <a:xfrm flipV="1">
            <a:off x="3749040" y="2642851"/>
            <a:ext cx="1441405" cy="59294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Right Brace 29">
            <a:extLst>
              <a:ext uri="{FF2B5EF4-FFF2-40B4-BE49-F238E27FC236}">
                <a16:creationId xmlns:a16="http://schemas.microsoft.com/office/drawing/2014/main" id="{EC66B6CF-88B4-09C4-9202-758B1636866E}"/>
              </a:ext>
            </a:extLst>
          </p:cNvPr>
          <p:cNvSpPr/>
          <p:nvPr/>
        </p:nvSpPr>
        <p:spPr>
          <a:xfrm>
            <a:off x="4480560" y="5466080"/>
            <a:ext cx="487680" cy="9652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TextBox 30">
            <a:extLst>
              <a:ext uri="{FF2B5EF4-FFF2-40B4-BE49-F238E27FC236}">
                <a16:creationId xmlns:a16="http://schemas.microsoft.com/office/drawing/2014/main" id="{511DC55B-E85E-2148-F53A-FCA87431A79F}"/>
              </a:ext>
            </a:extLst>
          </p:cNvPr>
          <p:cNvSpPr txBox="1"/>
          <p:nvPr/>
        </p:nvSpPr>
        <p:spPr>
          <a:xfrm>
            <a:off x="4968240" y="5466080"/>
            <a:ext cx="5203848" cy="646331"/>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These two handlers serve at the corresponding routes/endpoints.</a:t>
            </a: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0F4599D5-ED61-4E52-78EC-811B4CF22D71}"/>
                  </a:ext>
                </a:extLst>
              </p:cNvPr>
              <p:cNvGraphicFramePr>
                <a:graphicFrameLocks noChangeAspect="1"/>
              </p:cNvGraphicFramePr>
              <p:nvPr>
                <p:extLst>
                  <p:ext uri="{D42A27DB-BD31-4B8C-83A1-F6EECF244321}">
                    <p14:modId xmlns:p14="http://schemas.microsoft.com/office/powerpoint/2010/main" val="3523902393"/>
                  </p:ext>
                </p:extLst>
              </p:nvPr>
            </p:nvGraphicFramePr>
            <p:xfrm>
              <a:off x="-3222638" y="749309"/>
              <a:ext cx="3048000" cy="1714500"/>
            </p:xfrm>
            <a:graphic>
              <a:graphicData uri="http://schemas.microsoft.com/office/powerpoint/2016/slidezoom">
                <pslz:sldZm>
                  <pslz:sldZmObj sldId="396" cId="3775209627">
                    <pslz:zmPr id="{B002B75D-12EA-4754-89E7-7FB84FBB0122}" returnToParent="0"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4" name="Slide Zoom 3">
                <a:hlinkClick r:id="rId6" action="ppaction://hlinksldjump"/>
                <a:extLst>
                  <a:ext uri="{FF2B5EF4-FFF2-40B4-BE49-F238E27FC236}">
                    <a16:creationId xmlns:a16="http://schemas.microsoft.com/office/drawing/2014/main" id="{0F4599D5-ED61-4E52-78EC-811B4CF22D71}"/>
                  </a:ext>
                </a:extLst>
              </p:cNvPr>
              <p:cNvPicPr>
                <a:picLocks noGrp="1" noRot="1" noChangeAspect="1" noMove="1" noResize="1" noEditPoints="1" noAdjustHandles="1" noChangeArrowheads="1" noChangeShapeType="1"/>
              </p:cNvPicPr>
              <p:nvPr/>
            </p:nvPicPr>
            <p:blipFill>
              <a:blip r:embed="rId7"/>
              <a:stretch>
                <a:fillRect/>
              </a:stretch>
            </p:blipFill>
            <p:spPr>
              <a:xfrm>
                <a:off x="-3222638" y="749309"/>
                <a:ext cx="3048000" cy="1714500"/>
              </a:xfrm>
              <a:prstGeom prst="rect">
                <a:avLst/>
              </a:prstGeom>
              <a:ln w="3175">
                <a:solidFill>
                  <a:prstClr val="ltGray"/>
                </a:solidFill>
              </a:ln>
            </p:spPr>
          </p:pic>
        </mc:Fallback>
      </mc:AlternateContent>
    </p:spTree>
    <p:custDataLst>
      <p:tags r:id="rId1"/>
    </p:custDataLst>
    <p:extLst>
      <p:ext uri="{BB962C8B-B14F-4D97-AF65-F5344CB8AC3E}">
        <p14:creationId xmlns:p14="http://schemas.microsoft.com/office/powerpoint/2010/main" val="377520962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D7C50172-1554-9B2E-9D61-2FCE6BBA9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1AE4C-CC4D-EB63-2240-79E074E84C01}"/>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Handler functions:</a:t>
            </a:r>
            <a:endParaRPr lang="en-US" sz="4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91B2FB5-062E-82A7-DE5A-762E7EA0DCC3}"/>
              </a:ext>
            </a:extLst>
          </p:cNvPr>
          <p:cNvPicPr>
            <a:picLocks noChangeAspect="1"/>
          </p:cNvPicPr>
          <p:nvPr/>
        </p:nvPicPr>
        <p:blipFill>
          <a:blip r:embed="rId4"/>
          <a:stretch>
            <a:fillRect/>
          </a:stretch>
        </p:blipFill>
        <p:spPr>
          <a:xfrm>
            <a:off x="195669" y="730179"/>
            <a:ext cx="11800662" cy="1057981"/>
          </a:xfrm>
          <a:prstGeom prst="rect">
            <a:avLst/>
          </a:prstGeom>
        </p:spPr>
      </p:pic>
      <p:pic>
        <p:nvPicPr>
          <p:cNvPr id="7" name="Picture 6">
            <a:extLst>
              <a:ext uri="{FF2B5EF4-FFF2-40B4-BE49-F238E27FC236}">
                <a16:creationId xmlns:a16="http://schemas.microsoft.com/office/drawing/2014/main" id="{E910CCDA-6AA7-7382-3736-9651F285868C}"/>
              </a:ext>
            </a:extLst>
          </p:cNvPr>
          <p:cNvPicPr>
            <a:picLocks noChangeAspect="1"/>
          </p:cNvPicPr>
          <p:nvPr/>
        </p:nvPicPr>
        <p:blipFill>
          <a:blip r:embed="rId5"/>
          <a:stretch>
            <a:fillRect/>
          </a:stretch>
        </p:blipFill>
        <p:spPr>
          <a:xfrm>
            <a:off x="1539239" y="1866473"/>
            <a:ext cx="8917851" cy="4930567"/>
          </a:xfrm>
          <a:prstGeom prst="rect">
            <a:avLst/>
          </a:prstGeom>
        </p:spPr>
      </p:pic>
    </p:spTree>
    <p:custDataLst>
      <p:tags r:id="rId1"/>
    </p:custDataLst>
    <p:extLst>
      <p:ext uri="{BB962C8B-B14F-4D97-AF65-F5344CB8AC3E}">
        <p14:creationId xmlns:p14="http://schemas.microsoft.com/office/powerpoint/2010/main" val="1482925726"/>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526CBDBC-24B3-F516-10E0-B22C289C8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788DB-876F-EA15-E9E5-E77B60049F68}"/>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Two Communicating Services:</a:t>
            </a:r>
            <a:endParaRPr lang="en-US" sz="4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363953D-0C08-2985-AB03-1EB4CA6E0105}"/>
              </a:ext>
            </a:extLst>
          </p:cNvPr>
          <p:cNvPicPr>
            <a:picLocks noChangeAspect="1"/>
          </p:cNvPicPr>
          <p:nvPr/>
        </p:nvPicPr>
        <p:blipFill>
          <a:blip r:embed="rId4"/>
          <a:stretch>
            <a:fillRect/>
          </a:stretch>
        </p:blipFill>
        <p:spPr>
          <a:xfrm>
            <a:off x="81109" y="858111"/>
            <a:ext cx="5686646" cy="5759274"/>
          </a:xfrm>
          <a:prstGeom prst="rect">
            <a:avLst/>
          </a:prstGeom>
        </p:spPr>
      </p:pic>
      <p:pic>
        <p:nvPicPr>
          <p:cNvPr id="4" name="Picture 3">
            <a:extLst>
              <a:ext uri="{FF2B5EF4-FFF2-40B4-BE49-F238E27FC236}">
                <a16:creationId xmlns:a16="http://schemas.microsoft.com/office/drawing/2014/main" id="{48AA3D2D-3AFB-B949-0BC6-F11D5C470132}"/>
              </a:ext>
            </a:extLst>
          </p:cNvPr>
          <p:cNvPicPr>
            <a:picLocks noChangeAspect="1"/>
          </p:cNvPicPr>
          <p:nvPr/>
        </p:nvPicPr>
        <p:blipFill>
          <a:blip r:embed="rId5"/>
          <a:stretch>
            <a:fillRect/>
          </a:stretch>
        </p:blipFill>
        <p:spPr>
          <a:xfrm>
            <a:off x="5961018" y="713432"/>
            <a:ext cx="6149873" cy="6048633"/>
          </a:xfrm>
          <a:prstGeom prst="rect">
            <a:avLst/>
          </a:prstGeom>
        </p:spPr>
      </p:pic>
      <p:sp>
        <p:nvSpPr>
          <p:cNvPr id="6" name="TextBox 5">
            <a:extLst>
              <a:ext uri="{FF2B5EF4-FFF2-40B4-BE49-F238E27FC236}">
                <a16:creationId xmlns:a16="http://schemas.microsoft.com/office/drawing/2014/main" id="{03FC92BB-B073-1741-E341-28BA6A632C5C}"/>
              </a:ext>
            </a:extLst>
          </p:cNvPr>
          <p:cNvSpPr txBox="1"/>
          <p:nvPr/>
        </p:nvSpPr>
        <p:spPr>
          <a:xfrm>
            <a:off x="1900949" y="1269659"/>
            <a:ext cx="5203848" cy="400110"/>
          </a:xfrm>
          <a:prstGeom prst="rect">
            <a:avLst/>
          </a:prstGeom>
          <a:noFill/>
        </p:spPr>
        <p:txBody>
          <a:bodyPr wrap="square" rtlCol="0">
            <a:spAutoFit/>
          </a:bodyPr>
          <a:lstStyle/>
          <a:p>
            <a:r>
              <a:rPr lang="en-US" sz="2000" b="1" dirty="0" err="1">
                <a:solidFill>
                  <a:schemeClr val="bg1"/>
                </a:solidFill>
                <a:latin typeface="Arial" panose="020B0604020202020204" pitchFamily="34" charset="0"/>
                <a:cs typeface="Arial" panose="020B0604020202020204" pitchFamily="34" charset="0"/>
              </a:rPr>
              <a:t>ServiceA</a:t>
            </a:r>
            <a:endParaRPr lang="en-US" sz="2000" b="1" dirty="0">
              <a:solidFill>
                <a:schemeClr val="bg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4E41B4D7-1609-518A-7397-6E0AE23F082E}"/>
              </a:ext>
            </a:extLst>
          </p:cNvPr>
          <p:cNvSpPr txBox="1"/>
          <p:nvPr/>
        </p:nvSpPr>
        <p:spPr>
          <a:xfrm>
            <a:off x="7970153" y="1269659"/>
            <a:ext cx="5203848" cy="400110"/>
          </a:xfrm>
          <a:prstGeom prst="rect">
            <a:avLst/>
          </a:prstGeom>
          <a:noFill/>
        </p:spPr>
        <p:txBody>
          <a:bodyPr wrap="square" rtlCol="0">
            <a:spAutoFit/>
          </a:bodyPr>
          <a:lstStyle/>
          <a:p>
            <a:r>
              <a:rPr lang="en-US" sz="2000" b="1" dirty="0">
                <a:solidFill>
                  <a:schemeClr val="bg1"/>
                </a:solidFill>
                <a:latin typeface="Arial" panose="020B0604020202020204" pitchFamily="34" charset="0"/>
                <a:cs typeface="Arial" panose="020B0604020202020204" pitchFamily="34" charset="0"/>
              </a:rPr>
              <a:t>Caller </a:t>
            </a:r>
            <a:r>
              <a:rPr lang="en-US" sz="2000" b="1" dirty="0" err="1">
                <a:solidFill>
                  <a:schemeClr val="bg1"/>
                </a:solidFill>
                <a:latin typeface="Arial" panose="020B0604020202020204" pitchFamily="34" charset="0"/>
                <a:cs typeface="Arial" panose="020B0604020202020204" pitchFamily="34" charset="0"/>
              </a:rPr>
              <a:t>ServiceB</a:t>
            </a:r>
            <a:endParaRPr lang="en-US" sz="2000" b="1" dirty="0">
              <a:solidFill>
                <a:schemeClr val="bg1"/>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650743928"/>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65A7E33C-95B4-E4F3-6DE3-F74910527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35A6A-86E7-852F-CAFD-75C887AD7A4A}"/>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Two Communicating Services by a third service:</a:t>
            </a:r>
            <a:endParaRPr lang="en-US" sz="4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6ACFAB5-1CDE-8DB6-4D58-6B61E49418CF}"/>
              </a:ext>
            </a:extLst>
          </p:cNvPr>
          <p:cNvPicPr>
            <a:picLocks noChangeAspect="1"/>
          </p:cNvPicPr>
          <p:nvPr/>
        </p:nvPicPr>
        <p:blipFill>
          <a:blip r:embed="rId4"/>
          <a:stretch>
            <a:fillRect/>
          </a:stretch>
        </p:blipFill>
        <p:spPr>
          <a:xfrm>
            <a:off x="81109" y="858111"/>
            <a:ext cx="5686646" cy="5759274"/>
          </a:xfrm>
          <a:prstGeom prst="rect">
            <a:avLst/>
          </a:prstGeom>
        </p:spPr>
      </p:pic>
      <p:sp>
        <p:nvSpPr>
          <p:cNvPr id="6" name="TextBox 5">
            <a:extLst>
              <a:ext uri="{FF2B5EF4-FFF2-40B4-BE49-F238E27FC236}">
                <a16:creationId xmlns:a16="http://schemas.microsoft.com/office/drawing/2014/main" id="{543FC235-C329-69A5-058E-D62BFF9D8EE3}"/>
              </a:ext>
            </a:extLst>
          </p:cNvPr>
          <p:cNvSpPr txBox="1"/>
          <p:nvPr/>
        </p:nvSpPr>
        <p:spPr>
          <a:xfrm>
            <a:off x="1900949" y="1269659"/>
            <a:ext cx="5203848" cy="400110"/>
          </a:xfrm>
          <a:prstGeom prst="rect">
            <a:avLst/>
          </a:prstGeom>
          <a:noFill/>
        </p:spPr>
        <p:txBody>
          <a:bodyPr wrap="square" rtlCol="0">
            <a:spAutoFit/>
          </a:bodyPr>
          <a:lstStyle/>
          <a:p>
            <a:r>
              <a:rPr lang="en-US" sz="2000" b="1" dirty="0" err="1">
                <a:solidFill>
                  <a:schemeClr val="bg1"/>
                </a:solidFill>
                <a:latin typeface="Arial" panose="020B0604020202020204" pitchFamily="34" charset="0"/>
                <a:cs typeface="Arial" panose="020B0604020202020204" pitchFamily="34" charset="0"/>
              </a:rPr>
              <a:t>ServiceA</a:t>
            </a:r>
            <a:endParaRPr lang="en-US" sz="2000" b="1" dirty="0">
              <a:solidFill>
                <a:schemeClr val="bg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AF632810-50C7-B449-EEC1-1ACE7BD29250}"/>
              </a:ext>
            </a:extLst>
          </p:cNvPr>
          <p:cNvPicPr>
            <a:picLocks noChangeAspect="1"/>
          </p:cNvPicPr>
          <p:nvPr/>
        </p:nvPicPr>
        <p:blipFill>
          <a:blip r:embed="rId5"/>
          <a:stretch>
            <a:fillRect/>
          </a:stretch>
        </p:blipFill>
        <p:spPr>
          <a:xfrm>
            <a:off x="6096000" y="810442"/>
            <a:ext cx="6068526" cy="5806943"/>
          </a:xfrm>
          <a:prstGeom prst="rect">
            <a:avLst/>
          </a:prstGeom>
        </p:spPr>
      </p:pic>
      <p:sp>
        <p:nvSpPr>
          <p:cNvPr id="3" name="TextBox 2">
            <a:extLst>
              <a:ext uri="{FF2B5EF4-FFF2-40B4-BE49-F238E27FC236}">
                <a16:creationId xmlns:a16="http://schemas.microsoft.com/office/drawing/2014/main" id="{B71C50F1-725A-1056-BC64-5870BB41CC28}"/>
              </a:ext>
            </a:extLst>
          </p:cNvPr>
          <p:cNvSpPr txBox="1"/>
          <p:nvPr/>
        </p:nvSpPr>
        <p:spPr>
          <a:xfrm>
            <a:off x="7587595" y="1020763"/>
            <a:ext cx="5203848" cy="707886"/>
          </a:xfrm>
          <a:prstGeom prst="rect">
            <a:avLst/>
          </a:prstGeom>
          <a:noFill/>
        </p:spPr>
        <p:txBody>
          <a:bodyPr wrap="square" rtlCol="0">
            <a:spAutoFit/>
          </a:bodyPr>
          <a:lstStyle/>
          <a:p>
            <a:r>
              <a:rPr lang="en-US" sz="2000" b="1" dirty="0">
                <a:solidFill>
                  <a:schemeClr val="bg1"/>
                </a:solidFill>
                <a:latin typeface="Arial" panose="020B0604020202020204" pitchFamily="34" charset="0"/>
                <a:cs typeface="Arial" panose="020B0604020202020204" pitchFamily="34" charset="0"/>
              </a:rPr>
              <a:t>Caller </a:t>
            </a:r>
            <a:r>
              <a:rPr lang="en-US" sz="2000" b="1" dirty="0" err="1">
                <a:solidFill>
                  <a:schemeClr val="bg1"/>
                </a:solidFill>
                <a:latin typeface="Arial" panose="020B0604020202020204" pitchFamily="34" charset="0"/>
                <a:cs typeface="Arial" panose="020B0604020202020204" pitchFamily="34" charset="0"/>
              </a:rPr>
              <a:t>ServiceB</a:t>
            </a:r>
            <a:r>
              <a:rPr lang="en-US" sz="2000" b="1" dirty="0">
                <a:solidFill>
                  <a:schemeClr val="bg1"/>
                </a:solidFill>
                <a:latin typeface="Arial" panose="020B0604020202020204" pitchFamily="34" charset="0"/>
                <a:cs typeface="Arial" panose="020B0604020202020204" pitchFamily="34" charset="0"/>
              </a:rPr>
              <a:t> initiated from other service</a:t>
            </a:r>
          </a:p>
        </p:txBody>
      </p:sp>
    </p:spTree>
    <p:custDataLst>
      <p:tags r:id="rId1"/>
    </p:custDataLst>
    <p:extLst>
      <p:ext uri="{BB962C8B-B14F-4D97-AF65-F5344CB8AC3E}">
        <p14:creationId xmlns:p14="http://schemas.microsoft.com/office/powerpoint/2010/main" val="3240492833"/>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B6F14262-DFBD-9E35-533A-4200278B7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2D921-FE10-00B3-AA36-5B8EC5292DB1}"/>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Recap &amp; Set:</a:t>
            </a:r>
            <a:endParaRPr lang="en-US" sz="4200" b="1" dirty="0">
              <a:latin typeface="Times New Roman" panose="02020603050405020304" pitchFamily="18" charset="0"/>
              <a:cs typeface="Times New Roman" panose="02020603050405020304" pitchFamily="18" charset="0"/>
            </a:endParaRPr>
          </a:p>
        </p:txBody>
      </p:sp>
      <p:pic>
        <p:nvPicPr>
          <p:cNvPr id="4" name="Graphic 3" descr="Circles with lines with solid fill">
            <a:extLst>
              <a:ext uri="{FF2B5EF4-FFF2-40B4-BE49-F238E27FC236}">
                <a16:creationId xmlns:a16="http://schemas.microsoft.com/office/drawing/2014/main" id="{500E61DF-4FDA-1C38-85EB-57B2E921FD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4382" y="1068476"/>
            <a:ext cx="914400" cy="914400"/>
          </a:xfrm>
          <a:prstGeom prst="rect">
            <a:avLst/>
          </a:prstGeom>
        </p:spPr>
      </p:pic>
      <p:pic>
        <p:nvPicPr>
          <p:cNvPr id="7" name="Graphic 6" descr="Circles with lines with solid fill">
            <a:extLst>
              <a:ext uri="{FF2B5EF4-FFF2-40B4-BE49-F238E27FC236}">
                <a16:creationId xmlns:a16="http://schemas.microsoft.com/office/drawing/2014/main" id="{56069BB8-127F-4430-E212-1737F77FD0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92925" y="2514600"/>
            <a:ext cx="914400" cy="914400"/>
          </a:xfrm>
          <a:prstGeom prst="rect">
            <a:avLst/>
          </a:prstGeom>
        </p:spPr>
      </p:pic>
      <p:pic>
        <p:nvPicPr>
          <p:cNvPr id="9" name="Graphic 8" descr="Circles with lines with solid fill">
            <a:extLst>
              <a:ext uri="{FF2B5EF4-FFF2-40B4-BE49-F238E27FC236}">
                <a16:creationId xmlns:a16="http://schemas.microsoft.com/office/drawing/2014/main" id="{6678DE73-1D46-85B5-60CE-98AB0AF781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8489" y="3283300"/>
            <a:ext cx="914400" cy="914400"/>
          </a:xfrm>
          <a:prstGeom prst="rect">
            <a:avLst/>
          </a:prstGeom>
        </p:spPr>
      </p:pic>
      <p:pic>
        <p:nvPicPr>
          <p:cNvPr id="10" name="Graphic 9" descr="Circles with lines with solid fill">
            <a:extLst>
              <a:ext uri="{FF2B5EF4-FFF2-40B4-BE49-F238E27FC236}">
                <a16:creationId xmlns:a16="http://schemas.microsoft.com/office/drawing/2014/main" id="{F438EC3F-900F-8CDC-A192-5EA30DC667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17184" y="3283300"/>
            <a:ext cx="914400" cy="914400"/>
          </a:xfrm>
          <a:prstGeom prst="rect">
            <a:avLst/>
          </a:prstGeom>
        </p:spPr>
      </p:pic>
      <p:pic>
        <p:nvPicPr>
          <p:cNvPr id="11" name="Graphic 10" descr="Circles with lines with solid fill">
            <a:extLst>
              <a:ext uri="{FF2B5EF4-FFF2-40B4-BE49-F238E27FC236}">
                <a16:creationId xmlns:a16="http://schemas.microsoft.com/office/drawing/2014/main" id="{260D3F5F-6B6F-5227-FBC2-649235129B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02784" y="1068476"/>
            <a:ext cx="914400" cy="914400"/>
          </a:xfrm>
          <a:prstGeom prst="rect">
            <a:avLst/>
          </a:prstGeom>
        </p:spPr>
      </p:pic>
      <p:pic>
        <p:nvPicPr>
          <p:cNvPr id="13" name="Graphic 12" descr="User with solid fill">
            <a:extLst>
              <a:ext uri="{FF2B5EF4-FFF2-40B4-BE49-F238E27FC236}">
                <a16:creationId xmlns:a16="http://schemas.microsoft.com/office/drawing/2014/main" id="{AB147E56-FBDF-B9C4-88B3-498C7C655A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92925" y="5644661"/>
            <a:ext cx="914400" cy="914400"/>
          </a:xfrm>
          <a:prstGeom prst="rect">
            <a:avLst/>
          </a:prstGeom>
        </p:spPr>
      </p:pic>
      <p:pic>
        <p:nvPicPr>
          <p:cNvPr id="17" name="Graphic 16" descr="Laptop with solid fill">
            <a:extLst>
              <a:ext uri="{FF2B5EF4-FFF2-40B4-BE49-F238E27FC236}">
                <a16:creationId xmlns:a16="http://schemas.microsoft.com/office/drawing/2014/main" id="{1CF83B37-0DCD-1E40-5C91-D30F34F633E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92925" y="4810650"/>
            <a:ext cx="914400" cy="914400"/>
          </a:xfrm>
          <a:prstGeom prst="rect">
            <a:avLst/>
          </a:prstGeom>
        </p:spPr>
      </p:pic>
      <p:cxnSp>
        <p:nvCxnSpPr>
          <p:cNvPr id="19" name="Straight Arrow Connector 18">
            <a:extLst>
              <a:ext uri="{FF2B5EF4-FFF2-40B4-BE49-F238E27FC236}">
                <a16:creationId xmlns:a16="http://schemas.microsoft.com/office/drawing/2014/main" id="{FD73E9F6-DDB3-EA1A-1556-D14816206CC0}"/>
              </a:ext>
            </a:extLst>
          </p:cNvPr>
          <p:cNvCxnSpPr>
            <a:cxnSpLocks/>
          </p:cNvCxnSpPr>
          <p:nvPr/>
        </p:nvCxnSpPr>
        <p:spPr>
          <a:xfrm flipV="1">
            <a:off x="2907325" y="4079631"/>
            <a:ext cx="1242644" cy="1188219"/>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9B43633-3462-5651-4D2A-756946BDB089}"/>
              </a:ext>
            </a:extLst>
          </p:cNvPr>
          <p:cNvCxnSpPr>
            <a:cxnSpLocks/>
            <a:stCxn id="10" idx="0"/>
            <a:endCxn id="11" idx="2"/>
          </p:cNvCxnSpPr>
          <p:nvPr/>
        </p:nvCxnSpPr>
        <p:spPr>
          <a:xfrm flipH="1" flipV="1">
            <a:off x="3459984" y="1982876"/>
            <a:ext cx="914400" cy="1300424"/>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CF3F911-9F36-9A21-52C2-66CB894D2F7E}"/>
              </a:ext>
            </a:extLst>
          </p:cNvPr>
          <p:cNvCxnSpPr>
            <a:cxnSpLocks/>
          </p:cNvCxnSpPr>
          <p:nvPr/>
        </p:nvCxnSpPr>
        <p:spPr>
          <a:xfrm flipV="1">
            <a:off x="2450125" y="3315956"/>
            <a:ext cx="0" cy="152735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E742EB49-B98D-BC9E-F45A-5927ECE519F4}"/>
              </a:ext>
            </a:extLst>
          </p:cNvPr>
          <p:cNvCxnSpPr>
            <a:cxnSpLocks/>
            <a:stCxn id="7" idx="0"/>
          </p:cNvCxnSpPr>
          <p:nvPr/>
        </p:nvCxnSpPr>
        <p:spPr>
          <a:xfrm flipH="1" flipV="1">
            <a:off x="1195754" y="1751782"/>
            <a:ext cx="1254371" cy="762818"/>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C8ADE30-59CD-DAF8-A064-A3CC0C31D81B}"/>
              </a:ext>
            </a:extLst>
          </p:cNvPr>
          <p:cNvCxnSpPr>
            <a:cxnSpLocks/>
            <a:stCxn id="7" idx="1"/>
            <a:endCxn id="9" idx="3"/>
          </p:cNvCxnSpPr>
          <p:nvPr/>
        </p:nvCxnSpPr>
        <p:spPr>
          <a:xfrm flipH="1">
            <a:off x="1292889" y="2971800"/>
            <a:ext cx="700036" cy="76870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58B59925-E719-4103-1713-A85578D1178F}"/>
              </a:ext>
            </a:extLst>
          </p:cNvPr>
          <p:cNvCxnSpPr>
            <a:cxnSpLocks/>
          </p:cNvCxnSpPr>
          <p:nvPr/>
        </p:nvCxnSpPr>
        <p:spPr>
          <a:xfrm flipV="1">
            <a:off x="2331220" y="3283300"/>
            <a:ext cx="0" cy="152735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1946E7C-E803-A5EF-CC07-F7CD0B586F96}"/>
              </a:ext>
            </a:extLst>
          </p:cNvPr>
          <p:cNvCxnSpPr>
            <a:cxnSpLocks/>
            <a:stCxn id="17" idx="1"/>
            <a:endCxn id="9" idx="2"/>
          </p:cNvCxnSpPr>
          <p:nvPr/>
        </p:nvCxnSpPr>
        <p:spPr>
          <a:xfrm flipH="1" flipV="1">
            <a:off x="835689" y="4197700"/>
            <a:ext cx="1157236" cy="107015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44" name="Group 43">
            <a:extLst>
              <a:ext uri="{FF2B5EF4-FFF2-40B4-BE49-F238E27FC236}">
                <a16:creationId xmlns:a16="http://schemas.microsoft.com/office/drawing/2014/main" id="{C165B6FD-88CB-82BF-6472-EF44CCE45B29}"/>
              </a:ext>
            </a:extLst>
          </p:cNvPr>
          <p:cNvGrpSpPr/>
          <p:nvPr/>
        </p:nvGrpSpPr>
        <p:grpSpPr>
          <a:xfrm>
            <a:off x="294720" y="831180"/>
            <a:ext cx="2945520" cy="2534760"/>
            <a:chOff x="294720" y="831180"/>
            <a:chExt cx="2945520" cy="2534760"/>
          </a:xfrm>
        </p:grpSpPr>
        <mc:AlternateContent xmlns:mc="http://schemas.openxmlformats.org/markup-compatibility/2006" xmlns:p14="http://schemas.microsoft.com/office/powerpoint/2010/main">
          <mc:Choice Requires="p14">
            <p:contentPart p14:bwMode="auto" r:id="rId10">
              <p14:nvContentPartPr>
                <p14:cNvPr id="42" name="Ink 41">
                  <a:extLst>
                    <a:ext uri="{FF2B5EF4-FFF2-40B4-BE49-F238E27FC236}">
                      <a16:creationId xmlns:a16="http://schemas.microsoft.com/office/drawing/2014/main" id="{0A040CDE-E242-6CE3-C919-C42CDDCC876C}"/>
                    </a:ext>
                  </a:extLst>
                </p14:cNvPr>
                <p14:cNvContentPartPr/>
                <p14:nvPr/>
              </p14:nvContentPartPr>
              <p14:xfrm>
                <a:off x="294720" y="831180"/>
                <a:ext cx="2858760" cy="2534760"/>
              </p14:xfrm>
            </p:contentPart>
          </mc:Choice>
          <mc:Fallback xmlns="">
            <p:pic>
              <p:nvPicPr>
                <p:cNvPr id="42" name="Ink 41">
                  <a:extLst>
                    <a:ext uri="{FF2B5EF4-FFF2-40B4-BE49-F238E27FC236}">
                      <a16:creationId xmlns:a16="http://schemas.microsoft.com/office/drawing/2014/main" id="{0A040CDE-E242-6CE3-C919-C42CDDCC876C}"/>
                    </a:ext>
                  </a:extLst>
                </p:cNvPr>
                <p:cNvPicPr/>
                <p:nvPr/>
              </p:nvPicPr>
              <p:blipFill>
                <a:blip r:embed="rId11"/>
                <a:stretch>
                  <a:fillRect/>
                </a:stretch>
              </p:blipFill>
              <p:spPr>
                <a:xfrm>
                  <a:off x="285720" y="822540"/>
                  <a:ext cx="2876400" cy="2552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3" name="Ink 42">
                  <a:extLst>
                    <a:ext uri="{FF2B5EF4-FFF2-40B4-BE49-F238E27FC236}">
                      <a16:creationId xmlns:a16="http://schemas.microsoft.com/office/drawing/2014/main" id="{DC572C7D-6FCC-1A8A-4376-28C9029924F2}"/>
                    </a:ext>
                  </a:extLst>
                </p14:cNvPr>
                <p14:cNvContentPartPr/>
                <p14:nvPr/>
              </p14:nvContentPartPr>
              <p14:xfrm>
                <a:off x="2887080" y="1115220"/>
                <a:ext cx="353160" cy="331920"/>
              </p14:xfrm>
            </p:contentPart>
          </mc:Choice>
          <mc:Fallback xmlns="">
            <p:pic>
              <p:nvPicPr>
                <p:cNvPr id="43" name="Ink 42">
                  <a:extLst>
                    <a:ext uri="{FF2B5EF4-FFF2-40B4-BE49-F238E27FC236}">
                      <a16:creationId xmlns:a16="http://schemas.microsoft.com/office/drawing/2014/main" id="{DC572C7D-6FCC-1A8A-4376-28C9029924F2}"/>
                    </a:ext>
                  </a:extLst>
                </p:cNvPr>
                <p:cNvPicPr/>
                <p:nvPr/>
              </p:nvPicPr>
              <p:blipFill>
                <a:blip r:embed="rId13"/>
                <a:stretch>
                  <a:fillRect/>
                </a:stretch>
              </p:blipFill>
              <p:spPr>
                <a:xfrm>
                  <a:off x="2878080" y="1106220"/>
                  <a:ext cx="370800" cy="349560"/>
                </a:xfrm>
                <a:prstGeom prst="rect">
                  <a:avLst/>
                </a:prstGeom>
              </p:spPr>
            </p:pic>
          </mc:Fallback>
        </mc:AlternateContent>
      </p:grpSp>
      <p:sp>
        <p:nvSpPr>
          <p:cNvPr id="45" name="Rectangle 44">
            <a:extLst>
              <a:ext uri="{FF2B5EF4-FFF2-40B4-BE49-F238E27FC236}">
                <a16:creationId xmlns:a16="http://schemas.microsoft.com/office/drawing/2014/main" id="{E8439A4C-1399-1938-07E6-6A75D1432EB1}"/>
              </a:ext>
            </a:extLst>
          </p:cNvPr>
          <p:cNvSpPr/>
          <p:nvPr/>
        </p:nvSpPr>
        <p:spPr>
          <a:xfrm>
            <a:off x="4392621" y="816536"/>
            <a:ext cx="7719414"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We have each service listen from somewhere and serve somewhere</a:t>
            </a:r>
          </a:p>
        </p:txBody>
      </p:sp>
      <p:sp>
        <p:nvSpPr>
          <p:cNvPr id="46" name="Rectangle 45">
            <a:extLst>
              <a:ext uri="{FF2B5EF4-FFF2-40B4-BE49-F238E27FC236}">
                <a16:creationId xmlns:a16="http://schemas.microsoft.com/office/drawing/2014/main" id="{09954BA1-93CB-1127-CDE8-FBF15B37919D}"/>
              </a:ext>
            </a:extLst>
          </p:cNvPr>
          <p:cNvSpPr/>
          <p:nvPr/>
        </p:nvSpPr>
        <p:spPr>
          <a:xfrm>
            <a:off x="4392621" y="1595983"/>
            <a:ext cx="7719414"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Each Service in this design is a whole independent process.</a:t>
            </a:r>
          </a:p>
        </p:txBody>
      </p:sp>
      <p:sp>
        <p:nvSpPr>
          <p:cNvPr id="47" name="Rectangle 46">
            <a:extLst>
              <a:ext uri="{FF2B5EF4-FFF2-40B4-BE49-F238E27FC236}">
                <a16:creationId xmlns:a16="http://schemas.microsoft.com/office/drawing/2014/main" id="{7051F3BE-18D1-E9D1-652B-00ECB0951FF8}"/>
              </a:ext>
            </a:extLst>
          </p:cNvPr>
          <p:cNvSpPr/>
          <p:nvPr/>
        </p:nvSpPr>
        <p:spPr>
          <a:xfrm>
            <a:off x="4392621" y="2374432"/>
            <a:ext cx="7719414"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In that sense, if each service does the same thing, then we have done parallelism.</a:t>
            </a:r>
          </a:p>
        </p:txBody>
      </p:sp>
      <p:sp>
        <p:nvSpPr>
          <p:cNvPr id="48" name="Rectangle 47">
            <a:extLst>
              <a:ext uri="{FF2B5EF4-FFF2-40B4-BE49-F238E27FC236}">
                <a16:creationId xmlns:a16="http://schemas.microsoft.com/office/drawing/2014/main" id="{0B6DAF95-3761-76DF-A343-D264F67CF54C}"/>
              </a:ext>
            </a:extLst>
          </p:cNvPr>
          <p:cNvSpPr/>
          <p:nvPr/>
        </p:nvSpPr>
        <p:spPr>
          <a:xfrm>
            <a:off x="4851685" y="3152881"/>
            <a:ext cx="7260350"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Of course, each process can apply concurrency given a more robust performance.</a:t>
            </a:r>
          </a:p>
        </p:txBody>
      </p:sp>
      <p:sp>
        <p:nvSpPr>
          <p:cNvPr id="49" name="Rectangle 48">
            <a:extLst>
              <a:ext uri="{FF2B5EF4-FFF2-40B4-BE49-F238E27FC236}">
                <a16:creationId xmlns:a16="http://schemas.microsoft.com/office/drawing/2014/main" id="{79E6E4AC-7CFA-A4B5-FD1A-917DD5BCB73E}"/>
              </a:ext>
            </a:extLst>
          </p:cNvPr>
          <p:cNvSpPr/>
          <p:nvPr/>
        </p:nvSpPr>
        <p:spPr>
          <a:xfrm>
            <a:off x="4851685" y="3931330"/>
            <a:ext cx="7260350"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Now we can extend our scope from just one device to more devices shared in a network creating a cluster</a:t>
            </a:r>
          </a:p>
        </p:txBody>
      </p:sp>
      <p:sp>
        <p:nvSpPr>
          <p:cNvPr id="50" name="Rectangle 49">
            <a:extLst>
              <a:ext uri="{FF2B5EF4-FFF2-40B4-BE49-F238E27FC236}">
                <a16:creationId xmlns:a16="http://schemas.microsoft.com/office/drawing/2014/main" id="{4077764A-83DD-2154-AFF1-8BE2533D7323}"/>
              </a:ext>
            </a:extLst>
          </p:cNvPr>
          <p:cNvSpPr/>
          <p:nvPr/>
        </p:nvSpPr>
        <p:spPr>
          <a:xfrm>
            <a:off x="4064561" y="4709779"/>
            <a:ext cx="8047474"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Each device in a cluster holds one or more services and listens to your request.</a:t>
            </a:r>
          </a:p>
        </p:txBody>
      </p:sp>
      <p:sp>
        <p:nvSpPr>
          <p:cNvPr id="51" name="Rectangle 50">
            <a:extLst>
              <a:ext uri="{FF2B5EF4-FFF2-40B4-BE49-F238E27FC236}">
                <a16:creationId xmlns:a16="http://schemas.microsoft.com/office/drawing/2014/main" id="{3367872C-BD2C-C511-0C82-30CB8EE185CA}"/>
              </a:ext>
            </a:extLst>
          </p:cNvPr>
          <p:cNvSpPr/>
          <p:nvPr/>
        </p:nvSpPr>
        <p:spPr>
          <a:xfrm>
            <a:off x="4064561" y="5488228"/>
            <a:ext cx="8047474" cy="5973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And in this manner our master is a device that synchronizes all these devices</a:t>
            </a:r>
          </a:p>
        </p:txBody>
      </p:sp>
      <p:sp>
        <p:nvSpPr>
          <p:cNvPr id="53" name="Rectangle 52">
            <a:extLst>
              <a:ext uri="{FF2B5EF4-FFF2-40B4-BE49-F238E27FC236}">
                <a16:creationId xmlns:a16="http://schemas.microsoft.com/office/drawing/2014/main" id="{EE3D28E7-71B5-FBCB-C1BB-18864E5F909A}"/>
              </a:ext>
            </a:extLst>
          </p:cNvPr>
          <p:cNvSpPr/>
          <p:nvPr/>
        </p:nvSpPr>
        <p:spPr>
          <a:xfrm>
            <a:off x="1817573" y="1653545"/>
            <a:ext cx="9538738" cy="32595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THE WAY TO SET COMMUNICATION AMONG DEVICES IN A CLUSTER AND SYNCHRONIZE THIS COMMUNICATION IS THE CONCEPT OF </a:t>
            </a:r>
            <a:br>
              <a:rPr lang="en-US" b="1"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DISTRIBUTED SYSTEMS/DATABASES</a:t>
            </a:r>
          </a:p>
        </p:txBody>
      </p:sp>
    </p:spTree>
    <p:custDataLst>
      <p:tags r:id="rId1"/>
    </p:custDataLst>
    <p:extLst>
      <p:ext uri="{BB962C8B-B14F-4D97-AF65-F5344CB8AC3E}">
        <p14:creationId xmlns:p14="http://schemas.microsoft.com/office/powerpoint/2010/main" val="1605683517"/>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down)">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down)">
                                      <p:cBhvr>
                                        <p:cTn id="21" dur="500"/>
                                        <p:tgtEl>
                                          <p:spTgt spid="36"/>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down)">
                                      <p:cBhvr>
                                        <p:cTn id="25" dur="500"/>
                                        <p:tgtEl>
                                          <p:spTgt spid="28"/>
                                        </p:tgtEl>
                                      </p:cBhvr>
                                    </p:animEffect>
                                  </p:childTnLst>
                                </p:cTn>
                              </p:par>
                            </p:childTnLst>
                          </p:cTn>
                        </p:par>
                        <p:par>
                          <p:cTn id="26" fill="hold">
                            <p:stCondLst>
                              <p:cond delay="1000"/>
                            </p:stCondLst>
                            <p:childTnLst>
                              <p:par>
                                <p:cTn id="27" presetID="22" presetClass="entr" presetSubtype="2" fill="hold"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right)">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wipe(down)">
                                      <p:cBhvr>
                                        <p:cTn id="34" dur="500"/>
                                        <p:tgtEl>
                                          <p:spTgt spid="37"/>
                                        </p:tgtEl>
                                      </p:cBhvr>
                                    </p:animEffect>
                                  </p:childTnLst>
                                </p:cTn>
                              </p:par>
                            </p:childTnLst>
                          </p:cTn>
                        </p:par>
                        <p:par>
                          <p:cTn id="35" fill="hold">
                            <p:stCondLst>
                              <p:cond delay="500"/>
                            </p:stCondLst>
                            <p:childTnLst>
                              <p:par>
                                <p:cTn id="36" presetID="22" presetClass="entr" presetSubtype="4" fill="hold" nodeType="after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wipe(down)">
                                      <p:cBhvr>
                                        <p:cTn id="38" dur="500"/>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500"/>
                                        <p:tgtEl>
                                          <p:spTgt spid="4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fade">
                                      <p:cBhvr>
                                        <p:cTn id="58" dur="500"/>
                                        <p:tgtEl>
                                          <p:spTgt spid="4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fade">
                                      <p:cBhvr>
                                        <p:cTn id="63" dur="500"/>
                                        <p:tgtEl>
                                          <p:spTgt spid="4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fade">
                                      <p:cBhvr>
                                        <p:cTn id="68" dur="500"/>
                                        <p:tgtEl>
                                          <p:spTgt spid="5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5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nodeType="clickEffect">
                                  <p:stCondLst>
                                    <p:cond delay="0"/>
                                  </p:stCondLst>
                                  <p:childTnLst>
                                    <p:animEffect transition="out" filter="fade">
                                      <p:cBhvr>
                                        <p:cTn id="77" dur="500"/>
                                        <p:tgtEl>
                                          <p:spTgt spid="25"/>
                                        </p:tgtEl>
                                      </p:cBhvr>
                                    </p:animEffect>
                                    <p:set>
                                      <p:cBhvr>
                                        <p:cTn id="78" dur="1" fill="hold">
                                          <p:stCondLst>
                                            <p:cond delay="499"/>
                                          </p:stCondLst>
                                        </p:cTn>
                                        <p:tgtEl>
                                          <p:spTgt spid="25"/>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500"/>
                                        <p:tgtEl>
                                          <p:spTgt spid="19"/>
                                        </p:tgtEl>
                                      </p:cBhvr>
                                    </p:animEffect>
                                    <p:set>
                                      <p:cBhvr>
                                        <p:cTn id="81" dur="1" fill="hold">
                                          <p:stCondLst>
                                            <p:cond delay="499"/>
                                          </p:stCondLst>
                                        </p:cTn>
                                        <p:tgtEl>
                                          <p:spTgt spid="19"/>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500"/>
                                        <p:tgtEl>
                                          <p:spTgt spid="21"/>
                                        </p:tgtEl>
                                      </p:cBhvr>
                                    </p:animEffect>
                                    <p:set>
                                      <p:cBhvr>
                                        <p:cTn id="84" dur="1" fill="hold">
                                          <p:stCondLst>
                                            <p:cond delay="499"/>
                                          </p:stCondLst>
                                        </p:cTn>
                                        <p:tgtEl>
                                          <p:spTgt spid="21"/>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36"/>
                                        </p:tgtEl>
                                      </p:cBhvr>
                                    </p:animEffect>
                                    <p:set>
                                      <p:cBhvr>
                                        <p:cTn id="87" dur="1" fill="hold">
                                          <p:stCondLst>
                                            <p:cond delay="499"/>
                                          </p:stCondLst>
                                        </p:cTn>
                                        <p:tgtEl>
                                          <p:spTgt spid="36"/>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28"/>
                                        </p:tgtEl>
                                      </p:cBhvr>
                                    </p:animEffect>
                                    <p:set>
                                      <p:cBhvr>
                                        <p:cTn id="90" dur="1" fill="hold">
                                          <p:stCondLst>
                                            <p:cond delay="499"/>
                                          </p:stCondLst>
                                        </p:cTn>
                                        <p:tgtEl>
                                          <p:spTgt spid="28"/>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33"/>
                                        </p:tgtEl>
                                      </p:cBhvr>
                                    </p:animEffect>
                                    <p:set>
                                      <p:cBhvr>
                                        <p:cTn id="93" dur="1" fill="hold">
                                          <p:stCondLst>
                                            <p:cond delay="499"/>
                                          </p:stCondLst>
                                        </p:cTn>
                                        <p:tgtEl>
                                          <p:spTgt spid="33"/>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500"/>
                                        <p:tgtEl>
                                          <p:spTgt spid="37"/>
                                        </p:tgtEl>
                                      </p:cBhvr>
                                    </p:animEffect>
                                    <p:set>
                                      <p:cBhvr>
                                        <p:cTn id="96" dur="1" fill="hold">
                                          <p:stCondLst>
                                            <p:cond delay="499"/>
                                          </p:stCondLst>
                                        </p:cTn>
                                        <p:tgtEl>
                                          <p:spTgt spid="37"/>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500"/>
                                        <p:tgtEl>
                                          <p:spTgt spid="44"/>
                                        </p:tgtEl>
                                      </p:cBhvr>
                                    </p:animEffect>
                                    <p:set>
                                      <p:cBhvr>
                                        <p:cTn id="99" dur="1" fill="hold">
                                          <p:stCondLst>
                                            <p:cond delay="499"/>
                                          </p:stCondLst>
                                        </p:cTn>
                                        <p:tgtEl>
                                          <p:spTgt spid="44"/>
                                        </p:tgtEl>
                                        <p:attrNameLst>
                                          <p:attrName>style.visibility</p:attrName>
                                        </p:attrNameLst>
                                      </p:cBhvr>
                                      <p:to>
                                        <p:strVal val="hidden"/>
                                      </p:to>
                                    </p:set>
                                  </p:childTnLst>
                                </p:cTn>
                              </p:par>
                              <p:par>
                                <p:cTn id="100" presetID="10" presetClass="exit" presetSubtype="0" fill="hold" grpId="1" nodeType="withEffect">
                                  <p:stCondLst>
                                    <p:cond delay="0"/>
                                  </p:stCondLst>
                                  <p:childTnLst>
                                    <p:animEffect transition="out" filter="fade">
                                      <p:cBhvr>
                                        <p:cTn id="101" dur="500"/>
                                        <p:tgtEl>
                                          <p:spTgt spid="45"/>
                                        </p:tgtEl>
                                      </p:cBhvr>
                                    </p:animEffect>
                                    <p:set>
                                      <p:cBhvr>
                                        <p:cTn id="102" dur="1" fill="hold">
                                          <p:stCondLst>
                                            <p:cond delay="499"/>
                                          </p:stCondLst>
                                        </p:cTn>
                                        <p:tgtEl>
                                          <p:spTgt spid="45"/>
                                        </p:tgtEl>
                                        <p:attrNameLst>
                                          <p:attrName>style.visibility</p:attrName>
                                        </p:attrNameLst>
                                      </p:cBhvr>
                                      <p:to>
                                        <p:strVal val="hidden"/>
                                      </p:to>
                                    </p:set>
                                  </p:childTnLst>
                                </p:cTn>
                              </p:par>
                              <p:par>
                                <p:cTn id="103" presetID="10" presetClass="exit" presetSubtype="0" fill="hold" grpId="1" nodeType="withEffect">
                                  <p:stCondLst>
                                    <p:cond delay="0"/>
                                  </p:stCondLst>
                                  <p:childTnLst>
                                    <p:animEffect transition="out" filter="fade">
                                      <p:cBhvr>
                                        <p:cTn id="104" dur="500"/>
                                        <p:tgtEl>
                                          <p:spTgt spid="46"/>
                                        </p:tgtEl>
                                      </p:cBhvr>
                                    </p:animEffect>
                                    <p:set>
                                      <p:cBhvr>
                                        <p:cTn id="105" dur="1" fill="hold">
                                          <p:stCondLst>
                                            <p:cond delay="499"/>
                                          </p:stCondLst>
                                        </p:cTn>
                                        <p:tgtEl>
                                          <p:spTgt spid="46"/>
                                        </p:tgtEl>
                                        <p:attrNameLst>
                                          <p:attrName>style.visibility</p:attrName>
                                        </p:attrNameLst>
                                      </p:cBhvr>
                                      <p:to>
                                        <p:strVal val="hidden"/>
                                      </p:to>
                                    </p:set>
                                  </p:childTnLst>
                                </p:cTn>
                              </p:par>
                              <p:par>
                                <p:cTn id="106" presetID="10" presetClass="exit" presetSubtype="0" fill="hold" grpId="1" nodeType="withEffect">
                                  <p:stCondLst>
                                    <p:cond delay="0"/>
                                  </p:stCondLst>
                                  <p:childTnLst>
                                    <p:animEffect transition="out" filter="fade">
                                      <p:cBhvr>
                                        <p:cTn id="107" dur="500"/>
                                        <p:tgtEl>
                                          <p:spTgt spid="47"/>
                                        </p:tgtEl>
                                      </p:cBhvr>
                                    </p:animEffect>
                                    <p:set>
                                      <p:cBhvr>
                                        <p:cTn id="108" dur="1" fill="hold">
                                          <p:stCondLst>
                                            <p:cond delay="499"/>
                                          </p:stCondLst>
                                        </p:cTn>
                                        <p:tgtEl>
                                          <p:spTgt spid="47"/>
                                        </p:tgtEl>
                                        <p:attrNameLst>
                                          <p:attrName>style.visibility</p:attrName>
                                        </p:attrNameLst>
                                      </p:cBhvr>
                                      <p:to>
                                        <p:strVal val="hidden"/>
                                      </p:to>
                                    </p:set>
                                  </p:childTnLst>
                                </p:cTn>
                              </p:par>
                              <p:par>
                                <p:cTn id="109" presetID="10" presetClass="exit" presetSubtype="0" fill="hold" grpId="1" nodeType="withEffect">
                                  <p:stCondLst>
                                    <p:cond delay="0"/>
                                  </p:stCondLst>
                                  <p:childTnLst>
                                    <p:animEffect transition="out" filter="fade">
                                      <p:cBhvr>
                                        <p:cTn id="110" dur="500"/>
                                        <p:tgtEl>
                                          <p:spTgt spid="48"/>
                                        </p:tgtEl>
                                      </p:cBhvr>
                                    </p:animEffect>
                                    <p:set>
                                      <p:cBhvr>
                                        <p:cTn id="111" dur="1" fill="hold">
                                          <p:stCondLst>
                                            <p:cond delay="499"/>
                                          </p:stCondLst>
                                        </p:cTn>
                                        <p:tgtEl>
                                          <p:spTgt spid="48"/>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500"/>
                                        <p:tgtEl>
                                          <p:spTgt spid="49"/>
                                        </p:tgtEl>
                                      </p:cBhvr>
                                    </p:animEffect>
                                    <p:set>
                                      <p:cBhvr>
                                        <p:cTn id="114" dur="1" fill="hold">
                                          <p:stCondLst>
                                            <p:cond delay="499"/>
                                          </p:stCondLst>
                                        </p:cTn>
                                        <p:tgtEl>
                                          <p:spTgt spid="49"/>
                                        </p:tgtEl>
                                        <p:attrNameLst>
                                          <p:attrName>style.visibility</p:attrName>
                                        </p:attrNameLst>
                                      </p:cBhvr>
                                      <p:to>
                                        <p:strVal val="hidden"/>
                                      </p:to>
                                    </p:set>
                                  </p:childTnLst>
                                </p:cTn>
                              </p:par>
                              <p:par>
                                <p:cTn id="115" presetID="10" presetClass="exit" presetSubtype="0" fill="hold" grpId="1" nodeType="withEffect">
                                  <p:stCondLst>
                                    <p:cond delay="0"/>
                                  </p:stCondLst>
                                  <p:childTnLst>
                                    <p:animEffect transition="out" filter="fade">
                                      <p:cBhvr>
                                        <p:cTn id="116" dur="500"/>
                                        <p:tgtEl>
                                          <p:spTgt spid="50"/>
                                        </p:tgtEl>
                                      </p:cBhvr>
                                    </p:animEffect>
                                    <p:set>
                                      <p:cBhvr>
                                        <p:cTn id="117" dur="1" fill="hold">
                                          <p:stCondLst>
                                            <p:cond delay="499"/>
                                          </p:stCondLst>
                                        </p:cTn>
                                        <p:tgtEl>
                                          <p:spTgt spid="50"/>
                                        </p:tgtEl>
                                        <p:attrNameLst>
                                          <p:attrName>style.visibility</p:attrName>
                                        </p:attrNameLst>
                                      </p:cBhvr>
                                      <p:to>
                                        <p:strVal val="hidden"/>
                                      </p:to>
                                    </p:set>
                                  </p:childTnLst>
                                </p:cTn>
                              </p:par>
                              <p:par>
                                <p:cTn id="118" presetID="10" presetClass="exit" presetSubtype="0" fill="hold" grpId="1" nodeType="withEffect">
                                  <p:stCondLst>
                                    <p:cond delay="0"/>
                                  </p:stCondLst>
                                  <p:childTnLst>
                                    <p:animEffect transition="out" filter="fade">
                                      <p:cBhvr>
                                        <p:cTn id="119" dur="500"/>
                                        <p:tgtEl>
                                          <p:spTgt spid="51"/>
                                        </p:tgtEl>
                                      </p:cBhvr>
                                    </p:animEffect>
                                    <p:set>
                                      <p:cBhvr>
                                        <p:cTn id="120" dur="1" fill="hold">
                                          <p:stCondLst>
                                            <p:cond delay="499"/>
                                          </p:stCondLst>
                                        </p:cTn>
                                        <p:tgtEl>
                                          <p:spTgt spid="51"/>
                                        </p:tgtEl>
                                        <p:attrNameLst>
                                          <p:attrName>style.visibility</p:attrName>
                                        </p:attrNameLst>
                                      </p:cBhvr>
                                      <p:to>
                                        <p:strVal val="hidden"/>
                                      </p:to>
                                    </p:set>
                                  </p:childTnLst>
                                </p:cTn>
                              </p:par>
                              <p:par>
                                <p:cTn id="121" presetID="10" presetClass="exit" presetSubtype="0" fill="hold" grpId="0" nodeType="withEffect">
                                  <p:stCondLst>
                                    <p:cond delay="0"/>
                                  </p:stCondLst>
                                  <p:childTnLst>
                                    <p:animEffect transition="out" filter="fade">
                                      <p:cBhvr>
                                        <p:cTn id="122" dur="500"/>
                                        <p:tgtEl>
                                          <p:spTgt spid="2"/>
                                        </p:tgtEl>
                                      </p:cBhvr>
                                    </p:animEffect>
                                    <p:set>
                                      <p:cBhvr>
                                        <p:cTn id="123" dur="1" fill="hold">
                                          <p:stCondLst>
                                            <p:cond delay="499"/>
                                          </p:stCondLst>
                                        </p:cTn>
                                        <p:tgtEl>
                                          <p:spTgt spid="2"/>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500"/>
                                        <p:tgtEl>
                                          <p:spTgt spid="4"/>
                                        </p:tgtEl>
                                      </p:cBhvr>
                                    </p:animEffect>
                                    <p:set>
                                      <p:cBhvr>
                                        <p:cTn id="126" dur="1" fill="hold">
                                          <p:stCondLst>
                                            <p:cond delay="499"/>
                                          </p:stCondLst>
                                        </p:cTn>
                                        <p:tgtEl>
                                          <p:spTgt spid="4"/>
                                        </p:tgtEl>
                                        <p:attrNameLst>
                                          <p:attrName>style.visibility</p:attrName>
                                        </p:attrNameLst>
                                      </p:cBhvr>
                                      <p:to>
                                        <p:strVal val="hidden"/>
                                      </p:to>
                                    </p:set>
                                  </p:childTnLst>
                                </p:cTn>
                              </p:par>
                              <p:par>
                                <p:cTn id="127" presetID="10" presetClass="exit" presetSubtype="0" fill="hold" nodeType="withEffect">
                                  <p:stCondLst>
                                    <p:cond delay="0"/>
                                  </p:stCondLst>
                                  <p:childTnLst>
                                    <p:animEffect transition="out" filter="fade">
                                      <p:cBhvr>
                                        <p:cTn id="128" dur="500"/>
                                        <p:tgtEl>
                                          <p:spTgt spid="7"/>
                                        </p:tgtEl>
                                      </p:cBhvr>
                                    </p:animEffect>
                                    <p:set>
                                      <p:cBhvr>
                                        <p:cTn id="129" dur="1" fill="hold">
                                          <p:stCondLst>
                                            <p:cond delay="499"/>
                                          </p:stCondLst>
                                        </p:cTn>
                                        <p:tgtEl>
                                          <p:spTgt spid="7"/>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500"/>
                                        <p:tgtEl>
                                          <p:spTgt spid="9"/>
                                        </p:tgtEl>
                                      </p:cBhvr>
                                    </p:animEffect>
                                    <p:set>
                                      <p:cBhvr>
                                        <p:cTn id="132" dur="1" fill="hold">
                                          <p:stCondLst>
                                            <p:cond delay="499"/>
                                          </p:stCondLst>
                                        </p:cTn>
                                        <p:tgtEl>
                                          <p:spTgt spid="9"/>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34" dur="500"/>
                                        <p:tgtEl>
                                          <p:spTgt spid="10"/>
                                        </p:tgtEl>
                                      </p:cBhvr>
                                    </p:animEffect>
                                    <p:set>
                                      <p:cBhvr>
                                        <p:cTn id="135" dur="1" fill="hold">
                                          <p:stCondLst>
                                            <p:cond delay="499"/>
                                          </p:stCondLst>
                                        </p:cTn>
                                        <p:tgtEl>
                                          <p:spTgt spid="10"/>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500"/>
                                        <p:tgtEl>
                                          <p:spTgt spid="11"/>
                                        </p:tgtEl>
                                      </p:cBhvr>
                                    </p:animEffect>
                                    <p:set>
                                      <p:cBhvr>
                                        <p:cTn id="138" dur="1" fill="hold">
                                          <p:stCondLst>
                                            <p:cond delay="499"/>
                                          </p:stCondLst>
                                        </p:cTn>
                                        <p:tgtEl>
                                          <p:spTgt spid="11"/>
                                        </p:tgtEl>
                                        <p:attrNameLst>
                                          <p:attrName>style.visibility</p:attrName>
                                        </p:attrNameLst>
                                      </p:cBhvr>
                                      <p:to>
                                        <p:strVal val="hidden"/>
                                      </p:to>
                                    </p:set>
                                  </p:childTnLst>
                                </p:cTn>
                              </p:par>
                              <p:par>
                                <p:cTn id="139" presetID="10" presetClass="exit" presetSubtype="0" fill="hold" nodeType="withEffect">
                                  <p:stCondLst>
                                    <p:cond delay="0"/>
                                  </p:stCondLst>
                                  <p:childTnLst>
                                    <p:animEffect transition="out" filter="fade">
                                      <p:cBhvr>
                                        <p:cTn id="140" dur="500"/>
                                        <p:tgtEl>
                                          <p:spTgt spid="13"/>
                                        </p:tgtEl>
                                      </p:cBhvr>
                                    </p:animEffect>
                                    <p:set>
                                      <p:cBhvr>
                                        <p:cTn id="141" dur="1" fill="hold">
                                          <p:stCondLst>
                                            <p:cond delay="499"/>
                                          </p:stCondLst>
                                        </p:cTn>
                                        <p:tgtEl>
                                          <p:spTgt spid="13"/>
                                        </p:tgtEl>
                                        <p:attrNameLst>
                                          <p:attrName>style.visibility</p:attrName>
                                        </p:attrNameLst>
                                      </p:cBhvr>
                                      <p:to>
                                        <p:strVal val="hidden"/>
                                      </p:to>
                                    </p:set>
                                  </p:childTnLst>
                                </p:cTn>
                              </p:par>
                              <p:par>
                                <p:cTn id="142" presetID="10" presetClass="exit" presetSubtype="0" fill="hold" nodeType="withEffect">
                                  <p:stCondLst>
                                    <p:cond delay="0"/>
                                  </p:stCondLst>
                                  <p:childTnLst>
                                    <p:animEffect transition="out" filter="fade">
                                      <p:cBhvr>
                                        <p:cTn id="143" dur="500"/>
                                        <p:tgtEl>
                                          <p:spTgt spid="17"/>
                                        </p:tgtEl>
                                      </p:cBhvr>
                                    </p:animEffect>
                                    <p:set>
                                      <p:cBhvr>
                                        <p:cTn id="144" dur="1" fill="hold">
                                          <p:stCondLst>
                                            <p:cond delay="499"/>
                                          </p:stCondLst>
                                        </p:cTn>
                                        <p:tgtEl>
                                          <p:spTgt spid="17"/>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E024ED-E1B5-1B80-B8E7-3FB42AC606CC}"/>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767D6A-60EE-956E-DC81-359E7005984F}"/>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b="1" kern="1200" dirty="0">
                <a:solidFill>
                  <a:schemeClr val="tx2"/>
                </a:solidFill>
                <a:latin typeface="+mj-lt"/>
                <a:ea typeface="+mj-ea"/>
                <a:cs typeface="+mj-cs"/>
              </a:rPr>
              <a:t>More On HTTP </a:t>
            </a:r>
          </a:p>
        </p:txBody>
      </p:sp>
      <p:pic>
        <p:nvPicPr>
          <p:cNvPr id="6" name="Graphic 5" descr="File HTML">
            <a:extLst>
              <a:ext uri="{FF2B5EF4-FFF2-40B4-BE49-F238E27FC236}">
                <a16:creationId xmlns:a16="http://schemas.microsoft.com/office/drawing/2014/main" id="{A2829FE7-94AB-C7EE-BBDC-EAC11AA6FC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2" name="Group 11">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ustDataLst>
      <p:tags r:id="rId1"/>
    </p:custDataLst>
    <p:extLst>
      <p:ext uri="{BB962C8B-B14F-4D97-AF65-F5344CB8AC3E}">
        <p14:creationId xmlns:p14="http://schemas.microsoft.com/office/powerpoint/2010/main" val="1104172104"/>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DF61E955-913A-A47F-9989-5B02622D6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A79BD-A681-4ECC-806B-107F3085D1EE}"/>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Sending &amp; Receiving Messages</a:t>
            </a:r>
            <a:endParaRPr lang="en-US" sz="4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33BBBBD-2978-237C-A270-D07FFCC82E60}"/>
              </a:ext>
            </a:extLst>
          </p:cNvPr>
          <p:cNvPicPr>
            <a:picLocks noChangeAspect="1"/>
          </p:cNvPicPr>
          <p:nvPr/>
        </p:nvPicPr>
        <p:blipFill>
          <a:blip r:embed="rId4"/>
          <a:stretch>
            <a:fillRect/>
          </a:stretch>
        </p:blipFill>
        <p:spPr>
          <a:xfrm>
            <a:off x="47056" y="1014762"/>
            <a:ext cx="5971908" cy="5446328"/>
          </a:xfrm>
          <a:prstGeom prst="rect">
            <a:avLst/>
          </a:prstGeom>
        </p:spPr>
      </p:pic>
      <p:sp>
        <p:nvSpPr>
          <p:cNvPr id="9" name="TextBox 8">
            <a:extLst>
              <a:ext uri="{FF2B5EF4-FFF2-40B4-BE49-F238E27FC236}">
                <a16:creationId xmlns:a16="http://schemas.microsoft.com/office/drawing/2014/main" id="{0C712678-7C2D-C56B-DF64-E0D7F728B60D}"/>
              </a:ext>
            </a:extLst>
          </p:cNvPr>
          <p:cNvSpPr txBox="1"/>
          <p:nvPr/>
        </p:nvSpPr>
        <p:spPr>
          <a:xfrm>
            <a:off x="2079479" y="1174651"/>
            <a:ext cx="52038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Sender</a:t>
            </a:r>
          </a:p>
        </p:txBody>
      </p:sp>
      <p:pic>
        <p:nvPicPr>
          <p:cNvPr id="11" name="Picture 10">
            <a:extLst>
              <a:ext uri="{FF2B5EF4-FFF2-40B4-BE49-F238E27FC236}">
                <a16:creationId xmlns:a16="http://schemas.microsoft.com/office/drawing/2014/main" id="{0D732969-CEF3-C570-47F0-4090A338E760}"/>
              </a:ext>
            </a:extLst>
          </p:cNvPr>
          <p:cNvPicPr>
            <a:picLocks noChangeAspect="1"/>
          </p:cNvPicPr>
          <p:nvPr/>
        </p:nvPicPr>
        <p:blipFill>
          <a:blip r:embed="rId5"/>
          <a:stretch>
            <a:fillRect/>
          </a:stretch>
        </p:blipFill>
        <p:spPr>
          <a:xfrm>
            <a:off x="6096000" y="693338"/>
            <a:ext cx="5971908" cy="6114422"/>
          </a:xfrm>
          <a:prstGeom prst="rect">
            <a:avLst/>
          </a:prstGeom>
        </p:spPr>
      </p:pic>
      <p:sp>
        <p:nvSpPr>
          <p:cNvPr id="12" name="TextBox 11">
            <a:extLst>
              <a:ext uri="{FF2B5EF4-FFF2-40B4-BE49-F238E27FC236}">
                <a16:creationId xmlns:a16="http://schemas.microsoft.com/office/drawing/2014/main" id="{06709FB6-B910-3E7E-6849-2F25009758B7}"/>
              </a:ext>
            </a:extLst>
          </p:cNvPr>
          <p:cNvSpPr txBox="1"/>
          <p:nvPr/>
        </p:nvSpPr>
        <p:spPr>
          <a:xfrm>
            <a:off x="7805254" y="913300"/>
            <a:ext cx="52038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Receiver</a:t>
            </a:r>
          </a:p>
        </p:txBody>
      </p:sp>
    </p:spTree>
    <p:custDataLst>
      <p:tags r:id="rId1"/>
    </p:custDataLst>
    <p:extLst>
      <p:ext uri="{BB962C8B-B14F-4D97-AF65-F5344CB8AC3E}">
        <p14:creationId xmlns:p14="http://schemas.microsoft.com/office/powerpoint/2010/main" val="3220090208"/>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405FAB24-2EC2-35EB-0976-F959CAF59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C7740-F6D8-C78D-B1B0-69A4C0206AB1}"/>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Sending &amp; Receiving Files:</a:t>
            </a:r>
            <a:endParaRPr lang="en-US" sz="4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007C62E-3AFC-673C-128A-EBCCCDA6F516}"/>
              </a:ext>
            </a:extLst>
          </p:cNvPr>
          <p:cNvPicPr>
            <a:picLocks noChangeAspect="1"/>
          </p:cNvPicPr>
          <p:nvPr/>
        </p:nvPicPr>
        <p:blipFill>
          <a:blip r:embed="rId4"/>
          <a:stretch>
            <a:fillRect/>
          </a:stretch>
        </p:blipFill>
        <p:spPr>
          <a:xfrm>
            <a:off x="133978" y="913300"/>
            <a:ext cx="5828044" cy="5894460"/>
          </a:xfrm>
          <a:prstGeom prst="rect">
            <a:avLst/>
          </a:prstGeom>
        </p:spPr>
      </p:pic>
      <p:sp>
        <p:nvSpPr>
          <p:cNvPr id="5" name="TextBox 4">
            <a:extLst>
              <a:ext uri="{FF2B5EF4-FFF2-40B4-BE49-F238E27FC236}">
                <a16:creationId xmlns:a16="http://schemas.microsoft.com/office/drawing/2014/main" id="{1030FFD9-7F67-BEFB-A1B1-892F79DC2C45}"/>
              </a:ext>
            </a:extLst>
          </p:cNvPr>
          <p:cNvSpPr txBox="1"/>
          <p:nvPr/>
        </p:nvSpPr>
        <p:spPr>
          <a:xfrm>
            <a:off x="2404599" y="1838753"/>
            <a:ext cx="52038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Sender</a:t>
            </a:r>
          </a:p>
        </p:txBody>
      </p:sp>
      <p:pic>
        <p:nvPicPr>
          <p:cNvPr id="10" name="Picture 9">
            <a:extLst>
              <a:ext uri="{FF2B5EF4-FFF2-40B4-BE49-F238E27FC236}">
                <a16:creationId xmlns:a16="http://schemas.microsoft.com/office/drawing/2014/main" id="{F1F52BC0-7D14-EB4B-C97E-E465C624BC64}"/>
              </a:ext>
            </a:extLst>
          </p:cNvPr>
          <p:cNvPicPr>
            <a:picLocks noChangeAspect="1"/>
          </p:cNvPicPr>
          <p:nvPr/>
        </p:nvPicPr>
        <p:blipFill>
          <a:blip r:embed="rId5"/>
          <a:stretch>
            <a:fillRect/>
          </a:stretch>
        </p:blipFill>
        <p:spPr>
          <a:xfrm>
            <a:off x="5998166" y="763032"/>
            <a:ext cx="6132144" cy="6094968"/>
          </a:xfrm>
          <a:prstGeom prst="rect">
            <a:avLst/>
          </a:prstGeom>
        </p:spPr>
      </p:pic>
      <p:sp>
        <p:nvSpPr>
          <p:cNvPr id="13" name="TextBox 12">
            <a:extLst>
              <a:ext uri="{FF2B5EF4-FFF2-40B4-BE49-F238E27FC236}">
                <a16:creationId xmlns:a16="http://schemas.microsoft.com/office/drawing/2014/main" id="{6FE39204-0CFC-FDC4-1444-23798C33B048}"/>
              </a:ext>
            </a:extLst>
          </p:cNvPr>
          <p:cNvSpPr txBox="1"/>
          <p:nvPr/>
        </p:nvSpPr>
        <p:spPr>
          <a:xfrm>
            <a:off x="9749043" y="2917758"/>
            <a:ext cx="52038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Receiver</a:t>
            </a:r>
          </a:p>
        </p:txBody>
      </p:sp>
    </p:spTree>
    <p:custDataLst>
      <p:tags r:id="rId1"/>
    </p:custDataLst>
    <p:extLst>
      <p:ext uri="{BB962C8B-B14F-4D97-AF65-F5344CB8AC3E}">
        <p14:creationId xmlns:p14="http://schemas.microsoft.com/office/powerpoint/2010/main" val="1800483186"/>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03E3DF77-3408-90FE-C488-A6F9C380E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7D7A2-AC4C-47DC-994D-DC3036BF5C28}"/>
              </a:ext>
            </a:extLst>
          </p:cNvPr>
          <p:cNvSpPr>
            <a:spLocks noGrp="1"/>
          </p:cNvSpPr>
          <p:nvPr>
            <p:ph type="title"/>
          </p:nvPr>
        </p:nvSpPr>
        <p:spPr>
          <a:xfrm>
            <a:off x="0" y="-304800"/>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Sending &amp; Receiving Files:</a:t>
            </a:r>
            <a:endParaRPr lang="en-US" sz="4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6B5EE94-E116-1C46-C5A0-1A759B6FDEA8}"/>
              </a:ext>
            </a:extLst>
          </p:cNvPr>
          <p:cNvPicPr>
            <a:picLocks noChangeAspect="1"/>
          </p:cNvPicPr>
          <p:nvPr/>
        </p:nvPicPr>
        <p:blipFill>
          <a:blip r:embed="rId4"/>
          <a:stretch>
            <a:fillRect/>
          </a:stretch>
        </p:blipFill>
        <p:spPr>
          <a:xfrm>
            <a:off x="61690" y="732552"/>
            <a:ext cx="5802497" cy="6094968"/>
          </a:xfrm>
          <a:prstGeom prst="rect">
            <a:avLst/>
          </a:prstGeom>
        </p:spPr>
      </p:pic>
      <p:sp>
        <p:nvSpPr>
          <p:cNvPr id="7" name="TextBox 6">
            <a:extLst>
              <a:ext uri="{FF2B5EF4-FFF2-40B4-BE49-F238E27FC236}">
                <a16:creationId xmlns:a16="http://schemas.microsoft.com/office/drawing/2014/main" id="{ED7CD5EB-AFAE-0FCD-8790-5A700172D3BA}"/>
              </a:ext>
            </a:extLst>
          </p:cNvPr>
          <p:cNvSpPr txBox="1"/>
          <p:nvPr/>
        </p:nvSpPr>
        <p:spPr>
          <a:xfrm>
            <a:off x="2404599" y="1838753"/>
            <a:ext cx="52038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Sender</a:t>
            </a:r>
          </a:p>
        </p:txBody>
      </p:sp>
      <p:pic>
        <p:nvPicPr>
          <p:cNvPr id="11" name="Picture 10">
            <a:extLst>
              <a:ext uri="{FF2B5EF4-FFF2-40B4-BE49-F238E27FC236}">
                <a16:creationId xmlns:a16="http://schemas.microsoft.com/office/drawing/2014/main" id="{9487122A-C3DE-6721-41E7-7B267570AFF6}"/>
              </a:ext>
            </a:extLst>
          </p:cNvPr>
          <p:cNvPicPr>
            <a:picLocks noChangeAspect="1"/>
          </p:cNvPicPr>
          <p:nvPr/>
        </p:nvPicPr>
        <p:blipFill>
          <a:blip r:embed="rId5"/>
          <a:stretch>
            <a:fillRect/>
          </a:stretch>
        </p:blipFill>
        <p:spPr>
          <a:xfrm>
            <a:off x="6070454" y="783811"/>
            <a:ext cx="6059856" cy="5992450"/>
          </a:xfrm>
          <a:prstGeom prst="rect">
            <a:avLst/>
          </a:prstGeom>
        </p:spPr>
      </p:pic>
      <p:sp>
        <p:nvSpPr>
          <p:cNvPr id="12" name="TextBox 11">
            <a:extLst>
              <a:ext uri="{FF2B5EF4-FFF2-40B4-BE49-F238E27FC236}">
                <a16:creationId xmlns:a16="http://schemas.microsoft.com/office/drawing/2014/main" id="{F4E1A6D1-69A6-3EE4-F934-3EE8EB9B1EB4}"/>
              </a:ext>
            </a:extLst>
          </p:cNvPr>
          <p:cNvSpPr txBox="1"/>
          <p:nvPr/>
        </p:nvSpPr>
        <p:spPr>
          <a:xfrm>
            <a:off x="8713498" y="1301711"/>
            <a:ext cx="520384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Receiver</a:t>
            </a:r>
          </a:p>
        </p:txBody>
      </p:sp>
    </p:spTree>
    <p:custDataLst>
      <p:tags r:id="rId1"/>
    </p:custDataLst>
    <p:extLst>
      <p:ext uri="{BB962C8B-B14F-4D97-AF65-F5344CB8AC3E}">
        <p14:creationId xmlns:p14="http://schemas.microsoft.com/office/powerpoint/2010/main" val="2560309592"/>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95000"/>
              </a:schemeClr>
            </a:gs>
            <a:gs pos="74000">
              <a:schemeClr val="bg1">
                <a:lumMod val="85000"/>
              </a:schemeClr>
            </a:gs>
            <a:gs pos="83000">
              <a:schemeClr val="bg1">
                <a:lumMod val="75000"/>
              </a:schemeClr>
            </a:gs>
            <a:gs pos="100000">
              <a:schemeClr val="bg1">
                <a:lumMod val="50000"/>
              </a:schemeClr>
            </a:gs>
          </a:gsLst>
          <a:lin ang="5400000" scaled="1"/>
        </a:gradFill>
        <a:effectLst/>
      </p:bgPr>
    </p:bg>
    <p:spTree>
      <p:nvGrpSpPr>
        <p:cNvPr id="1" name="">
          <a:extLst>
            <a:ext uri="{FF2B5EF4-FFF2-40B4-BE49-F238E27FC236}">
              <a16:creationId xmlns:a16="http://schemas.microsoft.com/office/drawing/2014/main" id="{515114BC-18D7-E6D3-AF3D-AAA02BB0ED3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820628-0157-2F44-E273-A827CCF8A522}"/>
              </a:ext>
            </a:extLst>
          </p:cNvPr>
          <p:cNvSpPr>
            <a:spLocks noGrp="1"/>
          </p:cNvSpPr>
          <p:nvPr>
            <p:ph type="title"/>
          </p:nvPr>
        </p:nvSpPr>
        <p:spPr>
          <a:xfrm>
            <a:off x="0" y="71120"/>
            <a:ext cx="11018520" cy="1132840"/>
          </a:xfrm>
        </p:spPr>
        <p:txBody>
          <a:bodyPr>
            <a:normAutofit/>
          </a:bodyPr>
          <a:lstStyle/>
          <a:p>
            <a:pPr>
              <a:lnSpc>
                <a:spcPct val="150000"/>
              </a:lnSpc>
            </a:pPr>
            <a:r>
              <a:rPr lang="en-US" b="1" i="1" u="sng" dirty="0">
                <a:solidFill>
                  <a:schemeClr val="tx2">
                    <a:lumMod val="75000"/>
                    <a:lumOff val="25000"/>
                  </a:schemeClr>
                </a:solidFill>
                <a:latin typeface="Times New Roman" panose="02020603050405020304" pitchFamily="18" charset="0"/>
                <a:cs typeface="Times New Roman" panose="02020603050405020304" pitchFamily="18" charset="0"/>
              </a:rPr>
              <a:t>References:</a:t>
            </a:r>
          </a:p>
        </p:txBody>
      </p:sp>
      <p:sp>
        <p:nvSpPr>
          <p:cNvPr id="2" name="Rectangle 1">
            <a:extLst>
              <a:ext uri="{FF2B5EF4-FFF2-40B4-BE49-F238E27FC236}">
                <a16:creationId xmlns:a16="http://schemas.microsoft.com/office/drawing/2014/main" id="{E2A0921D-893D-742E-11AF-6D777E4544EC}"/>
              </a:ext>
            </a:extLst>
          </p:cNvPr>
          <p:cNvSpPr/>
          <p:nvPr/>
        </p:nvSpPr>
        <p:spPr>
          <a:xfrm>
            <a:off x="72025" y="1363647"/>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99F5DA05-6EBF-764B-A341-F19304EC49B5}"/>
              </a:ext>
            </a:extLst>
          </p:cNvPr>
          <p:cNvSpPr/>
          <p:nvPr/>
        </p:nvSpPr>
        <p:spPr>
          <a:xfrm>
            <a:off x="148224" y="1363647"/>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i="1" dirty="0">
                <a:solidFill>
                  <a:schemeClr val="accent1">
                    <a:lumMod val="60000"/>
                    <a:lumOff val="40000"/>
                  </a:schemeClr>
                </a:solidFill>
                <a:latin typeface="Arial" panose="020B0604020202020204" pitchFamily="34" charset="0"/>
                <a:cs typeface="Arial" panose="020B0604020202020204" pitchFamily="34" charset="0"/>
              </a:rPr>
              <a:t>First 3 chapters from the book: Go Web Programming</a:t>
            </a:r>
          </a:p>
        </p:txBody>
      </p:sp>
      <p:sp>
        <p:nvSpPr>
          <p:cNvPr id="4" name="Rectangle 3">
            <a:extLst>
              <a:ext uri="{FF2B5EF4-FFF2-40B4-BE49-F238E27FC236}">
                <a16:creationId xmlns:a16="http://schemas.microsoft.com/office/drawing/2014/main" id="{0390241B-51B7-B786-795A-E56B6D6F7DD9}"/>
              </a:ext>
            </a:extLst>
          </p:cNvPr>
          <p:cNvSpPr/>
          <p:nvPr/>
        </p:nvSpPr>
        <p:spPr>
          <a:xfrm>
            <a:off x="72025" y="2291228"/>
            <a:ext cx="111760"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0DAA8BB5-2155-D1CD-D4C0-4599A603F0E2}"/>
              </a:ext>
            </a:extLst>
          </p:cNvPr>
          <p:cNvSpPr/>
          <p:nvPr/>
        </p:nvSpPr>
        <p:spPr>
          <a:xfrm>
            <a:off x="158384" y="2291228"/>
            <a:ext cx="11895551" cy="767894"/>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i="1" dirty="0">
                <a:solidFill>
                  <a:schemeClr val="accent1">
                    <a:lumMod val="60000"/>
                    <a:lumOff val="40000"/>
                  </a:schemeClr>
                </a:solidFill>
                <a:latin typeface="Arial" panose="020B0604020202020204" pitchFamily="34" charset="0"/>
                <a:cs typeface="Arial" panose="020B0604020202020204" pitchFamily="34" charset="0"/>
              </a:rPr>
              <a:t>Recommend to read chapter 1 &amp; 2 from the book: An Introduction to Parallel Programming</a:t>
            </a:r>
          </a:p>
        </p:txBody>
      </p:sp>
      <p:sp>
        <p:nvSpPr>
          <p:cNvPr id="7" name="Rectangle 6">
            <a:extLst>
              <a:ext uri="{FF2B5EF4-FFF2-40B4-BE49-F238E27FC236}">
                <a16:creationId xmlns:a16="http://schemas.microsoft.com/office/drawing/2014/main" id="{726ED77F-99E7-3BE0-1A1B-EE8B37024F27}"/>
              </a:ext>
            </a:extLst>
          </p:cNvPr>
          <p:cNvSpPr/>
          <p:nvPr/>
        </p:nvSpPr>
        <p:spPr>
          <a:xfrm>
            <a:off x="72025" y="3218808"/>
            <a:ext cx="111760" cy="90101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A9CA3982-7A0F-46D9-9F16-8CE4AA3F95A8}"/>
              </a:ext>
            </a:extLst>
          </p:cNvPr>
          <p:cNvSpPr/>
          <p:nvPr/>
        </p:nvSpPr>
        <p:spPr>
          <a:xfrm>
            <a:off x="158384" y="3218808"/>
            <a:ext cx="11895551" cy="901015"/>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i="1" dirty="0">
                <a:solidFill>
                  <a:schemeClr val="accent1">
                    <a:lumMod val="60000"/>
                    <a:lumOff val="40000"/>
                  </a:schemeClr>
                </a:solidFill>
                <a:latin typeface="Arial" panose="020B0604020202020204" pitchFamily="34" charset="0"/>
                <a:cs typeface="Arial" panose="020B0604020202020204" pitchFamily="34" charset="0"/>
              </a:rPr>
              <a:t>Section Records:</a:t>
            </a:r>
          </a:p>
          <a:p>
            <a:r>
              <a:rPr lang="en-US" sz="2000" b="1" i="1" u="sng" dirty="0">
                <a:solidFill>
                  <a:schemeClr val="accent1">
                    <a:lumMod val="60000"/>
                    <a:lumOff val="40000"/>
                  </a:schemeClr>
                </a:solidFill>
                <a:latin typeface="Arial" panose="020B0604020202020204" pitchFamily="34" charset="0"/>
                <a:cs typeface="Arial" panose="020B0604020202020204" pitchFamily="34" charset="0"/>
              </a:rPr>
              <a:t>https://drive.google.com/drive/folders/1lykzBItpnLUoqoadC1L7yazmz6qPE2zH?usp=sharing</a:t>
            </a:r>
          </a:p>
        </p:txBody>
      </p:sp>
    </p:spTree>
    <p:custDataLst>
      <p:tags r:id="rId1"/>
    </p:custDataLst>
    <p:extLst>
      <p:ext uri="{BB962C8B-B14F-4D97-AF65-F5344CB8AC3E}">
        <p14:creationId xmlns:p14="http://schemas.microsoft.com/office/powerpoint/2010/main" val="3337112640"/>
      </p:ext>
    </p:extLst>
  </p:cSld>
  <p:clrMapOvr>
    <a:masterClrMapping/>
  </p:clrMapOvr>
  <mc:AlternateContent xmlns:mc="http://schemas.openxmlformats.org/markup-compatibility/2006" xmlns:p14="http://schemas.microsoft.com/office/powerpoint/2010/main">
    <mc:Choice Requires="p14">
      <p:transition spd="slow" p14:dur="2000" advTm="207460"/>
    </mc:Choice>
    <mc:Fallback xmlns="">
      <p:transition spd="slow" advTm="20746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5.6|40.3|25.2|40.6|10.1"/>
</p:tagLst>
</file>

<file path=ppt/tags/tag2.xml><?xml version="1.0" encoding="utf-8"?>
<p:tagLst xmlns:a="http://schemas.openxmlformats.org/drawingml/2006/main" xmlns:r="http://schemas.openxmlformats.org/officeDocument/2006/relationships" xmlns:p="http://schemas.openxmlformats.org/presentationml/2006/main">
  <p:tag name="TIMING" val="|5.6|40.3|25.2|40.6|10.1"/>
</p:tagLst>
</file>

<file path=ppt/tags/tag3.xml><?xml version="1.0" encoding="utf-8"?>
<p:tagLst xmlns:a="http://schemas.openxmlformats.org/drawingml/2006/main" xmlns:r="http://schemas.openxmlformats.org/officeDocument/2006/relationships" xmlns:p="http://schemas.openxmlformats.org/presentationml/2006/main">
  <p:tag name="TIMING" val="|5.6|40.3|25.2|40.6|10.1"/>
</p:tagLst>
</file>

<file path=ppt/tags/tag4.xml><?xml version="1.0" encoding="utf-8"?>
<p:tagLst xmlns:a="http://schemas.openxmlformats.org/drawingml/2006/main" xmlns:r="http://schemas.openxmlformats.org/officeDocument/2006/relationships" xmlns:p="http://schemas.openxmlformats.org/presentationml/2006/main">
  <p:tag name="TIMING" val="|5.6|40.3|25.2|40.6|10.1"/>
</p:tagLst>
</file>

<file path=ppt/tags/tag5.xml><?xml version="1.0" encoding="utf-8"?>
<p:tagLst xmlns:a="http://schemas.openxmlformats.org/drawingml/2006/main" xmlns:r="http://schemas.openxmlformats.org/officeDocument/2006/relationships" xmlns:p="http://schemas.openxmlformats.org/presentationml/2006/main">
  <p:tag name="TIMING" val="|5.6|40.3|25.2|40.6|10.1"/>
</p:tagLst>
</file>

<file path=ppt/tags/tag6.xml><?xml version="1.0" encoding="utf-8"?>
<p:tagLst xmlns:a="http://schemas.openxmlformats.org/drawingml/2006/main" xmlns:r="http://schemas.openxmlformats.org/officeDocument/2006/relationships" xmlns:p="http://schemas.openxmlformats.org/presentationml/2006/main">
  <p:tag name="TIMING" val="|5.6|40.3|25.2|40.6|10.1"/>
</p:tagLst>
</file>

<file path=ppt/tags/tag7.xml><?xml version="1.0" encoding="utf-8"?>
<p:tagLst xmlns:a="http://schemas.openxmlformats.org/drawingml/2006/main" xmlns:r="http://schemas.openxmlformats.org/officeDocument/2006/relationships" xmlns:p="http://schemas.openxmlformats.org/presentationml/2006/main">
  <p:tag name="TIMING" val="|5.6|40.3|25.2|40.6|10.1"/>
</p:tagLst>
</file>

<file path=ppt/tags/tag8.xml><?xml version="1.0" encoding="utf-8"?>
<p:tagLst xmlns:a="http://schemas.openxmlformats.org/drawingml/2006/main" xmlns:r="http://schemas.openxmlformats.org/officeDocument/2006/relationships" xmlns:p="http://schemas.openxmlformats.org/presentationml/2006/main">
  <p:tag name="TIMING" val="|5.6|40.3|25.2|40.6|10.1"/>
</p:tagLst>
</file>

<file path=ppt/tags/tag9.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0.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1.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2.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3.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4.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5.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6.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7.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8.xml><?xml version="1.0" encoding="utf-8"?>
<p:tagLst xmlns:a="http://schemas.openxmlformats.org/drawingml/2006/main" xmlns:r="http://schemas.openxmlformats.org/officeDocument/2006/relationships" xmlns:p="http://schemas.openxmlformats.org/presentationml/2006/main">
  <p:tag name="TIMING" val="|5.6|40.3|25.2|40.6|10.1"/>
</p:tagLst>
</file>

<file path=ppt/tags/tag19.xml><?xml version="1.0" encoding="utf-8"?>
<p:tagLst xmlns:a="http://schemas.openxmlformats.org/drawingml/2006/main" xmlns:r="http://schemas.openxmlformats.org/officeDocument/2006/relationships" xmlns:p="http://schemas.openxmlformats.org/presentationml/2006/main">
  <p:tag name="TIMING" val="|5.6|40.3|25.2|40.6|10.1"/>
</p:tagLst>
</file>

<file path=ppt/tags/tag20.xml><?xml version="1.0" encoding="utf-8"?>
<p:tagLst xmlns:a="http://schemas.openxmlformats.org/drawingml/2006/main" xmlns:r="http://schemas.openxmlformats.org/officeDocument/2006/relationships" xmlns:p="http://schemas.openxmlformats.org/presentationml/2006/main">
  <p:tag name="TIMING" val="|5.6|40.3|25.2|40.6|10.1"/>
</p:tagLst>
</file>

<file path=ppt/tags/tag21.xml><?xml version="1.0" encoding="utf-8"?>
<p:tagLst xmlns:a="http://schemas.openxmlformats.org/drawingml/2006/main" xmlns:r="http://schemas.openxmlformats.org/officeDocument/2006/relationships" xmlns:p="http://schemas.openxmlformats.org/presentationml/2006/main">
  <p:tag name="TIMING" val="|5.6|40.3|25.2|40.6|10.1"/>
</p:tagLst>
</file>

<file path=ppt/tags/tag22.xml><?xml version="1.0" encoding="utf-8"?>
<p:tagLst xmlns:a="http://schemas.openxmlformats.org/drawingml/2006/main" xmlns:r="http://schemas.openxmlformats.org/officeDocument/2006/relationships" xmlns:p="http://schemas.openxmlformats.org/presentationml/2006/main">
  <p:tag name="TIMING" val="|5.6|40.3|25.2|40.6|10.1"/>
</p:tagLst>
</file>

<file path=ppt/tags/tag23.xml><?xml version="1.0" encoding="utf-8"?>
<p:tagLst xmlns:a="http://schemas.openxmlformats.org/drawingml/2006/main" xmlns:r="http://schemas.openxmlformats.org/officeDocument/2006/relationships" xmlns:p="http://schemas.openxmlformats.org/presentationml/2006/main">
  <p:tag name="TIMING" val="|5.6|40.3|25.2|40.6|1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7475</TotalTime>
  <Words>1222</Words>
  <Application>Microsoft Office PowerPoint</Application>
  <PresentationFormat>Widescreen</PresentationFormat>
  <Paragraphs>122</Paragraphs>
  <Slides>24</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Times New Roman</vt:lpstr>
      <vt:lpstr>Office Theme</vt:lpstr>
      <vt:lpstr>PowerPoint Presentation</vt:lpstr>
      <vt:lpstr>PowerPoint Presentation</vt:lpstr>
      <vt:lpstr>The Concurrent Solution (The View):</vt:lpstr>
      <vt:lpstr>The Concurrent Solution (The Way):</vt:lpstr>
      <vt:lpstr>The Parallel Solution (Analysis):</vt:lpstr>
      <vt:lpstr>The Parallel Solution (Exposing the NUMA):</vt:lpstr>
      <vt:lpstr>The Parallel Solution (Exposing the NUMA):</vt:lpstr>
      <vt:lpstr>Go Web Programming:</vt:lpstr>
      <vt:lpstr>PowerPoint Presentation</vt:lpstr>
      <vt:lpstr>PowerPoint Presentation</vt:lpstr>
      <vt:lpstr>Serving Go:</vt:lpstr>
      <vt:lpstr>The Go web server:</vt:lpstr>
      <vt:lpstr>Handlers and handler functions:</vt:lpstr>
      <vt:lpstr>Handling request:</vt:lpstr>
      <vt:lpstr>More Handlers:</vt:lpstr>
      <vt:lpstr>Handler functions:</vt:lpstr>
      <vt:lpstr>Two Communicating Services:</vt:lpstr>
      <vt:lpstr>Two Communicating Services by a third service:</vt:lpstr>
      <vt:lpstr>Recap &amp; Set:</vt:lpstr>
      <vt:lpstr>More On HTTP </vt:lpstr>
      <vt:lpstr>Sending &amp; Receiving Messages</vt:lpstr>
      <vt:lpstr>Sending &amp; Receiving Files:</vt:lpstr>
      <vt:lpstr>Sending &amp; Receiving Files: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Al-Hassan Abdelhalim</dc:creator>
  <cp:lastModifiedBy>alHasan 20367648</cp:lastModifiedBy>
  <cp:revision>653</cp:revision>
  <dcterms:created xsi:type="dcterms:W3CDTF">2026-02-14T08:24:36Z</dcterms:created>
  <dcterms:modified xsi:type="dcterms:W3CDTF">2026-03-21T13:38:49Z</dcterms:modified>
</cp:coreProperties>
</file>